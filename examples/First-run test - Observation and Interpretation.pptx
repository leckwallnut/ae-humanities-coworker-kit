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bservation and interpretation" id="{c51a53d4-7265-d9e4-93ac-3c0213fd352d}">
          <p14:sldIdLst>
            <p14:sldId id="256"/>
            <p14:sldId id="257"/>
            <p14:sldId id="25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Preset: Brief explanation, adapted to the requested three slides (the 'notice' and 'explain' stages are combined here). Planned time: about 10 minutes. Outcome: students separate what a text shows from what it might mean, and link one interpretation to a specific observation. Assumptions: intermediate English learners; level and timing were not specified.
Slide 1 - 3 minutes
Teacher: Read each column aloud. For each example, ask: 'Could someone check this in the text?' Point out that the interpretation example uses 'may'.
Students: Decide whether each example is an observation or an interpretation and say why.
Key idea: an interpretation is only as strong as the observation behind it.
Both examples are original classroom examples.
Background: AI-generated AE Humanities quiet surface, 78-paired-passages.jpg.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2 - 3 minutes
Teacher: Read the example aloud. Give 30 seconds of quiet thinking, then pairs discuss both questions. Collect two or three answers.
Students: Name the details first, then suggest what happened.
Suggested answers
1. Observations: the chair is empty; there is a coat beside the door; the coat is wet.
2. Possible interpretations: someone came in from the rain recently but is no longer in the chair; someone may have left suddenly without their coat; it is probably raining outside. Supporting details: 'wet' suggests a recent arrival from outside; 'empty' suggests someone is absent.
Watch for interpretations stated as facts ('Someone is hiding'). Ask 'Which word tells you that?' and encourage 'might', 'may' or 'suggests'.
This is an original classroom example, not a published quotation.
Background: AI-generated AE Humanities background, 114-rainy-study-left.jpg.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3 - 4 minutes
Teacher: Students work alone. Circulate and check that each interpretation is linked to a specific observation. If time allows, ask two students to read theirs aloud.
Students: Write two observations and one linked interpretation.
Possible observations: the leather is scratched and worn; the corners are darker and scuffed; it has a handle, brass latches and brass corner pieces; it is closed.
Possible interpretations: it has been used on many journeys (worn leather, scuffed corners); it may be a family belonging passed down (old-fashioned design, brass fittings); its owner may value it, since it has been kept despite the damage.
Common slip: 'It is old' is an interpretation. The observation behind it is 'the leather is worn and scratched'.
Image: AI-generated AE Humanities symbolic object, 68-worn-suitcase.png. It is an illustration, not a photograph of a real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AEH-Paired-Columns-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AEH-Text-Left-Rainy-Study-image-1.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EH Paired Columns">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cNvSpPr/>
          <p:nvPr>
            <p:ph idx="100" type="title" hasCustomPrompt="1"/>
          </p:nvPr>
        </p:nvSpPr>
        <p:spPr>
          <a:xfrm>
            <a:off x="853419" y="548640"/>
            <a:ext cx="10484858" cy="822960"/>
          </a:xfrm>
          <a:prstGeom prst="rect">
            <a:avLst/>
          </a:prstGeom>
          <a:noFill/>
          <a:ln/>
        </p:spPr>
        <p:txBody>
          <a:bodyPr wrap="square" rtlCol="0"/>
          <a:lstStyle>
            <a:lvl1pPr algn="l" indent="0" marL="0">
              <a:buNone/>
              <a:defRPr lang="en-US" sz="3800" b="1" dirty="0">
                <a:solidFill>
                  <a:schemeClr val="tx1"/>
                </a:solidFill>
              </a:defRPr>
            </a:lvl1pPr>
          </a:lstStyle>
          <a:p>
            <a:pPr algn="l" indent="0" marL="0">
              <a:buNone/>
            </a:pPr>
            <a:endParaRPr lang="en-US" sz="3800" dirty="0"/>
          </a:p>
        </p:txBody>
      </p:sp>
      <p:sp>
        <p:nvSpPr>
          <p:cNvPr id="3" name="left"/>
          <p:cNvSpPr/>
          <p:nvPr>
            <p:ph idx="101" type="body" hasCustomPrompt="1"/>
          </p:nvPr>
        </p:nvSpPr>
        <p:spPr>
          <a:xfrm>
            <a:off x="853419" y="1920240"/>
            <a:ext cx="4632844" cy="3977640"/>
          </a:xfrm>
          <a:prstGeom prst="rect">
            <a:avLst/>
          </a:prstGeom>
          <a:noFill/>
          <a:ln/>
        </p:spPr>
        <p:txBody>
          <a:bodyPr wrap="square" rtlCol="0"/>
          <a:lstStyle>
            <a:lvl1pPr algn="l" indent="0" marL="0">
              <a:buNone/>
              <a:defRPr lang="en-US" sz="2600" dirty="0">
                <a:solidFill>
                  <a:schemeClr val="tx1"/>
                </a:solidFill>
              </a:defRPr>
            </a:lvl1pPr>
          </a:lstStyle>
          <a:p>
            <a:pPr algn="l" indent="0" marL="0">
              <a:buNone/>
            </a:pPr>
            <a:endParaRPr lang="en-US" sz="2600" dirty="0"/>
          </a:p>
        </p:txBody>
      </p:sp>
      <p:sp>
        <p:nvSpPr>
          <p:cNvPr id="4" name="right"/>
          <p:cNvSpPr/>
          <p:nvPr>
            <p:ph idx="102" type="body" hasCustomPrompt="1"/>
          </p:nvPr>
        </p:nvSpPr>
        <p:spPr>
          <a:xfrm>
            <a:off x="6705432" y="1920240"/>
            <a:ext cx="4632844" cy="3977640"/>
          </a:xfrm>
          <a:prstGeom prst="rect">
            <a:avLst/>
          </a:prstGeom>
          <a:noFill/>
          <a:ln/>
        </p:spPr>
        <p:txBody>
          <a:bodyPr wrap="square" rtlCol="0"/>
          <a:lstStyle>
            <a:lvl1pPr algn="l" indent="0" marL="0">
              <a:buNone/>
              <a:defRPr lang="en-US" sz="2600" dirty="0">
                <a:solidFill>
                  <a:schemeClr val="tx1"/>
                </a:solidFill>
              </a:defRPr>
            </a:lvl1pPr>
          </a:lstStyle>
          <a:p>
            <a:pPr algn="l" indent="0" marL="0">
              <a:buNone/>
            </a:pPr>
            <a:endParaRPr lang="en-US" sz="2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EH Text Left Rainy Study">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cNvSpPr/>
          <p:nvPr>
            <p:ph idx="100" type="title" hasCustomPrompt="1"/>
          </p:nvPr>
        </p:nvSpPr>
        <p:spPr>
          <a:xfrm>
            <a:off x="853419" y="960120"/>
            <a:ext cx="6217765" cy="82296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example"/>
          <p:cNvSpPr/>
          <p:nvPr>
            <p:ph idx="101" type="body" hasCustomPrompt="1"/>
          </p:nvPr>
        </p:nvSpPr>
        <p:spPr>
          <a:xfrm>
            <a:off x="853419" y="1828800"/>
            <a:ext cx="6217765" cy="1691640"/>
          </a:xfrm>
          <a:prstGeom prst="rect">
            <a:avLst/>
          </a:prstGeom>
          <a:noFill/>
          <a:ln/>
        </p:spPr>
        <p:txBody>
          <a:bodyPr wrap="square" rtlCol="0"/>
          <a:lstStyle>
            <a:lvl1pPr algn="l" indent="0" marL="0">
              <a:buNone/>
              <a:defRPr lang="en-US" sz="3000" dirty="0">
                <a:solidFill>
                  <a:schemeClr val="bg1"/>
                </a:solidFill>
              </a:defRPr>
            </a:lvl1pPr>
          </a:lstStyle>
          <a:p>
            <a:pPr algn="l" indent="0" marL="0">
              <a:buNone/>
            </a:pPr>
            <a:endParaRPr lang="en-US" sz="3000" dirty="0"/>
          </a:p>
        </p:txBody>
      </p:sp>
      <p:sp>
        <p:nvSpPr>
          <p:cNvPr id="4" name="questions"/>
          <p:cNvSpPr/>
          <p:nvPr>
            <p:ph idx="102" type="body" hasCustomPrompt="1"/>
          </p:nvPr>
        </p:nvSpPr>
        <p:spPr>
          <a:xfrm>
            <a:off x="853419" y="3749040"/>
            <a:ext cx="6217765" cy="1737360"/>
          </a:xfrm>
          <a:prstGeom prst="rect">
            <a:avLst/>
          </a:prstGeom>
          <a:noFill/>
          <a:ln/>
        </p:spPr>
        <p:txBody>
          <a:bodyPr wrap="square" rtlCol="0"/>
          <a:lstStyle>
            <a:lvl1pPr algn="l" indent="0" marL="0">
              <a:buNone/>
              <a:defRPr lang="en-US" sz="2600" dirty="0">
                <a:solidFill>
                  <a:schemeClr val="bg1"/>
                </a:solidFill>
              </a:defRPr>
            </a:lvl1pPr>
          </a:lstStyle>
          <a:p>
            <a:pPr algn="l" indent="0" marL="0">
              <a:buNone/>
            </a:pPr>
            <a:endParaRPr lang="en-US" sz="2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EH Object and Task">
    <p:bg>
      <p:bgPr>
        <a:solidFill>
          <a:srgbClr val="211B16"/>
        </a:solidFill>
      </p:bgPr>
    </p:bg>
    <p:spTree>
      <p:nvGrpSpPr>
        <p:cNvPr id="1" name=""/>
        <p:cNvGrpSpPr/>
        <p:nvPr/>
      </p:nvGrpSpPr>
      <p:grpSpPr>
        <a:xfrm>
          <a:off x="0" y="0"/>
          <a:ext cx="0" cy="0"/>
          <a:chOff x="0" y="0"/>
          <a:chExt cx="0" cy="0"/>
        </a:xfrm>
      </p:grpSpPr>
      <p:sp>
        <p:nvSpPr>
          <p:cNvPr id="2" name="title"/>
          <p:cNvSpPr/>
          <p:nvPr>
            <p:ph idx="100" type="title" hasCustomPrompt="1"/>
          </p:nvPr>
        </p:nvSpPr>
        <p:spPr>
          <a:xfrm>
            <a:off x="853419" y="548640"/>
            <a:ext cx="10484858" cy="82296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ask"/>
          <p:cNvSpPr/>
          <p:nvPr>
            <p:ph idx="101" type="body" hasCustomPrompt="1"/>
          </p:nvPr>
        </p:nvSpPr>
        <p:spPr>
          <a:xfrm>
            <a:off x="6309360" y="1783080"/>
            <a:ext cx="5029200" cy="3429000"/>
          </a:xfrm>
          <a:prstGeom prst="rect">
            <a:avLst/>
          </a:prstGeom>
          <a:noFill/>
          <a:ln/>
        </p:spPr>
        <p:txBody>
          <a:bodyPr wrap="square" rtlCol="0"/>
          <a:lstStyle>
            <a:lvl1pPr algn="l" indent="0" marL="0">
              <a:buNone/>
              <a:defRPr lang="en-US" sz="2600" dirty="0">
                <a:solidFill>
                  <a:schemeClr val="bg1"/>
                </a:solidFill>
              </a:defRPr>
            </a:lvl1pPr>
          </a:lstStyle>
          <a:p>
            <a:pPr algn="l" indent="0" marL="0">
              <a:buNone/>
            </a:pPr>
            <a:endParaRPr lang="en-US" sz="2600" dirty="0"/>
          </a:p>
        </p:txBody>
      </p:sp>
      <p:sp>
        <p:nvSpPr>
          <p:cNvPr id="4" name="timing"/>
          <p:cNvSpPr/>
          <p:nvPr>
            <p:ph idx="102" type="body" hasCustomPrompt="1"/>
          </p:nvPr>
        </p:nvSpPr>
        <p:spPr>
          <a:xfrm>
            <a:off x="6309360" y="5440680"/>
            <a:ext cx="5029200" cy="457200"/>
          </a:xfrm>
          <a:prstGeom prst="rect">
            <a:avLst/>
          </a:prstGeom>
          <a:noFill/>
          <a:ln/>
        </p:spPr>
        <p:txBody>
          <a:bodyPr wrap="square" rtlCol="0"/>
          <a:lstStyle>
            <a:lvl1pPr algn="l" indent="0" marL="0">
              <a:buNone/>
              <a:defRPr lang="en-US" sz="2200" b="1" dirty="0">
                <a:solidFill>
                  <a:schemeClr val="accent1"/>
                </a:solidFill>
              </a:defRPr>
            </a:lvl1pPr>
          </a:lstStyle>
          <a:p>
            <a:pPr algn="l" indent="0" marL="0">
              <a:buNone/>
            </a:pPr>
            <a:endParaRPr lang="en-US" sz="2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p:nvPr>
            <p:ph idx="100" type="title" hasCustomPrompt="1"/>
          </p:nvPr>
        </p:nvSpPr>
        <p:spPr>
          <a:xfrm>
            <a:off x="853419" y="548640"/>
            <a:ext cx="10484858" cy="822960"/>
          </a:xfrm>
          <a:prstGeom prst="rect">
            <a:avLst/>
          </a:prstGeom>
          <a:noFill/>
          <a:ln/>
        </p:spPr>
        <p:txBody>
          <a:bodyPr wrap="square" lIns="0" tIns="0" rIns="0" bIns="0" rtlCol="0" anchor="ctr"/>
          <a:lstStyle/>
          <a:p>
            <a:pPr algn="l" indent="0" marL="0">
              <a:buNone/>
            </a:pPr>
            <a:r>
              <a:rPr lang="en-US" sz="3800" b="1" dirty="0">
                <a:solidFill>
                  <a:schemeClr val="tx1"/>
                </a:solidFill>
              </a:rPr>
              <a:t>Observation and interpretation</a:t>
            </a:r>
            <a:endParaRPr lang="en-US" sz="3800" dirty="0"/>
          </a:p>
        </p:txBody>
      </p:sp>
      <p:sp>
        <p:nvSpPr>
          <p:cNvPr id="3" name="left"/>
          <p:cNvSpPr/>
          <p:nvPr>
            <p:ph idx="101" type="body" hasCustomPrompt="1"/>
          </p:nvPr>
        </p:nvSpPr>
        <p:spPr>
          <a:xfrm>
            <a:off x="853419" y="1920240"/>
            <a:ext cx="4632844" cy="3977640"/>
          </a:xfrm>
          <a:prstGeom prst="rect">
            <a:avLst/>
          </a:prstGeom>
          <a:noFill/>
          <a:ln/>
        </p:spPr>
        <p:txBody>
          <a:bodyPr wrap="square" lIns="0" tIns="0" rIns="0" bIns="0" rtlCol="0" anchor="t"/>
          <a:lstStyle/>
          <a:p>
            <a:pPr algn="l" indent="0" marL="0">
              <a:lnSpc>
                <a:spcPct val="120000"/>
              </a:lnSpc>
              <a:spcAft>
                <a:spcPts val="1400"/>
              </a:spcAft>
              <a:buNone/>
            </a:pPr>
            <a:r>
              <a:rPr lang="en-US" sz="3000" b="1" dirty="0">
                <a:solidFill>
                  <a:schemeClr val="accent2"/>
                </a:solidFill>
                <a:latin typeface="+mj-lt" pitchFamily="34" charset="0"/>
                <a:ea typeface="+mj-lt" pitchFamily="34" charset="-122"/>
                <a:cs typeface="+mj-lt" pitchFamily="34" charset="-120"/>
              </a:rPr>
              <a:t>Observation</a:t>
            </a:r>
            <a:endParaRPr lang="en-US" sz="2600" dirty="0"/>
          </a:p>
          <a:p>
            <a:pPr algn="l" indent="0" marL="0">
              <a:lnSpc>
                <a:spcPct val="120000"/>
              </a:lnSpc>
              <a:spcAft>
                <a:spcPts val="1000"/>
              </a:spcAft>
              <a:buNone/>
            </a:pPr>
            <a:r>
              <a:rPr lang="en-US" sz="2600" dirty="0">
                <a:solidFill>
                  <a:schemeClr val="tx1"/>
                </a:solidFill>
              </a:rPr>
              <a:t>What you can see, hear or read in the text.</a:t>
            </a:r>
            <a:endParaRPr lang="en-US" sz="2600" dirty="0"/>
          </a:p>
          <a:p>
            <a:pPr algn="l" indent="0" marL="0">
              <a:lnSpc>
                <a:spcPct val="120000"/>
              </a:lnSpc>
              <a:spcAft>
                <a:spcPts val="1000"/>
              </a:spcAft>
              <a:buNone/>
            </a:pPr>
            <a:r>
              <a:rPr lang="en-US" sz="2600" dirty="0">
                <a:solidFill>
                  <a:schemeClr val="tx1"/>
                </a:solidFill>
              </a:rPr>
              <a:t>Anyone can check it.</a:t>
            </a:r>
            <a:endParaRPr lang="en-US" sz="2600" dirty="0"/>
          </a:p>
          <a:p>
            <a:pPr algn="l" indent="0" marL="0">
              <a:lnSpc>
                <a:spcPct val="120000"/>
              </a:lnSpc>
              <a:buNone/>
            </a:pPr>
            <a:r>
              <a:rPr lang="en-US" sz="2600" b="1" dirty="0">
                <a:solidFill>
                  <a:schemeClr val="tx1"/>
                </a:solidFill>
              </a:rPr>
              <a:t>Example:</a:t>
            </a:r>
            <a:endParaRPr lang="en-US" sz="2600" dirty="0"/>
          </a:p>
          <a:p>
            <a:pPr algn="l" indent="0" marL="0">
              <a:lnSpc>
                <a:spcPct val="120000"/>
              </a:lnSpc>
              <a:spcAft>
                <a:spcPts val="1000"/>
              </a:spcAft>
              <a:buNone/>
            </a:pPr>
            <a:r>
              <a:rPr lang="en-US" sz="2600" dirty="0">
                <a:solidFill>
                  <a:schemeClr val="tx1"/>
                </a:solidFill>
              </a:rPr>
              <a:t>“The window is open.”</a:t>
            </a:r>
            <a:endParaRPr lang="en-US" sz="2600" dirty="0"/>
          </a:p>
        </p:txBody>
      </p:sp>
      <p:sp>
        <p:nvSpPr>
          <p:cNvPr id="4" name="right"/>
          <p:cNvSpPr/>
          <p:nvPr>
            <p:ph idx="102" type="body" hasCustomPrompt="1"/>
          </p:nvPr>
        </p:nvSpPr>
        <p:spPr>
          <a:xfrm>
            <a:off x="6705432" y="1920240"/>
            <a:ext cx="4632844" cy="3977640"/>
          </a:xfrm>
          <a:prstGeom prst="rect">
            <a:avLst/>
          </a:prstGeom>
          <a:noFill/>
          <a:ln/>
        </p:spPr>
        <p:txBody>
          <a:bodyPr wrap="square" lIns="0" tIns="0" rIns="0" bIns="0" rtlCol="0" anchor="t"/>
          <a:lstStyle/>
          <a:p>
            <a:pPr algn="l" indent="0" marL="0">
              <a:lnSpc>
                <a:spcPct val="120000"/>
              </a:lnSpc>
              <a:spcAft>
                <a:spcPts val="1400"/>
              </a:spcAft>
              <a:buNone/>
            </a:pPr>
            <a:r>
              <a:rPr lang="en-US" sz="3000" b="1" dirty="0">
                <a:solidFill>
                  <a:schemeClr val="accent2"/>
                </a:solidFill>
                <a:latin typeface="+mj-lt" pitchFamily="34" charset="0"/>
                <a:ea typeface="+mj-lt" pitchFamily="34" charset="-122"/>
                <a:cs typeface="+mj-lt" pitchFamily="34" charset="-120"/>
              </a:rPr>
              <a:t>Interpretation</a:t>
            </a:r>
            <a:endParaRPr lang="en-US" sz="2600" dirty="0"/>
          </a:p>
          <a:p>
            <a:pPr algn="l" indent="0" marL="0">
              <a:lnSpc>
                <a:spcPct val="120000"/>
              </a:lnSpc>
              <a:spcAft>
                <a:spcPts val="1000"/>
              </a:spcAft>
              <a:buNone/>
            </a:pPr>
            <a:r>
              <a:rPr lang="en-US" sz="2600" dirty="0">
                <a:solidFill>
                  <a:schemeClr val="tx1"/>
                </a:solidFill>
              </a:rPr>
              <a:t>What a detail might mean.</a:t>
            </a:r>
            <a:endParaRPr lang="en-US" sz="2600" dirty="0"/>
          </a:p>
          <a:p>
            <a:pPr algn="l" indent="0" marL="0">
              <a:lnSpc>
                <a:spcPct val="120000"/>
              </a:lnSpc>
              <a:spcAft>
                <a:spcPts val="1000"/>
              </a:spcAft>
              <a:buNone/>
            </a:pPr>
            <a:r>
              <a:rPr lang="en-US" sz="2600" dirty="0">
                <a:solidFill>
                  <a:schemeClr val="tx1"/>
                </a:solidFill>
              </a:rPr>
              <a:t>Support it with an observation.</a:t>
            </a:r>
            <a:endParaRPr lang="en-US" sz="2600" dirty="0"/>
          </a:p>
          <a:p>
            <a:pPr algn="l" indent="0" marL="0">
              <a:lnSpc>
                <a:spcPct val="120000"/>
              </a:lnSpc>
              <a:buNone/>
            </a:pPr>
            <a:r>
              <a:rPr lang="en-US" sz="2600" b="1" dirty="0">
                <a:solidFill>
                  <a:schemeClr val="tx1"/>
                </a:solidFill>
              </a:rPr>
              <a:t>Example:</a:t>
            </a:r>
            <a:endParaRPr lang="en-US" sz="2600" dirty="0"/>
          </a:p>
          <a:p>
            <a:pPr algn="l" indent="0" marL="0">
              <a:lnSpc>
                <a:spcPct val="120000"/>
              </a:lnSpc>
              <a:spcAft>
                <a:spcPts val="1000"/>
              </a:spcAft>
              <a:buNone/>
            </a:pPr>
            <a:r>
              <a:rPr lang="en-US" sz="2600" dirty="0">
                <a:solidFill>
                  <a:schemeClr val="tx1"/>
                </a:solidFill>
              </a:rPr>
              <a:t>“Someone may have left in a hurry.”</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p:nvPr>
            <p:ph idx="100" type="title" hasCustomPrompt="1"/>
          </p:nvPr>
        </p:nvSpPr>
        <p:spPr>
          <a:xfrm>
            <a:off x="853419" y="960120"/>
            <a:ext cx="6217765" cy="822960"/>
          </a:xfrm>
          <a:prstGeom prst="rect">
            <a:avLst/>
          </a:prstGeom>
          <a:noFill/>
          <a:ln/>
        </p:spPr>
        <p:txBody>
          <a:bodyPr wrap="square" lIns="0" tIns="0" rIns="0" bIns="0" rtlCol="0" anchor="ctr"/>
          <a:lstStyle/>
          <a:p>
            <a:pPr algn="l" indent="0" marL="0">
              <a:buNone/>
            </a:pPr>
            <a:r>
              <a:rPr lang="en-US" sz="3800" b="1" dirty="0">
                <a:solidFill>
                  <a:schemeClr val="bg1"/>
                </a:solidFill>
              </a:rPr>
              <a:t>What do you notice?</a:t>
            </a:r>
            <a:endParaRPr lang="en-US" sz="3800" dirty="0"/>
          </a:p>
        </p:txBody>
      </p:sp>
      <p:sp>
        <p:nvSpPr>
          <p:cNvPr id="3" name="example"/>
          <p:cNvSpPr/>
          <p:nvPr>
            <p:ph idx="101" type="body" hasCustomPrompt="1"/>
          </p:nvPr>
        </p:nvSpPr>
        <p:spPr>
          <a:xfrm>
            <a:off x="853419" y="1828800"/>
            <a:ext cx="6217765" cy="1691640"/>
          </a:xfrm>
          <a:prstGeom prst="rect">
            <a:avLst/>
          </a:prstGeom>
          <a:noFill/>
          <a:ln/>
        </p:spPr>
        <p:txBody>
          <a:bodyPr wrap="square" lIns="0" tIns="0" rIns="0" bIns="0" rtlCol="0" anchor="t"/>
          <a:lstStyle/>
          <a:p>
            <a:pPr algn="l" indent="0" marL="0">
              <a:spcAft>
                <a:spcPts val="800"/>
              </a:spcAft>
              <a:buNone/>
            </a:pPr>
            <a:r>
              <a:rPr lang="en-US" sz="2200" b="1" dirty="0">
                <a:solidFill>
                  <a:schemeClr val="accent1"/>
                </a:solidFill>
              </a:rPr>
              <a:t>Classroom example</a:t>
            </a:r>
            <a:endParaRPr lang="en-US" sz="3000" dirty="0"/>
          </a:p>
          <a:p>
            <a:pPr algn="l" indent="0" marL="0">
              <a:lnSpc>
                <a:spcPct val="115000"/>
              </a:lnSpc>
              <a:buNone/>
            </a:pPr>
            <a:r>
              <a:rPr lang="en-US" sz="3000" dirty="0">
                <a:solidFill>
                  <a:schemeClr val="bg1"/>
                </a:solidFill>
              </a:rPr>
              <a:t>“The chair is empty. A wet coat hangs beside the door.”</a:t>
            </a:r>
            <a:endParaRPr lang="en-US" sz="3000" dirty="0"/>
          </a:p>
        </p:txBody>
      </p:sp>
      <p:sp>
        <p:nvSpPr>
          <p:cNvPr id="4" name="questions"/>
          <p:cNvSpPr/>
          <p:nvPr>
            <p:ph idx="102" type="body" hasCustomPrompt="1"/>
          </p:nvPr>
        </p:nvSpPr>
        <p:spPr>
          <a:xfrm>
            <a:off x="853419" y="3749040"/>
            <a:ext cx="6217765" cy="1737360"/>
          </a:xfrm>
          <a:prstGeom prst="rect">
            <a:avLst/>
          </a:prstGeom>
          <a:noFill/>
          <a:ln/>
        </p:spPr>
        <p:txBody>
          <a:bodyPr wrap="square" lIns="0" tIns="0" rIns="0" bIns="0" rtlCol="0" anchor="t"/>
          <a:lstStyle/>
          <a:p>
            <a:pPr algn="l" marL="342900" indent="-342900">
              <a:lnSpc>
                <a:spcPct val="120000"/>
              </a:lnSpc>
              <a:spcAft>
                <a:spcPts val="1200"/>
              </a:spcAft>
              <a:buSzPct val="100000"/>
              <a:buFont typeface="+mj-lt"/>
              <a:buAutoNum type="arabicPeriod" startAt="1"/>
            </a:pPr>
            <a:r>
              <a:rPr lang="en-US" sz="2600" dirty="0">
                <a:solidFill>
                  <a:schemeClr val="bg1"/>
                </a:solidFill>
              </a:rPr>
              <a:t>What details can you observe?</a:t>
            </a:r>
            <a:endParaRPr lang="en-US" sz="2600" dirty="0"/>
          </a:p>
          <a:p>
            <a:pPr algn="l" marL="342900" indent="-342900">
              <a:lnSpc>
                <a:spcPct val="120000"/>
              </a:lnSpc>
              <a:buSzPct val="100000"/>
              <a:buFont typeface="+mj-lt"/>
              <a:buAutoNum type="arabicPeriod" startAt="1"/>
            </a:pPr>
            <a:r>
              <a:rPr lang="en-US" sz="2600" dirty="0">
                <a:solidFill>
                  <a:schemeClr val="bg1"/>
                </a:solidFill>
              </a:rPr>
              <a:t>What might have happened? Which detail supports your idea?</a:t>
            </a:r>
            <a:endParaRPr lang="en-US"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p:nvPr>
            <p:ph idx="100" type="title" hasCustomPrompt="1"/>
          </p:nvPr>
        </p:nvSpPr>
        <p:spPr>
          <a:xfrm>
            <a:off x="853419" y="548640"/>
            <a:ext cx="10484858" cy="822960"/>
          </a:xfrm>
          <a:prstGeom prst="rect">
            <a:avLst/>
          </a:prstGeom>
          <a:noFill/>
          <a:ln/>
        </p:spPr>
        <p:txBody>
          <a:bodyPr wrap="square" lIns="0" tIns="0" rIns="0" bIns="0" rtlCol="0" anchor="ctr"/>
          <a:lstStyle/>
          <a:p>
            <a:pPr algn="l" indent="0" marL="0">
              <a:buNone/>
            </a:pPr>
            <a:r>
              <a:rPr lang="en-US" sz="3800" b="1" dirty="0">
                <a:solidFill>
                  <a:schemeClr val="bg1"/>
                </a:solidFill>
              </a:rPr>
              <a:t>Your turn: the suitcase</a:t>
            </a:r>
            <a:endParaRPr lang="en-US" sz="3800" dirty="0"/>
          </a:p>
        </p:txBody>
      </p:sp>
      <p:pic>
        <p:nvPicPr>
          <p:cNvPr id="3" name="suitcase" descr="Worn brown leather suitcase with a handle, brass latches and brass corner pieces">    </p:cNvPr>
          <p:cNvPicPr>
            <a:picLocks noChangeAspect="1"/>
          </p:cNvPicPr>
          <p:nvPr/>
        </p:nvPicPr>
        <p:blipFill>
          <a:blip r:embed="rId1"/>
          <a:stretch>
            <a:fillRect/>
          </a:stretch>
        </p:blipFill>
        <p:spPr>
          <a:xfrm>
            <a:off x="1173175" y="1783080"/>
            <a:ext cx="4206240" cy="4206240"/>
          </a:xfrm>
          <a:prstGeom prst="rect">
            <a:avLst/>
          </a:prstGeom>
        </p:spPr>
      </p:pic>
      <p:sp>
        <p:nvSpPr>
          <p:cNvPr id="4" name="task"/>
          <p:cNvSpPr/>
          <p:nvPr>
            <p:ph idx="101" type="body" hasCustomPrompt="1"/>
          </p:nvPr>
        </p:nvSpPr>
        <p:spPr>
          <a:xfrm>
            <a:off x="6309360" y="1783080"/>
            <a:ext cx="5029200" cy="3429000"/>
          </a:xfrm>
          <a:prstGeom prst="rect">
            <a:avLst/>
          </a:prstGeom>
          <a:noFill/>
          <a:ln/>
        </p:spPr>
        <p:txBody>
          <a:bodyPr wrap="square" lIns="0" tIns="0" rIns="0" bIns="0" rtlCol="0" anchor="t"/>
          <a:lstStyle/>
          <a:p>
            <a:pPr algn="l" marL="342900" indent="-342900">
              <a:lnSpc>
                <a:spcPct val="120000"/>
              </a:lnSpc>
              <a:spcAft>
                <a:spcPts val="1200"/>
              </a:spcAft>
              <a:buSzPct val="100000"/>
              <a:buFont typeface="+mj-lt"/>
              <a:buAutoNum type="arabicPeriod" startAt="1"/>
            </a:pPr>
            <a:r>
              <a:rPr lang="en-US" sz="2600" dirty="0">
                <a:solidFill>
                  <a:schemeClr val="bg1"/>
                </a:solidFill>
              </a:rPr>
              <a:t>Write two observations: only what you can see.</a:t>
            </a:r>
            <a:endParaRPr lang="en-US" sz="2600" dirty="0"/>
          </a:p>
          <a:p>
            <a:pPr algn="l" marL="342900" indent="-342900">
              <a:lnSpc>
                <a:spcPct val="120000"/>
              </a:lnSpc>
              <a:spcAft>
                <a:spcPts val="1200"/>
              </a:spcAft>
              <a:buSzPct val="100000"/>
              <a:buFont typeface="+mj-lt"/>
              <a:buAutoNum type="arabicPeriod" startAt="1"/>
            </a:pPr>
            <a:r>
              <a:rPr lang="en-US" sz="2600" dirty="0">
                <a:solidFill>
                  <a:schemeClr val="bg1"/>
                </a:solidFill>
              </a:rPr>
              <a:t>Write one interpretation that an observation supports.</a:t>
            </a:r>
            <a:endParaRPr lang="en-US" sz="2600" dirty="0"/>
          </a:p>
          <a:p>
            <a:pPr algn="l" marL="342900" indent="-342900">
              <a:lnSpc>
                <a:spcPct val="120000"/>
              </a:lnSpc>
              <a:spcAft>
                <a:spcPts val="1200"/>
              </a:spcAft>
              <a:buSzPct val="100000"/>
              <a:buFont typeface="+mj-lt"/>
              <a:buAutoNum type="arabicPeriod" startAt="1"/>
            </a:pPr>
            <a:r>
              <a:rPr lang="en-US" sz="2600" dirty="0">
                <a:solidFill>
                  <a:schemeClr val="bg1"/>
                </a:solidFill>
              </a:rPr>
              <a:t>Use this frame: </a:t>
            </a:r>
            <a:pPr algn="l" indent="0" marL="0">
              <a:buNone/>
            </a:pPr>
            <a:r>
              <a:rPr lang="en-US" sz="2600" b="1" dirty="0">
                <a:solidFill>
                  <a:schemeClr val="bg1"/>
                </a:solidFill>
              </a:rPr>
              <a:t>I can see ___, so it might suggest ___.</a:t>
            </a:r>
            <a:endParaRPr lang="en-US" sz="2600" dirty="0"/>
          </a:p>
        </p:txBody>
      </p:sp>
      <p:sp>
        <p:nvSpPr>
          <p:cNvPr id="5" name="timing"/>
          <p:cNvSpPr/>
          <p:nvPr>
            <p:ph idx="102" type="body" hasCustomPrompt="1"/>
          </p:nvPr>
        </p:nvSpPr>
        <p:spPr>
          <a:xfrm>
            <a:off x="6309360" y="5440680"/>
            <a:ext cx="5029200" cy="457200"/>
          </a:xfrm>
          <a:prstGeom prst="rect">
            <a:avLst/>
          </a:prstGeom>
          <a:noFill/>
          <a:ln/>
        </p:spPr>
        <p:txBody>
          <a:bodyPr wrap="square" lIns="0" tIns="0" rIns="0" bIns="0" rtlCol="0" anchor="t"/>
          <a:lstStyle/>
          <a:p>
            <a:pPr algn="l" indent="0" marL="0">
              <a:buNone/>
            </a:pPr>
            <a:r>
              <a:rPr lang="en-US" sz="2200" b="1" dirty="0">
                <a:solidFill>
                  <a:schemeClr val="accent1"/>
                </a:solidFill>
              </a:rPr>
              <a:t>Work alone: 4 minutes</a:t>
            </a:r>
            <a:endParaRPr lang="en-US" sz="2200" dirty="0"/>
          </a:p>
        </p:txBody>
      </p:sp>
    </p:spTree>
  </p:cSld>
  <p:clrMapOvr>
    <a:masterClrMapping/>
  </p:clrMapOvr>
</p:sld>
</file>

<file path=ppt/theme/theme1.xml><?xml version="1.0" encoding="utf-8"?>
<a:theme xmlns:a="http://schemas.openxmlformats.org/drawingml/2006/main" name="AE Humanities">
  <a:themeElements>
    <a:clrScheme name="AE Humanities">
      <a:dk1>
        <a:srgbClr val="211B16"/>
      </a:dk1>
      <a:lt1>
        <a:srgbClr val="F2E8D5"/>
      </a:lt1>
      <a:dk2>
        <a:srgbClr val="171512"/>
      </a:dk2>
      <a:lt2>
        <a:srgbClr val="E9D8B6"/>
      </a:lt2>
      <a:accent1>
        <a:srgbClr val="B89B5E"/>
      </a:accent1>
      <a:accent2>
        <a:srgbClr val="5C2230"/>
      </a:accent2>
      <a:accent3>
        <a:srgbClr val="6B7258"/>
      </a:accent3>
      <a:accent4>
        <a:srgbClr val="8C6A43"/>
      </a:accent4>
      <a:accent5>
        <a:srgbClr val="3A2E25"/>
      </a:accent5>
      <a:accent6>
        <a:srgbClr val="A8946F"/>
      </a:accent6>
      <a:hlink>
        <a:srgbClr val="B89B5E"/>
      </a:hlink>
      <a:folHlink>
        <a:srgbClr val="6B7258"/>
      </a:folHlink>
    </a:clrScheme>
    <a:fontScheme name="AE Humanities">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Observation and interpretation</dc:title>
  <dc:subject>AE Humanities classroom test deck</dc:subject>
  <dc:creator>AE Humanities</dc:creator>
  <cp:lastModifiedBy>AE Humanities</cp:lastModifiedBy>
  <cp:revision>1</cp:revision>
  <dcterms:created xsi:type="dcterms:W3CDTF">2026-10-28T08:38:45Z</dcterms:created>
  <dcterms:modified xsi:type="dcterms:W3CDTF">2026-10-28T08:38:45Z</dcterms:modified>
</cp:coreProperties>
</file>
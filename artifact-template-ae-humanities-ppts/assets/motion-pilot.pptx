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3f6c5abecf4049" /><Relationship Type="http://schemas.openxmlformats.org/officeDocument/2006/relationships/extended-properties" Target="/docProps/app.xml" Id="R823a8a8bf93d4e45" /><Relationship Type="http://schemas.openxmlformats.org/officeDocument/2006/relationships/officeDocument" Target="/ppt/presentation.xml" Id="Rbcc8ec9ba87c40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0923d49bee4352"/>
  </p:sldMasterIdLst>
  <p:notesMasterIdLst>
    <p:notesMasterId xmlns:r="http://schemas.openxmlformats.org/officeDocument/2006/relationships" r:id="R1ef40fc4361a48d7"/>
  </p:notesMasterIdLst>
  <p:sldIdLst>
    <p:sldId xmlns:r="http://schemas.openxmlformats.org/officeDocument/2006/relationships" id="256" r:id="Rc42c11554b5a418b"/>
    <p:sldId xmlns:r="http://schemas.openxmlformats.org/officeDocument/2006/relationships" id="257" r:id="R18df2daf1a904e83"/>
    <p:sldId xmlns:r="http://schemas.openxmlformats.org/officeDocument/2006/relationships" id="258" r:id="R2f4bfefbf3ef4194"/>
    <p:sldId xmlns:r="http://schemas.openxmlformats.org/officeDocument/2006/relationships" id="259" r:id="R30aa3602fa6646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82029f5a5c49bd" /><Relationship Type="http://schemas.openxmlformats.org/officeDocument/2006/relationships/slideMaster" Target="/ppt/slideMasters/slideMaster1.xml" Id="R200923d49bee4352" /><Relationship Type="http://schemas.openxmlformats.org/officeDocument/2006/relationships/notesMaster" Target="/ppt/notesMasters/notesMaster1.xml" Id="R1ef40fc4361a48d7" /><Relationship Type="http://schemas.openxmlformats.org/officeDocument/2006/relationships/presProps" Target="/ppt/presProps.xml" Id="Rd280004d41cc41a0" /><Relationship Type="http://schemas.openxmlformats.org/officeDocument/2006/relationships/tableStyles" Target="/ppt/tableStyles.xml" Id="Rf59f466aebc54fe8" /><Relationship Type="http://schemas.openxmlformats.org/officeDocument/2006/relationships/slide" Target="/ppt/slides/slide1.xml" Id="Rc42c11554b5a418b" /><Relationship Type="http://schemas.openxmlformats.org/officeDocument/2006/relationships/slide" Target="/ppt/slides/slide2.xml" Id="R18df2daf1a904e83" /><Relationship Type="http://schemas.openxmlformats.org/officeDocument/2006/relationships/slide" Target="/ppt/slides/slide3.xml" Id="R2f4bfefbf3ef4194" /><Relationship Type="http://schemas.openxmlformats.org/officeDocument/2006/relationships/slide" Target="/ppt/slides/slide4.xml" Id="R30aa3602fa6646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5aedb1612b4b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10109eddb24ef0" /><Relationship Type="http://schemas.openxmlformats.org/officeDocument/2006/relationships/notesMaster" Target="/ppt/notesMasters/notesMaster1.xml" Id="R591a6a32fbec47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fb9d90988347f6" /><Relationship Type="http://schemas.openxmlformats.org/officeDocument/2006/relationships/notesMaster" Target="/ppt/notesMasters/notesMaster1.xml" Id="Ra0a971689dcf4d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fa695a6e454f8a" /><Relationship Type="http://schemas.openxmlformats.org/officeDocument/2006/relationships/notesMaster" Target="/ppt/notesMasters/notesMaster1.xml" Id="R94a36ea5e0e142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947934de584460" /><Relationship Type="http://schemas.openxmlformats.org/officeDocument/2006/relationships/notesMaster" Target="/ppt/notesMasters/notesMaster1.xml" Id="R3916027af9d044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AE Humanities motion collection. Editable 16:9 slides with Georgia headings and Arial body text. All prose examples are original fictional teaching examples.</a:t>
            </a:r>
          </a:p>
          <a:p xmlns:a="http://schemas.openxmlformats.org/drawingml/2006/main">
            <a:r>
              <a:t>COPY: Copy the whole slide using Keep Source Formatting. Replace the text inside existing reveal objects. Remove collection-label and demo-footer before class. Keep the sample unchanged.</a:t>
            </a:r>
          </a:p>
          <a:p xmlns:a="http://schemas.openxmlformats.org/drawingml/2006/main">
            <a:r>
              <a:t>MOTION RECIPE: Fade transition, 0.4 s. Manual advance. No object animation.</a:t>
            </a:r>
          </a:p>
          <a:p xmlns:a="http://schemas.openxmlformats.org/drawingml/2006/main">
            <a:r>
              <a:t>TEACHING ANSWER: The second sentence moves the threat inside the room.</a:t>
            </a:r>
          </a:p>
          <a:p xmlns:a="http://schemas.openxmlformats.org/drawingml/2006/main">
            <a:r>
              <a:t>STATIC VERSION: All text remains visible in editing view and static exports. Check that this final state remains understandable after editing.</a:t>
            </a:r>
          </a:p>
          <a:p xmlns:a="http://schemas.openxmlformats.org/drawingml/2006/main">
            <a:r>
              <a:t>ADAPT: Keep passage, question and instructions visible at entry. Use one click for a complete idea. Check slideshow playback after copying or changing objects.</a:t>
            </a:r>
          </a:p>
          <a:p xmlns:a="http://schemas.openxmlformats.org/drawingml/2006/main">
            <a:br/>
            <a:r>
              <a:t>Artwork: bundled AI-generated AE Humanities library background 49,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AE Humanities motion collection. Editable 16:9 slides with Georgia headings and Arial body text. All prose examples are original fictional teaching examples.</a:t>
            </a:r>
          </a:p>
          <a:p xmlns:a="http://schemas.openxmlformats.org/drawingml/2006/main">
            <a:r>
              <a:t>COPY: Copy the whole slide using Keep Source Formatting. Replace the text inside existing reveal objects. Remove collection-label and demo-footer before class. Keep the sample unchanged.</a:t>
            </a:r>
          </a:p>
          <a:p xmlns:a="http://schemas.openxmlformats.org/drawingml/2006/main">
            <a:r>
              <a:t>MOTION RECIPE: Fade transition, 0.4 s. On click 1, Appear answer, as one object.</a:t>
            </a:r>
          </a:p>
          <a:p xmlns:a="http://schemas.openxmlformats.org/drawingml/2006/main">
            <a:r>
              <a:t>TEACHING ANSWER: Keeping her gloves on suggests she is not ready to settle in. Other interpretations need evidence.</a:t>
            </a:r>
          </a:p>
          <a:p xmlns:a="http://schemas.openxmlformats.org/drawingml/2006/main">
            <a:r>
              <a:t>STATIC VERSION: All text remains visible in editing view and static exports. Check that this final state remains understandable after editing.</a:t>
            </a:r>
          </a:p>
          <a:p xmlns:a="http://schemas.openxmlformats.org/drawingml/2006/main">
            <a:r>
              <a:t>ADAPT: Keep passage, question and instructions visible at entry. Use one click for a complete idea. Check slideshow playback after copying or changing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AE Humanities motion collection. Editable 16:9 slides with Georgia headings and Arial body text. All prose examples are original fictional teaching examples.</a:t>
            </a:r>
          </a:p>
          <a:p xmlns:a="http://schemas.openxmlformats.org/drawingml/2006/main">
            <a:r>
              <a:t>COPY: Copy the whole slide using Keep Source Formatting. Replace the text inside existing reveal objects. Remove collection-label and demo-footer before class. Keep the sample unchanged.</a:t>
            </a:r>
          </a:p>
          <a:p xmlns:a="http://schemas.openxmlformats.org/drawingml/2006/main">
            <a:r>
              <a:t>MOTION RECIPE: Fade transition, 0.4 s. Click 1 Appear annotation-1, click 2 Appear annotation-2, click 3 Appear annotation-3. Each appears instantly as one complete object.</a:t>
            </a:r>
          </a:p>
          <a:p xmlns:a="http://schemas.openxmlformats.org/drawingml/2006/main">
            <a:r>
              <a:t>TEACHING ANSWER: 1: The bag stays by the exit. 2: Warmth does not make her comfortable. 3: The clock sounds but cannot show time. Invite competing readings.</a:t>
            </a:r>
          </a:p>
          <a:p xmlns:a="http://schemas.openxmlformats.org/drawingml/2006/main">
            <a:r>
              <a:t>STATIC VERSION: All text remains visible in editing view and static exports. Check that this final state remains understandable after editing.</a:t>
            </a:r>
          </a:p>
          <a:p xmlns:a="http://schemas.openxmlformats.org/drawingml/2006/main">
            <a:r>
              <a:t>ADAPT: Keep passage, question and instructions visible at entry. Use one click for a complete idea. Check slideshow playback after copying or changing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AE Humanities motion collection. Editable 16:9 slides with Georgia headings and Arial body text. All prose examples are original fictional teaching examples.</a:t>
            </a:r>
          </a:p>
          <a:p xmlns:a="http://schemas.openxmlformats.org/drawingml/2006/main">
            <a:r>
              <a:t>COPY: Copy the whole slide using Keep Source Formatting. Replace the text inside existing reveal objects. Remove collection-label and demo-footer before class. Keep the sample unchanged.</a:t>
            </a:r>
          </a:p>
          <a:p xmlns:a="http://schemas.openxmlformats.org/drawingml/2006/main">
            <a:r>
              <a:t>MOTION RECIPE: Fade transition, 0.4 s. Click 1 Appear revision. Click 2 Appear explanation. Keep draft and practice visible.</a:t>
            </a:r>
          </a:p>
          <a:p xmlns:a="http://schemas.openxmlformats.org/drawingml/2006/main">
            <a:r>
              <a:t>TEACHING ANSWER: Revision: He held the key. It struck the lock twice. The action lets the reader infer fear.</a:t>
            </a:r>
          </a:p>
          <a:p xmlns:a="http://schemas.openxmlformats.org/drawingml/2006/main">
            <a:r>
              <a:t>STATIC VERSION: All text remains visible in editing view and static exports. Check that this final state remains understandable after editing.</a:t>
            </a:r>
          </a:p>
          <a:p xmlns:a="http://schemas.openxmlformats.org/drawingml/2006/main">
            <a:r>
              <a:t>ADAPT: Keep passage, question and instructions visible at entry. Use one click for a complete idea. Check slideshow playback after copying or changing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c4e150cb824b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921e9e5a8e49b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7bad0e836b4a3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635ede12ae42a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f63d9fbd694a6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b8d747ca3449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E05AC7-A761-4720-9136-2E58C13402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2FF90B3-7A73-461D-9538-38AB38F6737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F6F0225-408A-49F6-9AB5-62601068A5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DE1FCA-51DA-4A61-A447-4AE7D7466B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8664331-8BB8-4B68-AEB0-54682AEADF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9E64187-3CA9-4707-8F5B-64482E6EBA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6F44BB4-69F5-4E3C-8105-479D17A9E6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DA327CB-3F2B-4C80-B0CA-50BE9B3FA32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B13CDB-A2C6-44F1-ACFD-2E8EB45CA3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77ACDA-1B4F-4C8A-A3DE-E3E04DD64F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4f5c77154e47fe" /><Relationship Type="http://schemas.openxmlformats.org/officeDocument/2006/relationships/slideLayout" Target="/ppt/slideLayouts/slideLayout1.xml" Id="R41f5f574c17d4199" /><Relationship Type="http://schemas.openxmlformats.org/officeDocument/2006/relationships/slideLayout" Target="/ppt/slideLayouts/slideLayout2.xml" Id="Rb66780af11dc4c3a" /><Relationship Type="http://schemas.openxmlformats.org/officeDocument/2006/relationships/slideLayout" Target="/ppt/slideLayouts/slideLayout3.xml" Id="Re047c2b74c2d4d57" /><Relationship Type="http://schemas.openxmlformats.org/officeDocument/2006/relationships/slideLayout" Target="/ppt/slideLayouts/slideLayout4.xml" Id="Rd15eafff9ebf401c" /><Relationship Type="http://schemas.openxmlformats.org/officeDocument/2006/relationships/slideLayout" Target="/ppt/slideLayouts/slideLayout5.xml" Id="R3babc182125444b0" /><Relationship Type="http://schemas.openxmlformats.org/officeDocument/2006/relationships/slideLayout" Target="/ppt/slideLayouts/slideLayout6.xml" Id="R3285ad8953de44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f5f574c17d4199"/>
    <p:sldLayoutId xmlns:r="http://schemas.openxmlformats.org/officeDocument/2006/relationships" id="2147483650" r:id="Rb66780af11dc4c3a"/>
    <p:sldLayoutId xmlns:r="http://schemas.openxmlformats.org/officeDocument/2006/relationships" id="2147483651" r:id="Re047c2b74c2d4d57"/>
    <p:sldLayoutId xmlns:r="http://schemas.openxmlformats.org/officeDocument/2006/relationships" id="2147483652" r:id="Rd15eafff9ebf401c"/>
    <p:sldLayoutId xmlns:r="http://schemas.openxmlformats.org/officeDocument/2006/relationships" id="2147483653" r:id="R3babc182125444b0"/>
    <p:sldLayoutId xmlns:r="http://schemas.openxmlformats.org/officeDocument/2006/relationships" id="2147483654" r:id="R3285ad8953de44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2cd8b161de40a4" /><Relationship Type="http://schemas.openxmlformats.org/officeDocument/2006/relationships/image" Target="/ppt/media/image.png" Id="R84d60efe5ab840d4" /><Relationship Type="http://schemas.openxmlformats.org/officeDocument/2006/relationships/notesSlide" Target="/ppt/notesSlides/notesSlide1.xml" Id="R27659bf69df340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598f9d396f4b7a" /><Relationship Type="http://schemas.openxmlformats.org/officeDocument/2006/relationships/notesSlide" Target="/ppt/notesSlides/notesSlide2.xml" Id="Raac639452bc944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1c68ee730046fb" /><Relationship Type="http://schemas.openxmlformats.org/officeDocument/2006/relationships/notesSlide" Target="/ppt/notesSlides/notesSlide3.xml" Id="R5fe771469dad48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bc6c5b75ba484b" /><Relationship Type="http://schemas.openxmlformats.org/officeDocument/2006/relationships/notesSlide" Target="/ppt/notesSlides/notesSlide4.xml" Id="Rd5aa199022ce40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11B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5684B-070A-4151-8FD4-D60D2DE6FF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d60efe5ab840d4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llection-label">
            <a:extLst xmlns:a="http://schemas.openxmlformats.org/drawingml/2006/main">
              <a:ext uri="{FF2B5EF4-FFF2-40B4-BE49-F238E27FC236}">
                <a16:creationId xmlns:a16="http://schemas.microsoft.com/office/drawing/2014/main" id="{310892DE-6612-4F84-8947-CD1FEFC7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38175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00" b="1">
                <a:solidFill>
                  <a:srgbClr val="B89B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00" b="1">
                <a:solidFill>
                  <a:srgbClr val="B89B5E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B89B5E"/>
                </a:solidFill>
                <a:latin typeface="Arial"/>
                <a:ea typeface="Arial"/>
                <a:cs typeface="Arial"/>
              </a:rPr>
              <a:t>01  SLIDE FADE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26D444F-7216-471A-90E3-8699AAFD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95425"/>
            <a:ext cx="6477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400" b="1">
                <a:solidFill>
                  <a:srgbClr val="F2E8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400" b="1">
                <a:solidFill>
                  <a:srgbClr val="F2E8D5"/>
                </a:solidFill>
                <a:latin typeface="Georgia"/>
                <a:ea typeface="Georgia"/>
                <a:cs typeface="Georgia"/>
              </a:defRPr>
            </a:pPr>
            <a:r>
              <a:rPr sz="4400" b="1">
                <a:solidFill>
                  <a:srgbClr val="F2E8D5"/>
                </a:solidFill>
                <a:latin typeface="Georgia"/>
                <a:ea typeface="Georgia"/>
                <a:cs typeface="Georgia"/>
              </a:rPr>
              <a:t>A pause for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4400" b="1">
                <a:solidFill>
                  <a:srgbClr val="F2E8D5"/>
                </a:solidFill>
                <a:latin typeface="Georgia"/>
                <a:ea typeface="Georgia"/>
                <a:cs typeface="Georgia"/>
              </a:defRPr>
            </a:pPr>
            <a:r>
              <a:rPr sz="4400" b="1">
                <a:solidFill>
                  <a:srgbClr val="F2E8D5"/>
                </a:solidFill>
                <a:latin typeface="Georgia"/>
                <a:ea typeface="Georgia"/>
                <a:cs typeface="Georgia"/>
              </a:rPr>
              <a:t>the reader</a:t>
            </a:r>
          </a:p>
        </p:txBody>
      </p:sp>
      <p:sp>
        <p:nvSpPr>
          <p:cNvPr id="4" name="opening">
            <a:extLst xmlns:a="http://schemas.openxmlformats.org/drawingml/2006/main">
              <a:ext uri="{FF2B5EF4-FFF2-40B4-BE49-F238E27FC236}">
                <a16:creationId xmlns:a16="http://schemas.microsoft.com/office/drawing/2014/main" id="{8E3AF96E-C849-4024-99AE-6C9D79E2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76625"/>
            <a:ext cx="642937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F2E8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0">
                <a:solidFill>
                  <a:srgbClr val="F2E8D5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2E8D5"/>
                </a:solidFill>
                <a:latin typeface="Arial"/>
                <a:ea typeface="Arial"/>
                <a:cs typeface="Arial"/>
              </a:rPr>
              <a:t>“The knock came again.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000" b="0">
                <a:solidFill>
                  <a:srgbClr val="F2E8D5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2E8D5"/>
                </a:solidFill>
                <a:latin typeface="Arial"/>
                <a:ea typeface="Arial"/>
                <a:cs typeface="Arial"/>
              </a:rPr>
              <a:t>This time, it came from inside.”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976AB6CF-161C-41D0-9E8B-3FC1BDD4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57800"/>
            <a:ext cx="6429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F2E8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00" b="1">
                <a:solidFill>
                  <a:srgbClr val="F2E8D5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F2E8D5"/>
                </a:solidFill>
                <a:latin typeface="Arial"/>
                <a:ea typeface="Arial"/>
                <a:cs typeface="Arial"/>
              </a:rPr>
              <a:t>What changes in the second sentence?</a:t>
            </a:r>
          </a:p>
        </p:txBody>
      </p:sp>
    </p:spTree>
    <p:extLst>
      <p:ext uri="{BB962C8B-B14F-4D97-AF65-F5344CB8AC3E}">
        <p14:creationId xmlns:p14="http://schemas.microsoft.com/office/powerpoint/2010/main" val="2135885995"/>
      </p:ext>
    </p:extLst>
  </p:cSld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9D8B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llection-label">
            <a:extLst xmlns:a="http://schemas.openxmlformats.org/drawingml/2006/main">
              <a:ext uri="{FF2B5EF4-FFF2-40B4-BE49-F238E27FC236}">
                <a16:creationId xmlns:a16="http://schemas.microsoft.com/office/drawing/2014/main" id="{491EEAED-E82F-4E43-848D-E1CB845C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00" b="1">
                <a:solidFill>
                  <a:srgbClr val="5C22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00" b="1">
                <a:solidFill>
                  <a:srgbClr val="5C2230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5C2230"/>
                </a:solidFill>
                <a:latin typeface="Arial"/>
                <a:ea typeface="Arial"/>
                <a:cs typeface="Arial"/>
              </a:rPr>
              <a:t>02  ONE ANSWER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B235BBEE-B41D-4F73-B7DE-9A90292A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00" b="1">
                <a:solidFill>
                  <a:srgbClr val="211B16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800" b="1">
                <a:solidFill>
                  <a:srgbClr val="211B16"/>
                </a:solidFill>
                <a:latin typeface="Georgia"/>
                <a:ea typeface="Georgia"/>
                <a:cs typeface="Georgia"/>
              </a:defRPr>
            </a:pPr>
            <a:r>
              <a:rPr sz="3800" b="1">
                <a:solidFill>
                  <a:srgbClr val="211B16"/>
                </a:solidFill>
                <a:latin typeface="Georgia"/>
                <a:ea typeface="Georgia"/>
                <a:cs typeface="Georgia"/>
              </a:rPr>
              <a:t>The clue at the door</a:t>
            </a:r>
          </a:p>
        </p:txBody>
      </p:sp>
      <p:sp>
        <p:nvSpPr>
          <p:cNvPr id="3" name="passage">
            <a:extLst xmlns:a="http://schemas.openxmlformats.org/drawingml/2006/main">
              <a:ext uri="{FF2B5EF4-FFF2-40B4-BE49-F238E27FC236}">
                <a16:creationId xmlns:a16="http://schemas.microsoft.com/office/drawing/2014/main" id="{42F737C4-4617-4F4E-B84D-EDF28D78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191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00" b="0">
                <a:solidFill>
                  <a:srgbClr val="211B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00" b="0">
                <a:solidFill>
                  <a:srgbClr val="211B16"/>
                </a:solidFill>
                <a:latin typeface="Arial"/>
                <a:ea typeface="Arial"/>
                <a:cs typeface="Arial"/>
              </a:defRPr>
            </a:pPr>
            <a:r>
              <a:rPr sz="3200" b="0">
                <a:solidFill>
                  <a:srgbClr val="211B16"/>
                </a:solidFill>
                <a:latin typeface="Arial"/>
                <a:ea typeface="Arial"/>
                <a:cs typeface="Arial"/>
              </a:rPr>
              <a:t>“Mara took off her coat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200" b="0">
                <a:solidFill>
                  <a:srgbClr val="211B16"/>
                </a:solidFill>
                <a:latin typeface="Arial"/>
                <a:ea typeface="Arial"/>
                <a:cs typeface="Arial"/>
              </a:defRPr>
            </a:pPr>
            <a:r>
              <a:rPr sz="3200" b="0">
                <a:solidFill>
                  <a:srgbClr val="211B16"/>
                </a:solidFill>
                <a:latin typeface="Arial"/>
                <a:ea typeface="Arial"/>
                <a:cs typeface="Arial"/>
              </a:rPr>
              <a:t>but kept her gloves on.”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B7A5463F-A949-49A4-89CA-7F1F3191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5C22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600" b="1">
                <a:solidFill>
                  <a:srgbClr val="5C2230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5C2230"/>
                </a:solidFill>
                <a:latin typeface="Arial"/>
                <a:ea typeface="Arial"/>
                <a:cs typeface="Arial"/>
              </a:rPr>
              <a:t>Which detail suggests that she may leave soon?</a:t>
            </a:r>
          </a:p>
        </p:txBody>
      </p:sp>
      <p:sp>
        <p:nvSpPr>
          <p:cNvPr id="5" name="answer">
            <a:extLst xmlns:a="http://schemas.openxmlformats.org/drawingml/2006/main">
              <a:ext uri="{FF2B5EF4-FFF2-40B4-BE49-F238E27FC236}">
                <a16:creationId xmlns:a16="http://schemas.microsoft.com/office/drawing/2014/main" id="{72337961-713D-425D-B086-A0BA0E1E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0">
                <a:solidFill>
                  <a:srgbClr val="211B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800" b="0">
                <a:solidFill>
                  <a:srgbClr val="211B16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211B16"/>
                </a:solidFill>
                <a:latin typeface="Arial"/>
                <a:ea typeface="Arial"/>
                <a:cs typeface="Arial"/>
              </a:rPr>
              <a:t>Keeping her gloves on suggests that she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800" b="0">
                <a:solidFill>
                  <a:srgbClr val="211B16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211B16"/>
                </a:solidFill>
                <a:latin typeface="Arial"/>
                <a:ea typeface="Arial"/>
                <a:cs typeface="Arial"/>
              </a:rPr>
              <a:t>is not ready to settle in.</a:t>
            </a:r>
          </a:p>
        </p:txBody>
      </p:sp>
      <p:sp>
        <p:nvSpPr>
          <p:cNvPr id="6" name="demo-footer">
            <a:extLst xmlns:a="http://schemas.openxmlformats.org/drawingml/2006/main">
              <a:ext uri="{FF2B5EF4-FFF2-40B4-BE49-F238E27FC236}">
                <a16:creationId xmlns:a16="http://schemas.microsoft.com/office/drawing/2014/main" id="{034C0B41-7318-4390-8DD7-F5333DE6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C22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5C2230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C2230"/>
                </a:solidFill>
                <a:latin typeface="Arial"/>
                <a:ea typeface="Arial"/>
                <a:cs typeface="Arial"/>
              </a:rPr>
              <a:t>One click reveals a possible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1211983065"/>
      </p:ext>
    </p:extLst>
  </p:cSld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9D8B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llection-label">
            <a:extLst xmlns:a="http://schemas.openxmlformats.org/drawingml/2006/main">
              <a:ext uri="{FF2B5EF4-FFF2-40B4-BE49-F238E27FC236}">
                <a16:creationId xmlns:a16="http://schemas.microsoft.com/office/drawing/2014/main" id="{D9BDAEC3-A207-40EB-82F1-B25DE43F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00" b="1">
                <a:solidFill>
                  <a:srgbClr val="5C22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00" b="1">
                <a:solidFill>
                  <a:srgbClr val="5C2230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5C2230"/>
                </a:solidFill>
                <a:latin typeface="Arial"/>
                <a:ea typeface="Arial"/>
                <a:cs typeface="Arial"/>
              </a:rPr>
              <a:t>03  ORDERED ANNOTATIONS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C8E64623-258C-45F2-A04E-11345AF7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00" b="1">
                <a:solidFill>
                  <a:srgbClr val="211B16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800" b="1">
                <a:solidFill>
                  <a:srgbClr val="211B16"/>
                </a:solidFill>
                <a:latin typeface="Georgia"/>
                <a:ea typeface="Georgia"/>
                <a:cs typeface="Georgia"/>
              </a:defRPr>
            </a:pPr>
            <a:r>
              <a:rPr sz="3800" b="1">
                <a:solidFill>
                  <a:srgbClr val="211B16"/>
                </a:solidFill>
                <a:latin typeface="Georgia"/>
                <a:ea typeface="Georgia"/>
                <a:cs typeface="Georgia"/>
              </a:rPr>
              <a:t>An ordinary room, an uneasy visitor</a:t>
            </a:r>
          </a:p>
        </p:txBody>
      </p:sp>
      <p:sp>
        <p:nvSpPr>
          <p:cNvPr id="3" name="passage">
            <a:extLst xmlns:a="http://schemas.openxmlformats.org/drawingml/2006/main">
              <a:ext uri="{FF2B5EF4-FFF2-40B4-BE49-F238E27FC236}">
                <a16:creationId xmlns:a16="http://schemas.microsoft.com/office/drawing/2014/main" id="{22B267DD-31D3-44AB-9BC1-799F0F38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2769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00" b="0">
                <a:solidFill>
                  <a:srgbClr val="211B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900" b="0">
                <a:solidFill>
                  <a:srgbClr val="211B16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211B16"/>
                </a:solidFill>
                <a:latin typeface="Arial"/>
                <a:ea typeface="Arial"/>
                <a:cs typeface="Arial"/>
              </a:rPr>
              <a:t>“Mara left her bag by the door. The room was warm, but she did not sit down. On the mantelpiece, a clock ticked without hands.”</a:t>
            </a:r>
          </a:p>
        </p:txBody>
      </p:sp>
      <p:sp>
        <p:nvSpPr>
          <p:cNvPr id="4" name="annotation-1">
            <a:extLst xmlns:a="http://schemas.openxmlformats.org/drawingml/2006/main">
              <a:ext uri="{FF2B5EF4-FFF2-40B4-BE49-F238E27FC236}">
                <a16:creationId xmlns:a16="http://schemas.microsoft.com/office/drawing/2014/main" id="{35C8CBE0-D503-480F-A6A9-18A289B0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00275"/>
            <a:ext cx="3714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5C22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5C223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C2230"/>
                </a:solidFill>
                <a:latin typeface="Arial"/>
                <a:ea typeface="Arial"/>
                <a:cs typeface="Arial"/>
              </a:rPr>
              <a:t>1. The bag stays by the exit.</a:t>
            </a:r>
          </a:p>
        </p:txBody>
      </p:sp>
      <p:sp>
        <p:nvSpPr>
          <p:cNvPr id="5" name="annotation-2">
            <a:extLst xmlns:a="http://schemas.openxmlformats.org/drawingml/2006/main">
              <a:ext uri="{FF2B5EF4-FFF2-40B4-BE49-F238E27FC236}">
                <a16:creationId xmlns:a16="http://schemas.microsoft.com/office/drawing/2014/main" id="{E8B10F8E-FCA2-4420-A504-3AF85671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57575"/>
            <a:ext cx="37147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5C22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5C223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C2230"/>
                </a:solidFill>
                <a:latin typeface="Arial"/>
                <a:ea typeface="Arial"/>
                <a:cs typeface="Arial"/>
              </a:rPr>
              <a:t>2. Warmth does not make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5C223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C2230"/>
                </a:solidFill>
                <a:latin typeface="Arial"/>
                <a:ea typeface="Arial"/>
                <a:cs typeface="Arial"/>
              </a:rPr>
              <a:t>her comfortable.</a:t>
            </a:r>
          </a:p>
        </p:txBody>
      </p:sp>
      <p:sp>
        <p:nvSpPr>
          <p:cNvPr id="6" name="annotation-3">
            <a:extLst xmlns:a="http://schemas.openxmlformats.org/drawingml/2006/main">
              <a:ext uri="{FF2B5EF4-FFF2-40B4-BE49-F238E27FC236}">
                <a16:creationId xmlns:a16="http://schemas.microsoft.com/office/drawing/2014/main" id="{00EA988A-3A99-464F-BAEC-88C76BE0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724400"/>
            <a:ext cx="37147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5C22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5C223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C2230"/>
                </a:solidFill>
                <a:latin typeface="Arial"/>
                <a:ea typeface="Arial"/>
                <a:cs typeface="Arial"/>
              </a:rPr>
              <a:t>3. The clock sounds,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5C223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C2230"/>
                </a:solidFill>
                <a:latin typeface="Arial"/>
                <a:ea typeface="Arial"/>
                <a:cs typeface="Arial"/>
              </a:rPr>
              <a:t>but cannot show time.</a:t>
            </a:r>
          </a:p>
        </p:txBody>
      </p:sp>
      <p:sp>
        <p:nvSpPr>
          <p:cNvPr id="7" name="question">
            <a:extLst xmlns:a="http://schemas.openxmlformats.org/drawingml/2006/main">
              <a:ext uri="{FF2B5EF4-FFF2-40B4-BE49-F238E27FC236}">
                <a16:creationId xmlns:a16="http://schemas.microsoft.com/office/drawing/2014/main" id="{0CA14964-DA56-43FD-9978-9F95BC44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86425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00" b="0">
                <a:solidFill>
                  <a:srgbClr val="211B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00" b="0">
                <a:solidFill>
                  <a:srgbClr val="211B16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211B16"/>
                </a:solidFill>
                <a:latin typeface="Arial"/>
                <a:ea typeface="Arial"/>
                <a:cs typeface="Arial"/>
              </a:rPr>
              <a:t>Which detail makes the room feel most unsettling?</a:t>
            </a:r>
          </a:p>
        </p:txBody>
      </p:sp>
      <p:sp>
        <p:nvSpPr>
          <p:cNvPr id="8" name="demo-footer">
            <a:extLst xmlns:a="http://schemas.openxmlformats.org/drawingml/2006/main">
              <a:ext uri="{FF2B5EF4-FFF2-40B4-BE49-F238E27FC236}">
                <a16:creationId xmlns:a16="http://schemas.microsoft.com/office/drawing/2014/main" id="{9037AD09-DEED-43FC-AE2F-8CB19489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C22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5C2230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C2230"/>
                </a:solidFill>
                <a:latin typeface="Arial"/>
                <a:ea typeface="Arial"/>
                <a:cs typeface="Arial"/>
              </a:rPr>
              <a:t>Three clicks reveal three complete observations.</a:t>
            </a:r>
          </a:p>
        </p:txBody>
      </p:sp>
    </p:spTree>
    <p:extLst>
      <p:ext uri="{BB962C8B-B14F-4D97-AF65-F5344CB8AC3E}">
        <p14:creationId xmlns:p14="http://schemas.microsoft.com/office/powerpoint/2010/main" val="881257991"/>
      </p:ext>
    </p:extLst>
  </p:cSld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11B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llection-label">
            <a:extLst xmlns:a="http://schemas.openxmlformats.org/drawingml/2006/main">
              <a:ext uri="{FF2B5EF4-FFF2-40B4-BE49-F238E27FC236}">
                <a16:creationId xmlns:a16="http://schemas.microsoft.com/office/drawing/2014/main" id="{FE6C38DE-05D5-42BA-A1C8-4E15F1F1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00" b="1">
                <a:solidFill>
                  <a:srgbClr val="B89B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00" b="1">
                <a:solidFill>
                  <a:srgbClr val="B89B5E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B89B5E"/>
                </a:solidFill>
                <a:latin typeface="Arial"/>
                <a:ea typeface="Arial"/>
                <a:cs typeface="Arial"/>
              </a:rPr>
              <a:t>04  REVISION IN TWO STEPS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330FB8FD-2694-45F9-81C2-A4582CC6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00" b="1">
                <a:solidFill>
                  <a:srgbClr val="F2E8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800" b="1">
                <a:solidFill>
                  <a:srgbClr val="F2E8D5"/>
                </a:solidFill>
                <a:latin typeface="Georgia"/>
                <a:ea typeface="Georgia"/>
                <a:cs typeface="Georgia"/>
              </a:defRPr>
            </a:pPr>
            <a:r>
              <a:rPr sz="3800" b="1">
                <a:solidFill>
                  <a:srgbClr val="F2E8D5"/>
                </a:solidFill>
                <a:latin typeface="Georgia"/>
                <a:ea typeface="Georgia"/>
                <a:cs typeface="Georgia"/>
              </a:rPr>
              <a:t>A quieter way to show fear</a:t>
            </a:r>
          </a:p>
        </p:txBody>
      </p:sp>
      <p:sp>
        <p:nvSpPr>
          <p:cNvPr id="3" name="draft-label">
            <a:extLst xmlns:a="http://schemas.openxmlformats.org/drawingml/2006/main">
              <a:ext uri="{FF2B5EF4-FFF2-40B4-BE49-F238E27FC236}">
                <a16:creationId xmlns:a16="http://schemas.microsoft.com/office/drawing/2014/main" id="{C6D76A2B-BD39-4484-ACDD-17841FBC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B89B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B89B5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9B5E"/>
                </a:solidFill>
                <a:latin typeface="Arial"/>
                <a:ea typeface="Arial"/>
                <a:cs typeface="Arial"/>
              </a:rPr>
              <a:t>FIRST DRAFT</a:t>
            </a:r>
          </a:p>
        </p:txBody>
      </p:sp>
      <p:sp>
        <p:nvSpPr>
          <p:cNvPr id="4" name="revision-label">
            <a:extLst xmlns:a="http://schemas.openxmlformats.org/drawingml/2006/main">
              <a:ext uri="{FF2B5EF4-FFF2-40B4-BE49-F238E27FC236}">
                <a16:creationId xmlns:a16="http://schemas.microsoft.com/office/drawing/2014/main" id="{E6BCF6BA-9791-4073-A6F8-D01FDE92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143125"/>
            <a:ext cx="4924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B89B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B89B5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9B5E"/>
                </a:solidFill>
                <a:latin typeface="Arial"/>
                <a:ea typeface="Arial"/>
                <a:cs typeface="Arial"/>
              </a:rPr>
              <a:t>ONE POSSIBLE REVISION</a:t>
            </a:r>
          </a:p>
        </p:txBody>
      </p:sp>
      <p:sp>
        <p:nvSpPr>
          <p:cNvPr id="5" name="draft">
            <a:extLst xmlns:a="http://schemas.openxmlformats.org/drawingml/2006/main">
              <a:ext uri="{FF2B5EF4-FFF2-40B4-BE49-F238E27FC236}">
                <a16:creationId xmlns:a16="http://schemas.microsoft.com/office/drawing/2014/main" id="{4C155C13-E04B-4FAE-905A-8EC34C70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933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F2E8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0">
                <a:solidFill>
                  <a:srgbClr val="F2E8D5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2E8D5"/>
                </a:solidFill>
                <a:latin typeface="Arial"/>
                <a:ea typeface="Arial"/>
                <a:cs typeface="Arial"/>
              </a:rPr>
              <a:t>“He was extremely afraid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700" b="0">
                <a:solidFill>
                  <a:srgbClr val="F2E8D5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2E8D5"/>
                </a:solidFill>
                <a:latin typeface="Arial"/>
                <a:ea typeface="Arial"/>
                <a:cs typeface="Arial"/>
              </a:rPr>
              <a:t>and very nervous about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700" b="0">
                <a:solidFill>
                  <a:srgbClr val="F2E8D5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2E8D5"/>
                </a:solidFill>
                <a:latin typeface="Arial"/>
                <a:ea typeface="Arial"/>
                <a:cs typeface="Arial"/>
              </a:rPr>
              <a:t>what was behind the door.”</a:t>
            </a:r>
          </a:p>
        </p:txBody>
      </p:sp>
      <p:sp>
        <p:nvSpPr>
          <p:cNvPr id="6" name="revision">
            <a:extLst xmlns:a="http://schemas.openxmlformats.org/drawingml/2006/main">
              <a:ext uri="{FF2B5EF4-FFF2-40B4-BE49-F238E27FC236}">
                <a16:creationId xmlns:a16="http://schemas.microsoft.com/office/drawing/2014/main" id="{55929E92-A70E-4E00-9E23-CEE02B1D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781300"/>
            <a:ext cx="49244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00" b="0">
                <a:solidFill>
                  <a:srgbClr val="F2E8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900" b="0">
                <a:solidFill>
                  <a:srgbClr val="F2E8D5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F2E8D5"/>
                </a:solidFill>
                <a:latin typeface="Arial"/>
                <a:ea typeface="Arial"/>
                <a:cs typeface="Arial"/>
              </a:rPr>
              <a:t>“He held the key.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900" b="0">
                <a:solidFill>
                  <a:srgbClr val="F2E8D5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F2E8D5"/>
                </a:solidFill>
                <a:latin typeface="Arial"/>
                <a:ea typeface="Arial"/>
                <a:cs typeface="Arial"/>
              </a:rPr>
              <a:t>It struck the lock twice.”</a:t>
            </a:r>
          </a:p>
        </p:txBody>
      </p:sp>
      <p:sp>
        <p:nvSpPr>
          <p:cNvPr id="7" name="explanation">
            <a:extLst xmlns:a="http://schemas.openxmlformats.org/drawingml/2006/main">
              <a:ext uri="{FF2B5EF4-FFF2-40B4-BE49-F238E27FC236}">
                <a16:creationId xmlns:a16="http://schemas.microsoft.com/office/drawing/2014/main" id="{F26B7957-B745-4E6B-8E63-C55DC6AA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B89B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B89B5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B89B5E"/>
                </a:solidFill>
                <a:latin typeface="Arial"/>
                <a:ea typeface="Arial"/>
                <a:cs typeface="Arial"/>
              </a:rPr>
              <a:t>The shaking key shows fear through a visible action.</a:t>
            </a:r>
          </a:p>
        </p:txBody>
      </p:sp>
      <p:sp>
        <p:nvSpPr>
          <p:cNvPr id="8" name="practice">
            <a:extLst xmlns:a="http://schemas.openxmlformats.org/drawingml/2006/main">
              <a:ext uri="{FF2B5EF4-FFF2-40B4-BE49-F238E27FC236}">
                <a16:creationId xmlns:a16="http://schemas.microsoft.com/office/drawing/2014/main" id="{E893EB4A-9F15-49EC-BB03-6A2AA5EF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00" b="0">
                <a:solidFill>
                  <a:srgbClr val="F2E8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00" b="0">
                <a:solidFill>
                  <a:srgbClr val="F2E8D5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F2E8D5"/>
                </a:solidFill>
                <a:latin typeface="Arial"/>
                <a:ea typeface="Arial"/>
                <a:cs typeface="Arial"/>
              </a:rPr>
              <a:t>Your turn: show worry through one small action.</a:t>
            </a:r>
          </a:p>
        </p:txBody>
      </p:sp>
      <p:sp>
        <p:nvSpPr>
          <p:cNvPr id="9" name="demo-footer">
            <a:extLst xmlns:a="http://schemas.openxmlformats.org/drawingml/2006/main">
              <a:ext uri="{FF2B5EF4-FFF2-40B4-BE49-F238E27FC236}">
                <a16:creationId xmlns:a16="http://schemas.microsoft.com/office/drawing/2014/main" id="{ED93843A-6B70-4C54-BDD4-6E6B2A48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B89B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B89B5E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B89B5E"/>
                </a:solidFill>
                <a:latin typeface="Arial"/>
                <a:ea typeface="Arial"/>
                <a:cs typeface="Arial"/>
              </a:rPr>
              <a:t>Click 1: revision. Click 2: explanation.</a:t>
            </a:r>
          </a:p>
        </p:txBody>
      </p:sp>
    </p:spTree>
    <p:extLst>
      <p:ext uri="{BB962C8B-B14F-4D97-AF65-F5344CB8AC3E}">
        <p14:creationId xmlns:p14="http://schemas.microsoft.com/office/powerpoint/2010/main" val="2114286596"/>
      </p:ext>
    </p:extLst>
  </p:cSld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2026-10-25T11:15:09.7360000Z</dcterms:created>
  <dcterms:modified xsi:type="dcterms:W3CDTF">2026-10-25T11:15:09.7360000Z</dcterms:modified>
</coreProperties>
</file>
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b80a60f250b4e52" /><Relationship Type="http://schemas.openxmlformats.org/officeDocument/2006/relationships/extended-properties" Target="/docProps/app.xml" Id="Rb6ed549613ae4f65" /><Relationship Type="http://schemas.openxmlformats.org/officeDocument/2006/relationships/officeDocument" Target="/ppt/presentation.xml" Id="R5d09b946918641f0" /></Relationships>
</file>

<file path=ppt/presentation.xml><?xml version="1.0" encoding="utf-8"?>
<p:presentation xmlns:p="http://schemas.openxmlformats.org/presentationml/2006/main">
  <p:sldMasterIdLst>
    <p:sldMasterId xmlns:r="http://schemas.openxmlformats.org/officeDocument/2006/relationships" id="2147483648" r:id="R4f2e4ff3ceb446f6"/>
  </p:sldMasterIdLst>
  <p:notesMasterIdLst>
    <p:notesMasterId xmlns:r="http://schemas.openxmlformats.org/officeDocument/2006/relationships" r:id="Rac5e185278924d4f"/>
  </p:notesMasterIdLst>
  <p:sldIdLst>
    <p:sldId xmlns:r="http://schemas.openxmlformats.org/officeDocument/2006/relationships" id="256" r:id="R4969de076b104b54"/>
    <p:sldId xmlns:r="http://schemas.openxmlformats.org/officeDocument/2006/relationships" id="257" r:id="R3998b2b15c7f4305"/>
    <p:sldId xmlns:r="http://schemas.openxmlformats.org/officeDocument/2006/relationships" id="258" r:id="R1d09f410472245ec"/>
    <p:sldId xmlns:r="http://schemas.openxmlformats.org/officeDocument/2006/relationships" id="259" r:id="R7aa810bbe3b94127"/>
    <p:sldId xmlns:r="http://schemas.openxmlformats.org/officeDocument/2006/relationships" id="260" r:id="R790d1d970dcc445c"/>
    <p:sldId xmlns:r="http://schemas.openxmlformats.org/officeDocument/2006/relationships" id="261" r:id="R80f45b94fcad41a8"/>
    <p:sldId xmlns:r="http://schemas.openxmlformats.org/officeDocument/2006/relationships" id="262" r:id="R0a2aaf24d9634b1c"/>
    <p:sldId xmlns:r="http://schemas.openxmlformats.org/officeDocument/2006/relationships" id="263" r:id="Rd754f2cf00314147"/>
    <p:sldId xmlns:r="http://schemas.openxmlformats.org/officeDocument/2006/relationships" id="264" r:id="R50e70ac2bf884458"/>
    <p:sldId xmlns:r="http://schemas.openxmlformats.org/officeDocument/2006/relationships" id="265" r:id="Reb237243c2b24660"/>
    <p:sldId xmlns:r="http://schemas.openxmlformats.org/officeDocument/2006/relationships" id="266" r:id="R29cf56e0567c47b1"/>
    <p:sldId xmlns:r="http://schemas.openxmlformats.org/officeDocument/2006/relationships" id="267" r:id="R6a95b0519f1f43d2"/>
    <p:sldId xmlns:r="http://schemas.openxmlformats.org/officeDocument/2006/relationships" id="268" r:id="R3d5e10bef5e04010"/>
    <p:sldId xmlns:r="http://schemas.openxmlformats.org/officeDocument/2006/relationships" id="269" r:id="R5d3893470609414c"/>
    <p:sldId xmlns:r="http://schemas.openxmlformats.org/officeDocument/2006/relationships" id="270" r:id="R046a60558f784eb6"/>
    <p:sldId xmlns:r="http://schemas.openxmlformats.org/officeDocument/2006/relationships" id="271" r:id="R731c4cb06a654225"/>
    <p:sldId xmlns:r="http://schemas.openxmlformats.org/officeDocument/2006/relationships" id="272" r:id="Rf883c65496854c7b"/>
    <p:sldId xmlns:r="http://schemas.openxmlformats.org/officeDocument/2006/relationships" id="273" r:id="R556188c694944dc6"/>
    <p:sldId xmlns:r="http://schemas.openxmlformats.org/officeDocument/2006/relationships" id="274" r:id="R24fa666edf2c4136"/>
    <p:sldId xmlns:r="http://schemas.openxmlformats.org/officeDocument/2006/relationships" id="275" r:id="R23b327c37eaa4eb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cc430f75812473b" /><Relationship Type="http://schemas.openxmlformats.org/officeDocument/2006/relationships/slideMaster" Target="/ppt/slideMasters/slideMaster1.xml" Id="R4f2e4ff3ceb446f6" /><Relationship Type="http://schemas.openxmlformats.org/officeDocument/2006/relationships/notesMaster" Target="/ppt/notesMasters/notesMaster1.xml" Id="Rac5e185278924d4f" /><Relationship Type="http://schemas.openxmlformats.org/officeDocument/2006/relationships/presProps" Target="/ppt/presProps.xml" Id="Rb68f7304b3294106" /><Relationship Type="http://schemas.openxmlformats.org/officeDocument/2006/relationships/tableStyles" Target="/ppt/tableStyles.xml" Id="R4169191b6aef4115" /><Relationship Type="http://schemas.openxmlformats.org/officeDocument/2006/relationships/slide" Target="/ppt/slides/slide1.xml" Id="R4969de076b104b54" /><Relationship Type="http://schemas.openxmlformats.org/officeDocument/2006/relationships/slide" Target="/ppt/slides/slide2.xml" Id="R3998b2b15c7f4305" /><Relationship Type="http://schemas.openxmlformats.org/officeDocument/2006/relationships/slide" Target="/ppt/slides/slide3.xml" Id="R1d09f410472245ec" /><Relationship Type="http://schemas.openxmlformats.org/officeDocument/2006/relationships/slide" Target="/ppt/slides/slide4.xml" Id="R7aa810bbe3b94127" /><Relationship Type="http://schemas.openxmlformats.org/officeDocument/2006/relationships/slide" Target="/ppt/slides/slide5.xml" Id="R790d1d970dcc445c" /><Relationship Type="http://schemas.openxmlformats.org/officeDocument/2006/relationships/slide" Target="/ppt/slides/slide6.xml" Id="R80f45b94fcad41a8" /><Relationship Type="http://schemas.openxmlformats.org/officeDocument/2006/relationships/slide" Target="/ppt/slides/slide7.xml" Id="R0a2aaf24d9634b1c" /><Relationship Type="http://schemas.openxmlformats.org/officeDocument/2006/relationships/slide" Target="/ppt/slides/slide8.xml" Id="Rd754f2cf00314147" /><Relationship Type="http://schemas.openxmlformats.org/officeDocument/2006/relationships/slide" Target="/ppt/slides/slide9.xml" Id="R50e70ac2bf884458" /><Relationship Type="http://schemas.openxmlformats.org/officeDocument/2006/relationships/slide" Target="/ppt/slides/slide10.xml" Id="Reb237243c2b24660" /><Relationship Type="http://schemas.openxmlformats.org/officeDocument/2006/relationships/slide" Target="/ppt/slides/slide11.xml" Id="R29cf56e0567c47b1" /><Relationship Type="http://schemas.openxmlformats.org/officeDocument/2006/relationships/slide" Target="/ppt/slides/slide12.xml" Id="R6a95b0519f1f43d2" /><Relationship Type="http://schemas.openxmlformats.org/officeDocument/2006/relationships/slide" Target="/ppt/slides/slide13.xml" Id="R3d5e10bef5e04010" /><Relationship Type="http://schemas.openxmlformats.org/officeDocument/2006/relationships/slide" Target="/ppt/slides/slide14.xml" Id="R5d3893470609414c" /><Relationship Type="http://schemas.openxmlformats.org/officeDocument/2006/relationships/slide" Target="/ppt/slides/slide15.xml" Id="R046a60558f784eb6" /><Relationship Type="http://schemas.openxmlformats.org/officeDocument/2006/relationships/slide" Target="/ppt/slides/slide16.xml" Id="R731c4cb06a654225" /><Relationship Type="http://schemas.openxmlformats.org/officeDocument/2006/relationships/slide" Target="/ppt/slides/slide17.xml" Id="Rf883c65496854c7b" /><Relationship Type="http://schemas.openxmlformats.org/officeDocument/2006/relationships/slide" Target="/ppt/slides/slide18.xml" Id="R556188c694944dc6" /><Relationship Type="http://schemas.openxmlformats.org/officeDocument/2006/relationships/slide" Target="/ppt/slides/slide19.xml" Id="R24fa666edf2c4136" /><Relationship Type="http://schemas.openxmlformats.org/officeDocument/2006/relationships/slide" Target="/ppt/slides/slide20.xml" Id="R23b327c37eaa4eb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7bc1156fca34e8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AE Humanities">
      <a:dk1>
        <a:srgbClr val="211B16"/>
      </a:dk1>
      <a:lt1>
        <a:srgbClr val="F2E8D5"/>
      </a:lt1>
      <a:dk2>
        <a:srgbClr val="211B16"/>
      </a:dk2>
      <a:lt2>
        <a:srgbClr val="E9D8B6"/>
      </a:lt2>
      <a:accent1>
        <a:srgbClr val="B89B5E"/>
      </a:accent1>
      <a:accent2>
        <a:srgbClr val="5C2230"/>
      </a:accent2>
      <a:accent3>
        <a:srgbClr val="6B7258"/>
      </a:accent3>
      <a:accent4>
        <a:srgbClr val="E9D8B6"/>
      </a:accent4>
      <a:accent5>
        <a:srgbClr val="211B16"/>
      </a:accent5>
      <a:accent6>
        <a:srgbClr val="F2E8D5"/>
      </a:accent6>
      <a:hlink>
        <a:srgbClr val="5C2230"/>
      </a:hlink>
      <a:folHlink>
        <a:srgbClr val="6B7258"/>
      </a:folHlink>
    </a:clrScheme>
    <a:fontScheme name="">
      <a:majorFont>
        <a:latin typeface="Arial"/>
        <a:ea typeface=""/>
        <a:cs typeface=""/>
      </a:majorFont>
      <a:minorFont>
        <a:latin typeface="Arial"/>
        <a:ea typeface=""/>
        <a:cs typeface=""/>
      </a:minorFont>
    </a:fontScheme>
    <a:fmtScheme name="AE Humanities">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62246c0a3854f36" /><Relationship Type="http://schemas.openxmlformats.org/officeDocument/2006/relationships/notesMaster" Target="/ppt/notesMasters/notesMaster1.xml" Id="R155346e502844547" /></Relationships>
</file>

<file path=ppt/notesSlides/_rels/notesSlide2.xml.rels>&#65279;<?xml version="1.0" encoding="utf-8"?><Relationships xmlns="http://schemas.openxmlformats.org/package/2006/relationships"><Relationship Type="http://schemas.openxmlformats.org/officeDocument/2006/relationships/slide" Target="/ppt/slides/slide2.xml" Id="Rc19c8426aebd425c" /><Relationship Type="http://schemas.openxmlformats.org/officeDocument/2006/relationships/notesMaster" Target="/ppt/notesMasters/notesMaster1.xml" Id="R9e34f55763cd490d" /></Relationships>
</file>

<file path=ppt/notesSlides/_rels/notesSlide3.xml.rels>&#65279;<?xml version="1.0" encoding="utf-8"?><Relationships xmlns="http://schemas.openxmlformats.org/package/2006/relationships"><Relationship Type="http://schemas.openxmlformats.org/officeDocument/2006/relationships/slide" Target="/ppt/slides/slide3.xml" Id="R74c0ca21f2a74033" /><Relationship Type="http://schemas.openxmlformats.org/officeDocument/2006/relationships/notesMaster" Target="/ppt/notesMasters/notesMaster1.xml" Id="R1239d89b923642f8" /></Relationships>
</file>

<file path=ppt/notesSlides/_rels/notesSlide4.xml.rels>&#65279;<?xml version="1.0" encoding="utf-8"?><Relationships xmlns="http://schemas.openxmlformats.org/package/2006/relationships"><Relationship Type="http://schemas.openxmlformats.org/officeDocument/2006/relationships/slide" Target="/ppt/slides/slide4.xml" Id="R26852814a9614365" /><Relationship Type="http://schemas.openxmlformats.org/officeDocument/2006/relationships/notesMaster" Target="/ppt/notesMasters/notesMaster1.xml" Id="Rbd884b45e1484f8b" /></Relationships>
</file>

<file path=ppt/notesSlides/_rels/notesSlide5.xml.rels>&#65279;<?xml version="1.0" encoding="utf-8"?><Relationships xmlns="http://schemas.openxmlformats.org/package/2006/relationships"><Relationship Type="http://schemas.openxmlformats.org/officeDocument/2006/relationships/slide" Target="/ppt/slides/slide5.xml" Id="R8c1c7c35ffad4a59" /><Relationship Type="http://schemas.openxmlformats.org/officeDocument/2006/relationships/notesMaster" Target="/ppt/notesMasters/notesMaster1.xml" Id="Rf966f221442f454c" /></Relationships>
</file>

<file path=ppt/notesSlides/_rels/notesSlide6.xml.rels>&#65279;<?xml version="1.0" encoding="utf-8"?><Relationships xmlns="http://schemas.openxmlformats.org/package/2006/relationships"><Relationship Type="http://schemas.openxmlformats.org/officeDocument/2006/relationships/slide" Target="/ppt/slides/slide6.xml" Id="R7d209a3d7c1241f1" /><Relationship Type="http://schemas.openxmlformats.org/officeDocument/2006/relationships/notesMaster" Target="/ppt/notesMasters/notesMaster1.xml" Id="Re7b5ae17a78048d4" /></Relationships>
</file>

<file path=ppt/notesSlides/_rels/notesSlide7.xml.rels>&#65279;<?xml version="1.0" encoding="utf-8"?><Relationships xmlns="http://schemas.openxmlformats.org/package/2006/relationships"><Relationship Type="http://schemas.openxmlformats.org/officeDocument/2006/relationships/slide" Target="/ppt/slides/slide7.xml" Id="R5a5525293264472b" /><Relationship Type="http://schemas.openxmlformats.org/officeDocument/2006/relationships/notesMaster" Target="/ppt/notesMasters/notesMaster1.xml" Id="Rb3defa63ce67484e" /></Relationships>
</file>

<file path=ppt/notesSlides/_rels/notesSlide8.xml.rels>&#65279;<?xml version="1.0" encoding="utf-8"?><Relationships xmlns="http://schemas.openxmlformats.org/package/2006/relationships"><Relationship Type="http://schemas.openxmlformats.org/officeDocument/2006/relationships/slide" Target="/ppt/slides/slide8.xml" Id="R0b7ee90ecc184b6f" /><Relationship Type="http://schemas.openxmlformats.org/officeDocument/2006/relationships/notesMaster" Target="/ppt/notesMasters/notesMaster1.xml" Id="R6b5af4639b5c40a5" /></Relationships>
</file>

<file path=ppt/notesSlides/_rels/notesSlide9.xml.rels>&#65279;<?xml version="1.0" encoding="utf-8"?><Relationships xmlns="http://schemas.openxmlformats.org/package/2006/relationships"><Relationship Type="http://schemas.openxmlformats.org/officeDocument/2006/relationships/slide" Target="/ppt/slides/slide9.xml" Id="Rde41cab4536a4d2f" /><Relationship Type="http://schemas.openxmlformats.org/officeDocument/2006/relationships/notesMaster" Target="/ppt/notesMasters/notesMaster1.xml" Id="R1d22db7f4e024ce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ce8b77641ef746f7" /><Relationship Type="http://schemas.openxmlformats.org/officeDocument/2006/relationships/notesMaster" Target="/ppt/notesMasters/notesMaster1.xml" Id="R34369d38557c4ea4"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2ee1d83a5e354fbd" /><Relationship Type="http://schemas.openxmlformats.org/officeDocument/2006/relationships/notesMaster" Target="/ppt/notesMasters/notesMaster1.xml" Id="R46746bb0368446f3"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1cd74dfd5db7425c" /><Relationship Type="http://schemas.openxmlformats.org/officeDocument/2006/relationships/notesMaster" Target="/ppt/notesMasters/notesMaster1.xml" Id="R4b497f65728d441f"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86bc85af0f164b6a" /><Relationship Type="http://schemas.openxmlformats.org/officeDocument/2006/relationships/notesMaster" Target="/ppt/notesMasters/notesMaster1.xml" Id="Ra608b20c3e704580"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64cf3cc2ab014f75" /><Relationship Type="http://schemas.openxmlformats.org/officeDocument/2006/relationships/notesMaster" Target="/ppt/notesMasters/notesMaster1.xml" Id="R0d8e966539ea437f"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88a3a4ed7a184078" /><Relationship Type="http://schemas.openxmlformats.org/officeDocument/2006/relationships/notesMaster" Target="/ppt/notesMasters/notesMaster1.xml" Id="R7e0e0f56104042d2"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a9c6558f916e4c09" /><Relationship Type="http://schemas.openxmlformats.org/officeDocument/2006/relationships/notesMaster" Target="/ppt/notesMasters/notesMaster1.xml" Id="R16fdd0883d624fac"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416847c946f54c81" /><Relationship Type="http://schemas.openxmlformats.org/officeDocument/2006/relationships/notesMaster" Target="/ppt/notesMasters/notesMaster1.xml" Id="R31172af59c364136"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4d07b5096ff444a1" /><Relationship Type="http://schemas.openxmlformats.org/officeDocument/2006/relationships/notesMaster" Target="/ppt/notesMasters/notesMaster1.xml" Id="Ra87f93993aff46e7"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b1e173c5c52a4d2b" /><Relationship Type="http://schemas.openxmlformats.org/officeDocument/2006/relationships/notesMaster" Target="/ppt/notesMasters/notesMaster1.xml" Id="R499926e0c3a84997"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5e14b7179b834364" /><Relationship Type="http://schemas.openxmlformats.org/officeDocument/2006/relationships/notesMaster" Target="/ppt/notesMasters/notesMaster1.xml" Id="R82ca146b8be4400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AE HUMANITIES EDITABLE LAYOUT LIBRARY</a:t>
            </a:r>
          </a:p>
          <a:p xmlns:a="http://schemas.openxmlformats.org/drawingml/2006/main">
            <a:r>
              <a:t>1 | Close reading | Full passage</a:t>
            </a:r>
          </a:p>
          <a:p xmlns:a="http://schemas.openxmlformats.org/drawingml/2006/main">
            <a:r>
              <a:t/>
            </a:r>
          </a:p>
          <a:p xmlns:a="http://schemas.openxmlformats.org/drawingml/2006/main">
            <a:br/>
            <a:r>
              <a:t>COPY AND ADAPT: Copy the entire slide and choose Keep Source Formatting in PowerPoint. Keep the deck widescreen (16:9). Replace sample text and any source artwork. Georgia Bold is used for headings and Arial for body text. Text boxes, tables and timelines remain editable. Images are embedded separately.</a:t>
            </a:r>
            <a:br/>
            <a:r>
              <a:t>REMOVE BEFORE CLASS: Delete template-label and template-capacity-guide using the Selection Pane. These separate objects identify the layout and show its sample load. Keep them in your private planning copy if useful.</a:t>
            </a:r>
            <a:br/>
            <a:r>
              <a:t>TEXT CAPACITY: The demonstrated amount is a starting point, not a guaranteed maximum. Long words and line breaks change fit. Keep the demonstrated point sizes; shorten or split material before shrinking text. Check your edits in slideshow view.</a:t>
            </a:r>
            <a:br/>
            <a:r>
              <a:t>SAMPLE CONTENT: All passages, quotations, names, biographical events, dates and project scenarios are original illustrative examples. Fictional profiles are labelled. Replace them with your lesson material and put source references here.</a:t>
            </a:r>
            <a:br/>
            <a:br/>
            <a:r>
              <a:t>CAPACITY: Example passage: 61 words at 28 pt</a:t>
            </a:r>
            <a:br/>
            <a:r>
              <a:t>ADAPTATION: Aim for 55–70 words and one short question. Split longer extracts at meaningful paragraph boundaries.</a:t>
            </a:r>
            <a:br/>
            <a:r>
              <a:t>TEACHING USE: Possible answers include keeping her gloves on or choosing the chair nearest the door.</a:t>
            </a:r>
            <a:br/>
            <a:r>
              <a:t>MOTION PLAN ONLY: Optional Fade transition, 0.4 seconds, manual advance. Keep all content visible. Native effects are not implemented in this file.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AE HUMANITIES EDITABLE LAYOUT LIBRARY</a:t>
            </a:r>
          </a:p>
          <a:p xmlns:a="http://schemas.openxmlformats.org/drawingml/2006/main">
            <a:r>
              <a:t>2 | Close reading | Focal quotation</a:t>
            </a:r>
          </a:p>
          <a:p xmlns:a="http://schemas.openxmlformats.org/drawingml/2006/main">
            <a:r>
              <a:t/>
            </a:r>
          </a:p>
          <a:p xmlns:a="http://schemas.openxmlformats.org/drawingml/2006/main">
            <a:br/>
            <a:r>
              <a:t>Artwork: AI-generated illustration from the user’s AE Humanities collection, AE-Humanities-library-backgrounds/49-library-text-right.png. Illustrative artwork, not documentary evidence.</a:t>
            </a:r>
          </a:p>
          <a:p xmlns:a="http://schemas.openxmlformats.org/drawingml/2006/main">
            <a:br/>
            <a:r>
              <a:t>COPY AND ADAPT: Copy the entire slide and choose Keep Source Formatting in PowerPoint. Keep the deck widescreen (16:9). Replace sample text and any source artwork. Georgia Bold is used for headings and Arial for body text. Text boxes, tables and timelines remain editable. Images are embedded separately.</a:t>
            </a:r>
            <a:br/>
            <a:r>
              <a:t>REMOVE BEFORE CLASS: Delete template-label and template-capacity-guide using the Selection Pane. These separate objects identify the layout and show its sample load. Keep them in your private planning copy if useful.</a:t>
            </a:r>
            <a:br/>
            <a:r>
              <a:t>TEXT CAPACITY: The demonstrated amount is a starting point, not a guaranteed maximum. Long words and line breaks change fit. Keep the demonstrated point sizes; shorten or split material before shrinking text. Check your edits in slideshow view.</a:t>
            </a:r>
            <a:br/>
            <a:r>
              <a:t>SAMPLE CONTENT: All passages, quotations, names, biographical events, dates and project scenarios are original illustrative examples. Fictional profiles are labelled. Replace them with your lesson material and put source references here.</a:t>
            </a:r>
            <a:br/>
            <a:br/>
            <a:r>
              <a:t>CAPACITY: Example: an 11-word excerpt at 32 pt</a:t>
            </a:r>
            <a:br/>
            <a:r>
              <a:t>ADAPTATION: Aim for a 10–25-word excerpt and a two-line question. Keep text on the quiet wall at the right.</a:t>
            </a:r>
            <a:br/>
            <a:r>
              <a:t>TEACHING USE: Ask for two possible readings of the same action.</a:t>
            </a:r>
            <a:br/>
            <a:r>
              <a:t>MOTION PLAN ONLY: Optional Fade transition, 0.4 seconds, manual advance. Keep all content visible. Native effects are not implemented in this file.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AE HUMANITIES EDITABLE LAYOUT LIBRARY</a:t>
            </a:r>
          </a:p>
          <a:p xmlns:a="http://schemas.openxmlformats.org/drawingml/2006/main">
            <a:r>
              <a:t>3 | Passage annotation | Margin notes</a:t>
            </a:r>
          </a:p>
          <a:p xmlns:a="http://schemas.openxmlformats.org/drawingml/2006/main">
            <a:r>
              <a:t/>
            </a:r>
          </a:p>
          <a:p xmlns:a="http://schemas.openxmlformats.org/drawingml/2006/main">
            <a:br/>
            <a:r>
              <a:t>COPY AND ADAPT: Copy the entire slide and choose Keep Source Formatting in PowerPoint. Keep the deck widescreen (16:9). Replace sample text and any source artwork. Georgia Bold is used for headings and Arial for body text. Text boxes, tables and timelines remain editable. Images are embedded separately.</a:t>
            </a:r>
            <a:br/>
            <a:r>
              <a:t>REMOVE BEFORE CLASS: Delete template-label and template-capacity-guide using the Selection Pane. These separate objects identify the layout and show its sample load. Keep them in your private planning copy if useful.</a:t>
            </a:r>
            <a:br/>
            <a:r>
              <a:t>TEXT CAPACITY: The demonstrated amount is a starting point, not a guaranteed maximum. Long words and line breaks change fit. Keep the demonstrated point sizes; shorten or split material before shrinking text. Check your edits in slideshow view.</a:t>
            </a:r>
            <a:br/>
            <a:r>
              <a:t>SAMPLE CONTENT: All passages, quotations, names, biographical events, dates and project scenarios are original illustrative examples. Fictional profiles are labelled. Replace them with your lesson material and put source references here.</a:t>
            </a:r>
            <a:br/>
            <a:br/>
            <a:r>
              <a:t>CAPACITY: Example: 32 passage words with three short notes</a:t>
            </a:r>
            <a:br/>
            <a:r>
              <a:t>ADAPTATION: Aim for 25–40 passage words at 29 pt and notes of 5–9 words at 24 pt. Each note is independently editable.</a:t>
            </a:r>
            <a:br/>
            <a:r>
              <a:t>TEACHING USE: Distinguish words on the page from their interpretation.</a:t>
            </a:r>
            <a:br/>
            <a:r>
              <a:t>MOTION PLAN ONLY: Passage and question visible initially. Reveal the three annotation label/text pairs on successive clicks using Appear. Native effects are not implemented in this file.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AE HUMANITIES EDITABLE LAYOUT LIBRARY</a:t>
            </a:r>
          </a:p>
          <a:p xmlns:a="http://schemas.openxmlformats.org/drawingml/2006/main">
            <a:r>
              <a:t>4 | Passage annotation | Evidence and comment</a:t>
            </a:r>
          </a:p>
          <a:p xmlns:a="http://schemas.openxmlformats.org/drawingml/2006/main">
            <a:r>
              <a:t/>
            </a:r>
          </a:p>
          <a:p xmlns:a="http://schemas.openxmlformats.org/drawingml/2006/main">
            <a:br/>
            <a:r>
              <a:t>COPY AND ADAPT: Copy the entire slide and choose Keep Source Formatting in PowerPoint. Keep the deck widescreen (16:9). Replace sample text and any source artwork. Georgia Bold is used for headings and Arial for body text. Text boxes, tables and timelines remain editable. Images are embedded separately.</a:t>
            </a:r>
            <a:br/>
            <a:r>
              <a:t>REMOVE BEFORE CLASS: Delete template-label and template-capacity-guide using the Selection Pane. These separate objects identify the layout and show its sample load. Keep them in your private planning copy if useful.</a:t>
            </a:r>
            <a:br/>
            <a:r>
              <a:t>TEXT CAPACITY: The demonstrated amount is a starting point, not a guaranteed maximum. Long words and line breaks change fit. Keep the demonstrated point sizes; shorten or split material before shrinking text. Check your edits in slideshow view.</a:t>
            </a:r>
            <a:br/>
            <a:r>
              <a:t>SAMPLE CONTENT: All passages, quotations, names, biographical events, dates and project scenarios are original illustrative examples. Fictional profiles are labelled. Replace them with your lesson material and put source references here.</a:t>
            </a:r>
            <a:br/>
            <a:br/>
            <a:r>
              <a:t>CAPACITY: Example: three excerpts of 3–5 words with one comment each</a:t>
            </a:r>
            <a:br/>
            <a:r>
              <a:t>ADAPTATION: Keep evidence at 28 pt and comments at 26 pt. Each row allows two lines.</a:t>
            </a:r>
            <a:br/>
            <a:r>
              <a:t>TEACHING USE: Replace almost, again or only and read the altered sentence aloud.</a:t>
            </a:r>
            <a:br/>
            <a:r>
              <a:t>MOTION PLAN ONLY: Show all evidence first. Reveal comment-0, comment-1 and comment-2 on successive clicks. Native effects are not implemented in this file.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AE HUMANITIES EDITABLE LAYOUT LIBRARY</a:t>
            </a:r>
          </a:p>
          <a:p xmlns:a="http://schemas.openxmlformats.org/drawingml/2006/main">
            <a:r>
              <a:t>5 | Vocabulary | One term in depth</a:t>
            </a:r>
          </a:p>
          <a:p xmlns:a="http://schemas.openxmlformats.org/drawingml/2006/main">
            <a:r>
              <a:t/>
            </a:r>
          </a:p>
          <a:p xmlns:a="http://schemas.openxmlformats.org/drawingml/2006/main">
            <a:br/>
            <a:r>
              <a:t>COPY AND ADAPT: Copy the entire slide and choose Keep Source Formatting in PowerPoint. Keep the deck widescreen (16:9). Replace sample text and any source artwork. Georgia Bold is used for headings and Arial for body text. Text boxes, tables and timelines remain editable. Images are embedded separately.</a:t>
            </a:r>
            <a:br/>
            <a:r>
              <a:t>REMOVE BEFORE CLASS: Delete template-label and template-capacity-guide using the Selection Pane. These separate objects identify the layout and show its sample load. Keep them in your private planning copy if useful.</a:t>
            </a:r>
            <a:br/>
            <a:r>
              <a:t>TEXT CAPACITY: The demonstrated amount is a starting point, not a guaranteed maximum. Long words and line breaks change fit. Keep the demonstrated point sizes; shorten or split material before shrinking text. Check your edits in slideshow view.</a:t>
            </a:r>
            <a:br/>
            <a:r>
              <a:t>SAMPLE CONTENT: All passages, quotations, names, biographical events, dates and project scenarios are original illustrative examples. Fictional profiles are labelled. Replace them with your lesson material and put source references here.</a:t>
            </a:r>
            <a:br/>
            <a:br/>
            <a:r>
              <a:t>CAPACITY: Example: one term, a brief definition and a context sentence</a:t>
            </a:r>
            <a:br/>
            <a:r>
              <a:t>ADAPTATION: Use a term of about 12 letters at 52 pt, an 8–15-word definition and a 12–20-word example at 28 pt.</a:t>
            </a:r>
            <a:br/>
            <a:r>
              <a:t>TEACHING USE: Ask students to explain the conflicting feelings in a new situation.</a:t>
            </a:r>
            <a:br/>
            <a:r>
              <a:t>MOTION PLAN ONLY: Optional Fade transition, 0.4 seconds, manual advance. Keep all content visible. Native effects are not implemented in this file.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AE HUMANITIES EDITABLE LAYOUT LIBRARY</a:t>
            </a:r>
          </a:p>
          <a:p xmlns:a="http://schemas.openxmlformats.org/drawingml/2006/main">
            <a:r>
              <a:t>6 | Vocabulary | Terms in context</a:t>
            </a:r>
          </a:p>
          <a:p xmlns:a="http://schemas.openxmlformats.org/drawingml/2006/main">
            <a:r>
              <a:t/>
            </a:r>
          </a:p>
          <a:p xmlns:a="http://schemas.openxmlformats.org/drawingml/2006/main">
            <a:br/>
            <a:r>
              <a:t>COPY AND ADAPT: Copy the entire slide and choose Keep Source Formatting in PowerPoint. Keep the deck widescreen (16:9). Replace sample text and any source artwork. Georgia Bold is used for headings and Arial for body text. Text boxes, tables and timelines remain editable. Images are embedded separately.</a:t>
            </a:r>
            <a:br/>
            <a:r>
              <a:t>REMOVE BEFORE CLASS: Delete template-label and template-capacity-guide using the Selection Pane. These separate objects identify the layout and show its sample load. Keep them in your private planning copy if useful.</a:t>
            </a:r>
            <a:br/>
            <a:r>
              <a:t>TEXT CAPACITY: The demonstrated amount is a starting point, not a guaranteed maximum. Long words and line breaks change fit. Keep the demonstrated point sizes; shorten or split material before shrinking text. Check your edits in slideshow view.</a:t>
            </a:r>
            <a:br/>
            <a:r>
              <a:t>SAMPLE CONTENT: All passages, quotations, names, biographical events, dates and project scenarios are original illustrative examples. Fictional profiles are labelled. Replace them with your lesson material and put source references here.</a:t>
            </a:r>
            <a:br/>
            <a:br/>
            <a:r>
              <a:t>CAPACITY: Example: three terms at 24 pt with brief meanings and examples</a:t>
            </a:r>
            <a:br/>
            <a:r>
              <a:t>ADAPTATION: Native PowerPoint table. Use three rows with 7–9-word meanings and 8–10-word examples. Add extra terms on another slide.</a:t>
            </a:r>
            <a:br/>
            <a:r>
              <a:t>TEACHING USE: Ask pairs to use a term in a new sentence about their reading.</a:t>
            </a:r>
            <a:br/>
            <a:r>
              <a:t>MOTION PLAN ONLY: Optional Fade transition, 0.4 seconds, manual advance. Keep all content visible. Native effects are not implemented in this file.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AE HUMANITIES EDITABLE LAYOUT LIBRARY</a:t>
            </a:r>
          </a:p>
          <a:p xmlns:a="http://schemas.openxmlformats.org/drawingml/2006/main">
            <a:r>
              <a:t>7 | Comparison | Paired passages</a:t>
            </a:r>
          </a:p>
          <a:p xmlns:a="http://schemas.openxmlformats.org/drawingml/2006/main">
            <a:r>
              <a:t/>
            </a:r>
          </a:p>
          <a:p xmlns:a="http://schemas.openxmlformats.org/drawingml/2006/main">
            <a:br/>
            <a:r>
              <a:t>COPY AND ADAPT: Copy the entire slide and choose Keep Source Formatting in PowerPoint. Keep the deck widescreen (16:9). Replace sample text and any source artwork. Georgia Bold is used for headings and Arial for body text. Text boxes, tables and timelines remain editable. Images are embedded separately.</a:t>
            </a:r>
            <a:br/>
            <a:r>
              <a:t>REMOVE BEFORE CLASS: Delete template-label and template-capacity-guide using the Selection Pane. These separate objects identify the layout and show its sample load. Keep them in your private planning copy if useful.</a:t>
            </a:r>
            <a:br/>
            <a:r>
              <a:t>TEXT CAPACITY: The demonstrated amount is a starting point, not a guaranteed maximum. Long words and line breaks change fit. Keep the demonstrated point sizes; shorten or split material before shrinking text. Check your edits in slideshow view.</a:t>
            </a:r>
            <a:br/>
            <a:r>
              <a:t>SAMPLE CONTENT: All passages, quotations, names, biographical events, dates and project scenarios are original illustrative examples. Fictional profiles are labelled. Replace them with your lesson material and put source references here.</a:t>
            </a:r>
            <a:br/>
            <a:br/>
            <a:r>
              <a:t>CAPACITY: Example: 28 words beside 27 words at 27 pt</a:t>
            </a:r>
            <a:br/>
            <a:r>
              <a:t>ADAPTATION: Aim for 25–35 words per passage. For longer readings, use two full-passage slides followed by layout 08.</a:t>
            </a:r>
            <a:br/>
            <a:r>
              <a:t>TEACHING USE: Students identify verbs before naming the mood.</a:t>
            </a:r>
            <a:br/>
            <a:r>
              <a:t>MOTION PLAN ONLY: Optional Fade transition, 0.4 seconds, manual advance. Keep all content visible. Native effects are not implemented in this file.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AE HUMANITIES EDITABLE LAYOUT LIBRARY</a:t>
            </a:r>
          </a:p>
          <a:p xmlns:a="http://schemas.openxmlformats.org/drawingml/2006/main">
            <a:r>
              <a:t>8 | Comparison | Comparison matrix</a:t>
            </a:r>
          </a:p>
          <a:p xmlns:a="http://schemas.openxmlformats.org/drawingml/2006/main">
            <a:r>
              <a:t/>
            </a:r>
          </a:p>
          <a:p xmlns:a="http://schemas.openxmlformats.org/drawingml/2006/main">
            <a:br/>
            <a:r>
              <a:t>COPY AND ADAPT: Copy the entire slide and choose Keep Source Formatting in PowerPoint. Keep the deck widescreen (16:9). Replace sample text and any source artwork. Georgia Bold is used for headings and Arial for body text. Text boxes, tables and timelines remain editable. Images are embedded separately.</a:t>
            </a:r>
            <a:br/>
            <a:r>
              <a:t>REMOVE BEFORE CLASS: Delete template-label and template-capacity-guide using the Selection Pane. These separate objects identify the layout and show its sample load. Keep them in your private planning copy if useful.</a:t>
            </a:r>
            <a:br/>
            <a:r>
              <a:t>TEXT CAPACITY: The demonstrated amount is a starting point, not a guaranteed maximum. Long words and line breaks change fit. Keep the demonstrated point sizes; shorten or split material before shrinking text. Check your edits in slideshow view.</a:t>
            </a:r>
            <a:br/>
            <a:r>
              <a:t>SAMPLE CONTENT: All passages, quotations, names, biographical events, dates and project scenarios are original illustrative examples. Fictional profiles are labelled. Replace them with your lesson material and put source references here.</a:t>
            </a:r>
            <a:br/>
            <a:br/>
            <a:r>
              <a:t>CAPACITY: Example: three comparison rows with short cells at 25 pt</a:t>
            </a:r>
            <a:br/>
            <a:r>
              <a:t>ADAPTATION: Native editable table. Aim for 4–9 words per cell, comparing the same criterion across each row.</a:t>
            </a:r>
            <a:br/>
            <a:r>
              <a:t>TEACHING USE: An interpretation needs support and may remain uncertain.</a:t>
            </a:r>
            <a:br/>
            <a:r>
              <a:t>MOTION PLAN ONLY: Optional Fade transition, 0.4 seconds, manual advance. Keep all content visible. Native effects are not implemented in this file.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AE HUMANITIES EDITABLE LAYOUT LIBRARY</a:t>
            </a:r>
          </a:p>
          <a:p xmlns:a="http://schemas.openxmlformats.org/drawingml/2006/main">
            <a:r>
              <a:t>9 | Debate | Claim and counterpoint</a:t>
            </a:r>
          </a:p>
          <a:p xmlns:a="http://schemas.openxmlformats.org/drawingml/2006/main">
            <a:r>
              <a:t/>
            </a:r>
          </a:p>
          <a:p xmlns:a="http://schemas.openxmlformats.org/drawingml/2006/main">
            <a:br/>
            <a:r>
              <a:t>Artwork: AI-generated illustration from the user’s AE Humanities collection, AE-Humanities-library-backgrounds/50-library-text-center.png. Illustrative artwork, not documentary evidence.</a:t>
            </a:r>
          </a:p>
          <a:p xmlns:a="http://schemas.openxmlformats.org/drawingml/2006/main">
            <a:br/>
            <a:r>
              <a:t>COPY AND ADAPT: Copy the entire slide and choose Keep Source Formatting in PowerPoint. Keep the deck widescreen (16:9). Replace sample text and any source artwork. Georgia Bold is used for headings and Arial for body text. Text boxes, tables and timelines remain editable. Images are embedded separately.</a:t>
            </a:r>
            <a:br/>
            <a:r>
              <a:t>REMOVE BEFORE CLASS: Delete template-label and template-capacity-guide using the Selection Pane. These separate objects identify the layout and show its sample load. Keep them in your private planning copy if useful.</a:t>
            </a:r>
            <a:br/>
            <a:r>
              <a:t>TEXT CAPACITY: The demonstrated amount is a starting point, not a guaranteed maximum. Long words and line breaks change fit. Keep the demonstrated point sizes; shorten or split material before shrinking text. Check your edits in slideshow view.</a:t>
            </a:r>
            <a:br/>
            <a:r>
              <a:t>SAMPLE CONTENT: All passages, quotations, names, biographical events, dates and project scenarios are original illustrative examples. Fictional profiles are labelled. Replace them with your lesson material and put source references here.</a:t>
            </a:r>
            <a:br/>
            <a:br/>
            <a:r>
              <a:t>CAPACITY: Example: one claim and two positions of about 10 words</a:t>
            </a:r>
            <a:br/>
            <a:r>
              <a:t>ADAPTATION: Keep the claim to 7–12 words at 30 pt and the positions to 8–12 words at 25 pt. Add sourced evidence in your lesson.</a:t>
            </a:r>
            <a:br/>
            <a:r>
              <a:t>TEACHING USE: Ask students to define old, preserved and every, then qualify the claim.</a:t>
            </a:r>
            <a:br/>
            <a:r>
              <a:t>MOTION PLAN ONLY: Reveal support and challenge with their labels on two clicks. Native effects are not implemented in this file.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AE HUMANITIES EDITABLE LAYOUT LIBRARY</a:t>
            </a:r>
          </a:p>
          <a:p xmlns:a="http://schemas.openxmlformats.org/drawingml/2006/main">
            <a:r>
              <a:t>10 | Debate | Discussion roles</a:t>
            </a:r>
          </a:p>
          <a:p xmlns:a="http://schemas.openxmlformats.org/drawingml/2006/main">
            <a:r>
              <a:t/>
            </a:r>
          </a:p>
          <a:p xmlns:a="http://schemas.openxmlformats.org/drawingml/2006/main">
            <a:br/>
            <a:r>
              <a:t>COPY AND ADAPT: Copy the entire slide and choose Keep Source Formatting in PowerPoint. Keep the deck widescreen (16:9). Replace sample text and any source artwork. Georgia Bold is used for headings and Arial for body text. Text boxes, tables and timelines remain editable. Images are embedded separately.</a:t>
            </a:r>
            <a:br/>
            <a:r>
              <a:t>REMOVE BEFORE CLASS: Delete template-label and template-capacity-guide using the Selection Pane. These separate objects identify the layout and show its sample load. Keep them in your private planning copy if useful.</a:t>
            </a:r>
            <a:br/>
            <a:r>
              <a:t>TEXT CAPACITY: The demonstrated amount is a starting point, not a guaranteed maximum. Long words and line breaks change fit. Keep the demonstrated point sizes; shorten or split material before shrinking text. Check your edits in slideshow view.</a:t>
            </a:r>
            <a:br/>
            <a:r>
              <a:t>SAMPLE CONTENT: All passages, quotations, names, biographical events, dates and project scenarios are original illustrative examples. Fictional profiles are labelled. Replace them with your lesson material and put source references here.</a:t>
            </a:r>
            <a:br/>
            <a:br/>
            <a:r>
              <a:t>CAPACITY: Example: three roles with one instruction of 8–10 words each</a:t>
            </a:r>
            <a:br/>
            <a:r>
              <a:t>ADAPTATION: Use three role rows with 27 pt labels and 26 pt instructions. Divide four or more detailed roles across slides.</a:t>
            </a:r>
            <a:br/>
            <a:r>
              <a:t>TEACHING USE: Give preparation time and rotate roles. The summariser reports ideas rather than deciding who won.</a:t>
            </a:r>
            <a:br/>
            <a:r>
              <a:t>MOTION PLAN ONLY: Optional Fade transition, 0.4 seconds, manual advance. Keep all content visible. Native effects are not implemented in this file.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AE HUMANITIES EDITABLE LAYOUT LIBRARY</a:t>
            </a:r>
          </a:p>
          <a:p xmlns:a="http://schemas.openxmlformats.org/drawingml/2006/main">
            <a:r>
              <a:t>11 | Biography | Portrait and context</a:t>
            </a:r>
          </a:p>
          <a:p xmlns:a="http://schemas.openxmlformats.org/drawingml/2006/main">
            <a:r>
              <a:t/>
            </a:r>
          </a:p>
          <a:p xmlns:a="http://schemas.openxmlformats.org/drawingml/2006/main">
            <a:br/>
            <a:r>
              <a:t>Artwork: AI-generated illustration from the user’s AE Humanities collection, AE-Humanities-busts-and-statues/39-marble-poetess-bust.png. Illustrative artwork, not documentary evidence.</a:t>
            </a:r>
          </a:p>
          <a:p xmlns:a="http://schemas.openxmlformats.org/drawingml/2006/main">
            <a:br/>
            <a:r>
              <a:t>COPY AND ADAPT: Copy the entire slide and choose Keep Source Formatting in PowerPoint. Keep the deck widescreen (16:9). Replace sample text and any source artwork. Georgia Bold is used for headings and Arial for body text. Text boxes, tables and timelines remain editable. Images are embedded separately.</a:t>
            </a:r>
            <a:br/>
            <a:r>
              <a:t>REMOVE BEFORE CLASS: Delete template-label and template-capacity-guide using the Selection Pane. These separate objects identify the layout and show its sample load. Keep them in your private planning copy if useful.</a:t>
            </a:r>
            <a:br/>
            <a:r>
              <a:t>TEXT CAPACITY: The demonstrated amount is a starting point, not a guaranteed maximum. Long words and line breaks change fit. Keep the demonstrated point sizes; shorten or split material before shrinking text. Check your edits in slideshow view.</a:t>
            </a:r>
            <a:br/>
            <a:r>
              <a:t>SAMPLE CONTENT: All passages, quotations, names, biographical events, dates and project scenarios are original illustrative examples. Fictional profiles are labelled. Replace them with your lesson material and put source references here.</a:t>
            </a:r>
            <a:br/>
            <a:br/>
            <a:r>
              <a:t>CAPACITY: Example: one portrait region and three short text groups</a:t>
            </a:r>
            <a:br/>
            <a:r>
              <a:t>ADAPTATION: Use 10–15 words per text group at 25 pt. The generic statue is not a portrait of a real person. Replace it with a sourced portrait and replace the fictional profile with verified facts.</a:t>
            </a:r>
            <a:br/>
            <a:r>
              <a:t>TEACHING USE: Consider how experience might shape a writer’s interests without treating biography as the only explanation for a text.</a:t>
            </a:r>
            <a:br/>
            <a:r>
              <a:t>MOTION PLAN ONLY: Optional Fade transition, 0.4 seconds, manual advance. Keep all content visible. Native effects are not implemented in this file.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AE HUMANITIES EDITABLE LAYOUT LIBRARY</a:t>
            </a:r>
          </a:p>
          <a:p xmlns:a="http://schemas.openxmlformats.org/drawingml/2006/main">
            <a:r>
              <a:t>12 | Biography | One turning point</a:t>
            </a:r>
          </a:p>
          <a:p xmlns:a="http://schemas.openxmlformats.org/drawingml/2006/main">
            <a:r>
              <a:t/>
            </a:r>
          </a:p>
          <a:p xmlns:a="http://schemas.openxmlformats.org/drawingml/2006/main">
            <a:br/>
            <a:r>
              <a:t>COPY AND ADAPT: Copy the entire slide and choose Keep Source Formatting in PowerPoint. Keep the deck widescreen (16:9). Replace sample text and any source artwork. Georgia Bold is used for headings and Arial for body text. Text boxes, tables and timelines remain editable. Images are embedded separately.</a:t>
            </a:r>
            <a:br/>
            <a:r>
              <a:t>REMOVE BEFORE CLASS: Delete template-label and template-capacity-guide using the Selection Pane. These separate objects identify the layout and show its sample load. Keep them in your private planning copy if useful.</a:t>
            </a:r>
            <a:br/>
            <a:r>
              <a:t>TEXT CAPACITY: The demonstrated amount is a starting point, not a guaranteed maximum. Long words and line breaks change fit. Keep the demonstrated point sizes; shorten or split material before shrinking text. Check your edits in slideshow view.</a:t>
            </a:r>
            <a:br/>
            <a:r>
              <a:t>SAMPLE CONTENT: All passages, quotations, names, biographical events, dates and project scenarios are original illustrative examples. Fictional profiles are labelled. Replace them with your lesson material and put source references here.</a:t>
            </a:r>
            <a:br/>
            <a:br/>
            <a:r>
              <a:t>CAPACITY: Example: one year and a 37-word explanation at 27 pt</a:t>
            </a:r>
            <a:br/>
            <a:r>
              <a:t>ADAPTATION: Aim for 35–45 explanation words. Keep the date large only when it matters. Replace the fictional year and event with verified information.</a:t>
            </a:r>
            <a:br/>
            <a:r>
              <a:t>TEACHING USE: Connect an event to a change of subject or technique. Nora and the event are fictional.</a:t>
            </a:r>
            <a:br/>
            <a:r>
              <a:t>MOTION PLAN ONLY: Optional Fade transition, 0.4 seconds, manual advance. Keep all content visible. Native effects are not implemented in this file.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AE HUMANITIES EDITABLE LAYOUT LIBRARY</a:t>
            </a:r>
          </a:p>
          <a:p xmlns:a="http://schemas.openxmlformats.org/drawingml/2006/main">
            <a:r>
              <a:t>13 | Timeline | Four horizontal stages</a:t>
            </a:r>
          </a:p>
          <a:p xmlns:a="http://schemas.openxmlformats.org/drawingml/2006/main">
            <a:r>
              <a:t/>
            </a:r>
          </a:p>
          <a:p xmlns:a="http://schemas.openxmlformats.org/drawingml/2006/main">
            <a:br/>
            <a:r>
              <a:t>COPY AND ADAPT: Copy the entire slide and choose Keep Source Formatting in PowerPoint. Keep the deck widescreen (16:9). Replace sample text and any source artwork. Georgia Bold is used for headings and Arial for body text. Text boxes, tables and timelines remain editable. Images are embedded separately.</a:t>
            </a:r>
            <a:br/>
            <a:r>
              <a:t>REMOVE BEFORE CLASS: Delete template-label and template-capacity-guide using the Selection Pane. These separate objects identify the layout and show its sample load. Keep them in your private planning copy if useful.</a:t>
            </a:r>
            <a:br/>
            <a:r>
              <a:t>TEXT CAPACITY: The demonstrated amount is a starting point, not a guaranteed maximum. Long words and line breaks change fit. Keep the demonstrated point sizes; shorten or split material before shrinking text. Check your edits in slideshow view.</a:t>
            </a:r>
            <a:br/>
            <a:r>
              <a:t>SAMPLE CONTENT: All passages, quotations, names, biographical events, dates and project scenarios are original illustrative examples. Fictional profiles are labelled. Replace them with your lesson material and put source references here.</a:t>
            </a:r>
            <a:br/>
            <a:br/>
            <a:r>
              <a:t>CAPACITY: Example: four stages with one title and 3–6 words of detail</a:t>
            </a:r>
            <a:br/>
            <a:r>
              <a:t>ADAPTATION: All lines, nodes, dates and text are native editable objects. Dates use 23 pt, titles 28 pt and details 25 pt. Equal spacing shows sequence, not elapsed time.</a:t>
            </a:r>
            <a:br/>
            <a:r>
              <a:t>TEACHING USE: Ask which stage protects the reliability of the exhibition. The project is fictional.</a:t>
            </a:r>
            <a:br/>
            <a:r>
              <a:t>MOTION PLAN ONLY: Keep the timeline line visible. Group each stage’s date, node, title and detail, then reveal stages on four clicks. Native effects are not implemented in this file.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AE HUMANITIES EDITABLE LAYOUT LIBRARY</a:t>
            </a:r>
          </a:p>
          <a:p xmlns:a="http://schemas.openxmlformats.org/drawingml/2006/main">
            <a:r>
              <a:t>14 | Timeline | Vertical narrative</a:t>
            </a:r>
          </a:p>
          <a:p xmlns:a="http://schemas.openxmlformats.org/drawingml/2006/main">
            <a:r>
              <a:t/>
            </a:r>
          </a:p>
          <a:p xmlns:a="http://schemas.openxmlformats.org/drawingml/2006/main">
            <a:br/>
            <a:r>
              <a:t>COPY AND ADAPT: Copy the entire slide and choose Keep Source Formatting in PowerPoint. Keep the deck widescreen (16:9). Replace sample text and any source artwork. Georgia Bold is used for headings and Arial for body text. Text boxes, tables and timelines remain editable. Images are embedded separately.</a:t>
            </a:r>
            <a:br/>
            <a:r>
              <a:t>REMOVE BEFORE CLASS: Delete template-label and template-capacity-guide using the Selection Pane. These separate objects identify the layout and show its sample load. Keep them in your private planning copy if useful.</a:t>
            </a:r>
            <a:br/>
            <a:r>
              <a:t>TEXT CAPACITY: The demonstrated amount is a starting point, not a guaranteed maximum. Long words and line breaks change fit. Keep the demonstrated point sizes; shorten or split material before shrinking text. Check your edits in slideshow view.</a:t>
            </a:r>
            <a:br/>
            <a:r>
              <a:t>SAMPLE CONTENT: All passages, quotations, names, biographical events, dates and project scenarios are original illustrative examples. Fictional profiles are labelled. Replace them with your lesson material and put source references here.</a:t>
            </a:r>
            <a:br/>
            <a:br/>
            <a:r>
              <a:t>CAPACITY: Example: four dates with a short event and one sentence each</a:t>
            </a:r>
            <a:br/>
            <a:r>
              <a:t>ADAPTATION: Dates use 33 pt, event titles 25 pt and captions 24 pt. Aim for 7–10 words per caption. Equal spacing shows reading order, not proportional time.</a:t>
            </a:r>
            <a:br/>
            <a:r>
              <a:t>TEACHING USE: Discuss how a document’s meaning or audience changes over time. These events are fictional.</a:t>
            </a:r>
            <a:br/>
            <a:r>
              <a:t>MOTION PLAN ONLY: Show the title and line initially. Reveal each date, node, event title and detail together on four clicks. Native effects are not implemented in this file.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AE HUMANITIES EDITABLE LAYOUT LIBRARY</a:t>
            </a:r>
          </a:p>
          <a:p xmlns:a="http://schemas.openxmlformats.org/drawingml/2006/main">
            <a:r>
              <a:t>15 | Model and practice | Worked revision</a:t>
            </a:r>
          </a:p>
          <a:p xmlns:a="http://schemas.openxmlformats.org/drawingml/2006/main">
            <a:r>
              <a:t/>
            </a:r>
          </a:p>
          <a:p xmlns:a="http://schemas.openxmlformats.org/drawingml/2006/main">
            <a:br/>
            <a:r>
              <a:t>COPY AND ADAPT: Copy the entire slide and choose Keep Source Formatting in PowerPoint. Keep the deck widescreen (16:9). Replace sample text and any source artwork. Georgia Bold is used for headings and Arial for body text. Text boxes, tables and timelines remain editable. Images are embedded separately.</a:t>
            </a:r>
            <a:br/>
            <a:r>
              <a:t>REMOVE BEFORE CLASS: Delete template-label and template-capacity-guide using the Selection Pane. These separate objects identify the layout and show its sample load. Keep them in your private planning copy if useful.</a:t>
            </a:r>
            <a:br/>
            <a:r>
              <a:t>TEXT CAPACITY: The demonstrated amount is a starting point, not a guaranteed maximum. Long words and line breaks change fit. Keep the demonstrated point sizes; shorten or split material before shrinking text. Check your edits in slideshow view.</a:t>
            </a:r>
            <a:br/>
            <a:r>
              <a:t>SAMPLE CONTENT: All passages, quotations, names, biographical events, dates and project scenarios are original illustrative examples. Fictional profiles are labelled. Replace them with your lesson material and put source references here.</a:t>
            </a:r>
            <a:br/>
            <a:br/>
            <a:r>
              <a:t>CAPACITY: Example: two short sentences at 30 pt with a reason and a prompt</a:t>
            </a:r>
            <a:br/>
            <a:r>
              <a:t>ADAPTATION: Aim for 10–20 words in each model sentence. Keep the draft and revision separate so the model can be revealed.</a:t>
            </a:r>
            <a:br/>
            <a:r>
              <a:t>TEACHING USE: Ask what the revision lets the reader infer. Accept different actions when they fit the scene.</a:t>
            </a:r>
            <a:br/>
            <a:r>
              <a:t>MOTION PLAN ONLY: Show draft first. Click 1 reveals model-label with model-response. Click 2 reveals reason. Native effects are not implemented in this file.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AE HUMANITIES EDITABLE LAYOUT LIBRARY</a:t>
            </a:r>
          </a:p>
          <a:p xmlns:a="http://schemas.openxmlformats.org/drawingml/2006/main">
            <a:r>
              <a:t>16 | Model and practice | Model then transfer</a:t>
            </a:r>
          </a:p>
          <a:p xmlns:a="http://schemas.openxmlformats.org/drawingml/2006/main">
            <a:r>
              <a:t/>
            </a:r>
          </a:p>
          <a:p xmlns:a="http://schemas.openxmlformats.org/drawingml/2006/main">
            <a:br/>
            <a:r>
              <a:t>COPY AND ADAPT: Copy the entire slide and choose Keep Source Formatting in PowerPoint. Keep the deck widescreen (16:9). Replace sample text and any source artwork. Georgia Bold is used for headings and Arial for body text. Text boxes, tables and timelines remain editable. Images are embedded separately.</a:t>
            </a:r>
            <a:br/>
            <a:r>
              <a:t>REMOVE BEFORE CLASS: Delete template-label and template-capacity-guide using the Selection Pane. These separate objects identify the layout and show its sample load. Keep them in your private planning copy if useful.</a:t>
            </a:r>
            <a:br/>
            <a:r>
              <a:t>TEXT CAPACITY: The demonstrated amount is a starting point, not a guaranteed maximum. Long words and line breaks change fit. Keep the demonstrated point sizes; shorten or split material before shrinking text. Check your edits in slideshow view.</a:t>
            </a:r>
            <a:br/>
            <a:r>
              <a:t>SAMPLE CONTENT: All passages, quotations, names, biographical events, dates and project scenarios are original illustrative examples. Fictional profiles are labelled. Replace them with your lesson material and put source references here.</a:t>
            </a:r>
            <a:br/>
            <a:br/>
            <a:r>
              <a:t>CAPACITY: Example: a 13-word model and one parallel practice item</a:t>
            </a:r>
            <a:br/>
            <a:r>
              <a:t>ADAPTATION: Use a 12–25-word model at 29 pt, a short practice item and a frame at 27 pt. The blank is an intentional student response frame.</a:t>
            </a:r>
            <a:br/>
            <a:r>
              <a:t>TEACHING USE: Possible response: “This suggests she may not plan to stay.” Ask for another plausible explanation.</a:t>
            </a:r>
            <a:br/>
            <a:r>
              <a:t>MOTION PLAN ONLY: Keep the model and prompt visible. Put a suggested answer in its own text box if desired, then apply Appear after discussion. Native effects are not implemented in this file.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AE HUMANITIES EDITABLE LAYOUT LIBRARY</a:t>
            </a:r>
          </a:p>
          <a:p xmlns:a="http://schemas.openxmlformats.org/drawingml/2006/main">
            <a:r>
              <a:t>17 | Writing instructions | Assignment brief</a:t>
            </a:r>
          </a:p>
          <a:p xmlns:a="http://schemas.openxmlformats.org/drawingml/2006/main">
            <a:r>
              <a:t/>
            </a:r>
          </a:p>
          <a:p xmlns:a="http://schemas.openxmlformats.org/drawingml/2006/main">
            <a:br/>
            <a:r>
              <a:t>COPY AND ADAPT: Copy the entire slide and choose Keep Source Formatting in PowerPoint. Keep the deck widescreen (16:9). Replace sample text and any source artwork. Georgia Bold is used for headings and Arial for body text. Text boxes, tables and timelines remain editable. Images are embedded separately.</a:t>
            </a:r>
            <a:br/>
            <a:r>
              <a:t>REMOVE BEFORE CLASS: Delete template-label and template-capacity-guide using the Selection Pane. These separate objects identify the layout and show its sample load. Keep them in your private planning copy if useful.</a:t>
            </a:r>
            <a:br/>
            <a:r>
              <a:t>TEXT CAPACITY: The demonstrated amount is a starting point, not a guaranteed maximum. Long words and line breaks change fit. Keep the demonstrated point sizes; shorten or split material before shrinking text. Check your edits in slideshow view.</a:t>
            </a:r>
            <a:br/>
            <a:r>
              <a:t>SAMPLE CONTENT: All passages, quotations, names, biographical events, dates and project scenarios are original illustrative examples. Fictional profiles are labelled. Replace them with your lesson material and put source references here.</a:t>
            </a:r>
            <a:br/>
            <a:br/>
            <a:r>
              <a:t>CAPACITY: Example: a 16-word prompt, clear constraints and two criteria</a:t>
            </a:r>
            <a:br/>
            <a:r>
              <a:t>ADAPTATION: Use a 15–30-word prompt at 28 pt and short criteria at 25 pt. Replace all constraints with the actual assignment. These samples do not revise any previous assignment.</a:t>
            </a:r>
            <a:br/>
            <a:r>
              <a:t>TEACHING USE: Ask students to name the object and the belief that might change. Put submission details and a full rubric on another slide or handout.</a:t>
            </a:r>
            <a:br/>
            <a:r>
              <a:t>MOTION PLAN ONLY: Optional Fade transition, 0.4 seconds, manual advance. Keep all content visible. Native effects are not implemented in this file.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AE HUMANITIES EDITABLE LAYOUT LIBRARY</a:t>
            </a:r>
          </a:p>
          <a:p xmlns:a="http://schemas.openxmlformats.org/drawingml/2006/main">
            <a:r>
              <a:t>18 | Writing instructions | Timed workshop</a:t>
            </a:r>
          </a:p>
          <a:p xmlns:a="http://schemas.openxmlformats.org/drawingml/2006/main">
            <a:r>
              <a:t/>
            </a:r>
          </a:p>
          <a:p xmlns:a="http://schemas.openxmlformats.org/drawingml/2006/main">
            <a:br/>
            <a:r>
              <a:t>COPY AND ADAPT: Copy the entire slide and choose Keep Source Formatting in PowerPoint. Keep the deck widescreen (16:9). Replace sample text and any source artwork. Georgia Bold is used for headings and Arial for body text. Text boxes, tables and timelines remain editable. Images are embedded separately.</a:t>
            </a:r>
            <a:br/>
            <a:r>
              <a:t>REMOVE BEFORE CLASS: Delete template-label and template-capacity-guide using the Selection Pane. These separate objects identify the layout and show its sample load. Keep them in your private planning copy if useful.</a:t>
            </a:r>
            <a:br/>
            <a:r>
              <a:t>TEXT CAPACITY: The demonstrated amount is a starting point, not a guaranteed maximum. Long words and line breaks change fit. Keep the demonstrated point sizes; shorten or split material before shrinking text. Check your edits in slideshow view.</a:t>
            </a:r>
            <a:br/>
            <a:r>
              <a:t>SAMPLE CONTENT: All passages, quotations, names, biographical events, dates and project scenarios are original illustrative examples. Fictional profiles are labelled. Replace them with your lesson material and put source references here.</a:t>
            </a:r>
            <a:br/>
            <a:br/>
            <a:r>
              <a:t>CAPACITY: Example: three timed steps with one short instruction each</a:t>
            </a:r>
            <a:br/>
            <a:r>
              <a:t>ADAPTATION: Time labels use 28 pt, step names 30 pt and instructions 26 pt. Use about 8–11 words per instruction. Update the title if timings change.</a:t>
            </a:r>
            <a:br/>
            <a:r>
              <a:t>TEACHING USE: The sample times sum to thirteen minutes. Adjust the pace to your class.</a:t>
            </a:r>
            <a:br/>
            <a:r>
              <a:t>MOTION PLAN ONLY: Optional Fade transition, 0.4 seconds, manual advance. Keep all content visible. Native effects are not implemented in this file.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AE HUMANITIES EDITABLE LAYOUT LIBRARY</a:t>
            </a:r>
          </a:p>
          <a:p xmlns:a="http://schemas.openxmlformats.org/drawingml/2006/main">
            <a:r>
              <a:t>19 | Peer feedback | Evidence checklist</a:t>
            </a:r>
          </a:p>
          <a:p xmlns:a="http://schemas.openxmlformats.org/drawingml/2006/main">
            <a:r>
              <a:t/>
            </a:r>
          </a:p>
          <a:p xmlns:a="http://schemas.openxmlformats.org/drawingml/2006/main">
            <a:br/>
            <a:r>
              <a:t>COPY AND ADAPT: Copy the entire slide and choose Keep Source Formatting in PowerPoint. Keep the deck widescreen (16:9). Replace sample text and any source artwork. Georgia Bold is used for headings and Arial for body text. Text boxes, tables and timelines remain editable. Images are embedded separately.</a:t>
            </a:r>
            <a:br/>
            <a:r>
              <a:t>REMOVE BEFORE CLASS: Delete template-label and template-capacity-guide using the Selection Pane. These separate objects identify the layout and show its sample load. Keep them in your private planning copy if useful.</a:t>
            </a:r>
            <a:br/>
            <a:r>
              <a:t>TEXT CAPACITY: The demonstrated amount is a starting point, not a guaranteed maximum. Long words and line breaks change fit. Keep the demonstrated point sizes; shorten or split material before shrinking text. Check your edits in slideshow view.</a:t>
            </a:r>
            <a:br/>
            <a:r>
              <a:t>SAMPLE CONTENT: All passages, quotations, names, biographical events, dates and project scenarios are original illustrative examples. Fictional profiles are labelled. Replace them with your lesson material and put source references here.</a:t>
            </a:r>
            <a:br/>
            <a:br/>
            <a:r>
              <a:t>CAPACITY: Example: three feedback checks with brief actions and questions</a:t>
            </a:r>
            <a:br/>
            <a:r>
              <a:t>ADAPTATION: Native table with 24 pt body text and 22 pt headers. Use one short action and question for each criterion.</a:t>
            </a:r>
            <a:br/>
            <a:r>
              <a:t>TEACHING USE: Readers point to a sentence before giving advice. Writers choose their revision.</a:t>
            </a:r>
            <a:br/>
            <a:r>
              <a:t>MOTION PLAN ONLY: Optional Fade transition, 0.4 seconds, manual advance. Keep all content visible. Native effects are not implemented in this file.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AE HUMANITIES EDITABLE LAYOUT LIBRARY</a:t>
            </a:r>
          </a:p>
          <a:p xmlns:a="http://schemas.openxmlformats.org/drawingml/2006/main">
            <a:r>
              <a:t>20 | Peer feedback | Three-minute conference</a:t>
            </a:r>
          </a:p>
          <a:p xmlns:a="http://schemas.openxmlformats.org/drawingml/2006/main">
            <a:r>
              <a:t/>
            </a:r>
          </a:p>
          <a:p xmlns:a="http://schemas.openxmlformats.org/drawingml/2006/main">
            <a:br/>
            <a:r>
              <a:t>Artwork: AI-generated illustration from the user’s AE Humanities collection, AE-Humanities-dark-academia/02-scholar-desk-background.png. Illustrative artwork, not documentary evidence.</a:t>
            </a:r>
          </a:p>
          <a:p xmlns:a="http://schemas.openxmlformats.org/drawingml/2006/main">
            <a:br/>
            <a:r>
              <a:t>COPY AND ADAPT: Copy the entire slide and choose Keep Source Formatting in PowerPoint. Keep the deck widescreen (16:9). Replace sample text and any source artwork. Georgia Bold is used for headings and Arial for body text. Text boxes, tables and timelines remain editable. Images are embedded separately.</a:t>
            </a:r>
            <a:br/>
            <a:r>
              <a:t>REMOVE BEFORE CLASS: Delete template-label and template-capacity-guide using the Selection Pane. These separate objects identify the layout and show its sample load. Keep them in your private planning copy if useful.</a:t>
            </a:r>
            <a:br/>
            <a:r>
              <a:t>TEXT CAPACITY: The demonstrated amount is a starting point, not a guaranteed maximum. Long words and line breaks change fit. Keep the demonstrated point sizes; shorten or split material before shrinking text. Check your edits in slideshow view.</a:t>
            </a:r>
            <a:br/>
            <a:r>
              <a:t>SAMPLE CONTENT: All passages, quotations, names, biographical events, dates and project scenarios are original illustrative examples. Fictional profiles are labelled. Replace them with your lesson material and put source references here.</a:t>
            </a:r>
            <a:br/>
            <a:br/>
            <a:r>
              <a:t>CAPACITY: Example: three brief speaking frames at 25 pt</a:t>
            </a:r>
            <a:br/>
            <a:r>
              <a:t>ADAPTATION: Use 6–10 words per frame. Keep the incomplete frames for students to finish with evidence. Keep text away from the desk’s edge objects.</a:t>
            </a:r>
            <a:br/>
            <a:r>
              <a:t>TEACHING USE: The reader speaks during Notice and Ask. The writer speaks during Decide. Swap roles for another three-minute conference.</a:t>
            </a:r>
            <a:br/>
            <a:r>
              <a:t>MOTION PLAN ONLY: Optional Fade transition, 0.4 seconds, manual advance. Keep all content visible. Native effects are not implemented in this file.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97e398e722241ed"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e4f7b45553a14e3f"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f27ff792801249f5"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fbd17a3f0d044629"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a251c84588f24989"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78940ed261044fc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580E2B7-02DF-470D-9BF7-36BCA0160AD7}"/>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4287D575-1F2E-4E61-940E-17D7FCC4BF36}"/>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F5365DE6-989D-45AB-9B30-40CF86CD0C92}"/>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6F2BD2E-6F70-40BA-A7BC-494AB9F28F5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0CC4B614-AC9F-433B-9FC0-BA3C31CEAF9F}"/>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BA7AC2EF-4827-4868-A8B1-4C2A9E25D62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03B8FF9-4231-4CB7-80F7-BC59D7BAA50A}"/>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6379D930-DC18-4F42-9241-E1B956E92641}"/>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C0C6752-996B-4704-B991-83EF0ED2209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749F197-B0F8-48E3-840F-ECBB0AF2AB9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722067707f24576" /><Relationship Type="http://schemas.openxmlformats.org/officeDocument/2006/relationships/slideLayout" Target="/ppt/slideLayouts/slideLayout1.xml" Id="R290e28dc7605490b" /><Relationship Type="http://schemas.openxmlformats.org/officeDocument/2006/relationships/slideLayout" Target="/ppt/slideLayouts/slideLayout2.xml" Id="R695a80ac5bed429f" /><Relationship Type="http://schemas.openxmlformats.org/officeDocument/2006/relationships/slideLayout" Target="/ppt/slideLayouts/slideLayout3.xml" Id="Rdd6eba60dbde4df9" /><Relationship Type="http://schemas.openxmlformats.org/officeDocument/2006/relationships/slideLayout" Target="/ppt/slideLayouts/slideLayout4.xml" Id="R5c248cf15e22496e" /><Relationship Type="http://schemas.openxmlformats.org/officeDocument/2006/relationships/slideLayout" Target="/ppt/slideLayouts/slideLayout5.xml" Id="R654119eb141043aa" /><Relationship Type="http://schemas.openxmlformats.org/officeDocument/2006/relationships/slideLayout" Target="/ppt/slideLayouts/slideLayout6.xml" Id="R36545d6799454bd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90e28dc7605490b"/>
    <p:sldLayoutId xmlns:r="http://schemas.openxmlformats.org/officeDocument/2006/relationships" id="2147483650" r:id="R695a80ac5bed429f"/>
    <p:sldLayoutId xmlns:r="http://schemas.openxmlformats.org/officeDocument/2006/relationships" id="2147483651" r:id="Rdd6eba60dbde4df9"/>
    <p:sldLayoutId xmlns:r="http://schemas.openxmlformats.org/officeDocument/2006/relationships" id="2147483652" r:id="R5c248cf15e22496e"/>
    <p:sldLayoutId xmlns:r="http://schemas.openxmlformats.org/officeDocument/2006/relationships" id="2147483653" r:id="R654119eb141043aa"/>
    <p:sldLayoutId xmlns:r="http://schemas.openxmlformats.org/officeDocument/2006/relationships" id="2147483654" r:id="R36545d6799454bd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AE Humanities">
      <a:dk1>
        <a:srgbClr val="211B16"/>
      </a:dk1>
      <a:lt1>
        <a:srgbClr val="F2E8D5"/>
      </a:lt1>
      <a:dk2>
        <a:srgbClr val="211B16"/>
      </a:dk2>
      <a:lt2>
        <a:srgbClr val="E9D8B6"/>
      </a:lt2>
      <a:accent1>
        <a:srgbClr val="B89B5E"/>
      </a:accent1>
      <a:accent2>
        <a:srgbClr val="5C2230"/>
      </a:accent2>
      <a:accent3>
        <a:srgbClr val="6B7258"/>
      </a:accent3>
      <a:accent4>
        <a:srgbClr val="E9D8B6"/>
      </a:accent4>
      <a:accent5>
        <a:srgbClr val="211B16"/>
      </a:accent5>
      <a:accent6>
        <a:srgbClr val="F2E8D5"/>
      </a:accent6>
      <a:hlink>
        <a:srgbClr val="5C2230"/>
      </a:hlink>
      <a:folHlink>
        <a:srgbClr val="6B7258"/>
      </a:folHlink>
    </a:clrScheme>
    <a:fontScheme name="">
      <a:majorFont>
        <a:latin typeface="Arial"/>
        <a:ea typeface=""/>
        <a:cs typeface=""/>
      </a:majorFont>
      <a:minorFont>
        <a:latin typeface="Arial"/>
        <a:ea typeface=""/>
        <a:cs typeface=""/>
      </a:minorFont>
    </a:fontScheme>
    <a:fmtScheme name="AE Humanities">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defcb32ca1a74117" /><Relationship Type="http://schemas.openxmlformats.org/officeDocument/2006/relationships/notesSlide" Target="/ppt/notesSlides/notesSlide1.xml" Id="R0e9dfc8e49404b8d"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101f02c45d9e40bb" /><Relationship Type="http://schemas.openxmlformats.org/officeDocument/2006/relationships/image" Target="/ppt/media/image.png" Id="Re873e6868a7842d1" /><Relationship Type="http://schemas.openxmlformats.org/officeDocument/2006/relationships/notesSlide" Target="/ppt/notesSlides/notesSlide2.xml" Id="R885262d684ca4178"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a6448e4e3ff346f9" /><Relationship Type="http://schemas.openxmlformats.org/officeDocument/2006/relationships/notesSlide" Target="/ppt/notesSlides/notesSlide3.xml" Id="Rbae7b3f412354e5f"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95debd12da5a4030" /><Relationship Type="http://schemas.openxmlformats.org/officeDocument/2006/relationships/notesSlide" Target="/ppt/notesSlides/notesSlide4.xml" Id="R649dda95ef884206"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3efac68521ab4c3d" /><Relationship Type="http://schemas.openxmlformats.org/officeDocument/2006/relationships/notesSlide" Target="/ppt/notesSlides/notesSlide5.xml" Id="Ra537cb2a85a1422d"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e2056d99019e4248" /><Relationship Type="http://schemas.openxmlformats.org/officeDocument/2006/relationships/notesSlide" Target="/ppt/notesSlides/notesSlide6.xml" Id="Rdb727a09e7f74f67"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cb1ef9df790643a5" /><Relationship Type="http://schemas.openxmlformats.org/officeDocument/2006/relationships/notesSlide" Target="/ppt/notesSlides/notesSlide7.xml" Id="Rd1c76b80b13c40ac"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6721e4ce277d4806" /><Relationship Type="http://schemas.openxmlformats.org/officeDocument/2006/relationships/notesSlide" Target="/ppt/notesSlides/notesSlide8.xml" Id="R2911c0fa345a4748"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314be5b668474a78" /><Relationship Type="http://schemas.openxmlformats.org/officeDocument/2006/relationships/image" Target="/ppt/media/image2.png" Id="Rf12981847d5a4dae" /><Relationship Type="http://schemas.openxmlformats.org/officeDocument/2006/relationships/notesSlide" Target="/ppt/notesSlides/notesSlide9.xml" Id="R2aee3ff104c04864"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48bfcba21ef5442c" /><Relationship Type="http://schemas.openxmlformats.org/officeDocument/2006/relationships/notesSlide" Target="/ppt/notesSlides/notesSlide10.xml" Id="Ra8a876e6ea10469a"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3a2d9e768f6d49ef" /><Relationship Type="http://schemas.openxmlformats.org/officeDocument/2006/relationships/image" Target="/ppt/media/image3.png" Id="R76d42da87c864e18" /><Relationship Type="http://schemas.openxmlformats.org/officeDocument/2006/relationships/notesSlide" Target="/ppt/notesSlides/notesSlide11.xml" Id="R8c6bef3c94204b21"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1c409953435f4c6c" /><Relationship Type="http://schemas.openxmlformats.org/officeDocument/2006/relationships/notesSlide" Target="/ppt/notesSlides/notesSlide12.xml" Id="R2e4d6127d64d45c1"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02f96d7b77e94622" /><Relationship Type="http://schemas.openxmlformats.org/officeDocument/2006/relationships/notesSlide" Target="/ppt/notesSlides/notesSlide13.xml" Id="R2f1bb81051e943bd"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29169e2b41a44b44" /><Relationship Type="http://schemas.openxmlformats.org/officeDocument/2006/relationships/notesSlide" Target="/ppt/notesSlides/notesSlide14.xml" Id="Rd8a07b8aba6240ad"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bbfd310d9dc0422e" /><Relationship Type="http://schemas.openxmlformats.org/officeDocument/2006/relationships/notesSlide" Target="/ppt/notesSlides/notesSlide15.xml" Id="Rb0ee869de7774700"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ec240cc44df14a55" /><Relationship Type="http://schemas.openxmlformats.org/officeDocument/2006/relationships/notesSlide" Target="/ppt/notesSlides/notesSlide16.xml" Id="Rde0c2f2230bd42e1"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63af480ff1a64bcb" /><Relationship Type="http://schemas.openxmlformats.org/officeDocument/2006/relationships/notesSlide" Target="/ppt/notesSlides/notesSlide17.xml" Id="R82940cf613f64b13"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3793d728b8804000" /><Relationship Type="http://schemas.openxmlformats.org/officeDocument/2006/relationships/notesSlide" Target="/ppt/notesSlides/notesSlide18.xml" Id="Re5bd13908d744d18"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40c4dd6aa1c54363" /><Relationship Type="http://schemas.openxmlformats.org/officeDocument/2006/relationships/notesSlide" Target="/ppt/notesSlides/notesSlide19.xml" Id="R9ff0b8c5edf2489d"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4f045e6544884ede" /><Relationship Type="http://schemas.openxmlformats.org/officeDocument/2006/relationships/image" Target="/ppt/media/image4.png" Id="Rf3d95373ac5149d8" /><Relationship Type="http://schemas.openxmlformats.org/officeDocument/2006/relationships/notesSlide" Target="/ppt/notesSlides/notesSlide20.xml" Id="Rb535f0afdeb24a1f" /></Relationships>
</file>

<file path=ppt/slides/slide1.xml><?xml version="1.0" encoding="utf-8"?>
<p:sld xmlns:p="http://schemas.openxmlformats.org/presentationml/2006/main">
  <p:cSld>
    <p:bg>
      <p:bgPr>
        <a:solidFill xmlns:a="http://schemas.openxmlformats.org/drawingml/2006/main">
          <a:srgbClr val="E9D8B6"/>
        </a:solidFill>
      </p:bgPr>
    </p:bg>
    <p:spTree>
      <p:nvGrpSpPr>
        <p:cNvPr id="1" name=""/>
        <p:cNvGrpSpPr/>
        <p:nvPr/>
      </p:nvGrpSpPr>
      <p:grpSpPr>
        <a:xfrm xmlns:a="http://schemas.openxmlformats.org/drawingml/2006/main"/>
      </p:grpSpPr>
      <p:sp>
        <p:nvSpPr>
          <p:cNvPr id="7" name="template-label">
            <a:extLst xmlns:a="http://schemas.openxmlformats.org/drawingml/2006/main">
              <a:ext uri="{FF2B5EF4-FFF2-40B4-BE49-F238E27FC236}">
                <a16:creationId xmlns:a16="http://schemas.microsoft.com/office/drawing/2014/main" id="{C4895BDD-863F-4203-A861-40DD80CFB95B}"/>
              </a:ext>
            </a:extLst>
          </p:cNvPr>
          <p:cNvSpPr>
            <a:spLocks xmlns:a="http://schemas.openxmlformats.org/drawingml/2006/main" noGrp="1"/>
          </p:cNvSpPr>
          <p:nvPr/>
        </p:nvSpPr>
        <p:spPr>
          <a:xfrm xmlns:a="http://schemas.openxmlformats.org/drawingml/2006/main">
            <a:off x="685800" y="285750"/>
            <a:ext cx="10820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00" b="1">
                <a:solidFill>
                  <a:srgbClr val="5C2230"/>
                </a:solidFill>
                <a:latin typeface="Arial"/>
                <a:ea typeface="Arial"/>
                <a:cs typeface="Arial"/>
              </a:defRPr>
            </a:defPPr>
          </a:lstStyle>
          <a:p xmlns:a="http://schemas.openxmlformats.org/drawingml/2006/main">
            <a:pPr algn="l">
              <a:lnSpc>
                <a:spcPct val="112000"/>
              </a:lnSpc>
              <a:buNone/>
              <a:defRPr sz="1700" b="1">
                <a:solidFill>
                  <a:srgbClr val="5C2230"/>
                </a:solidFill>
                <a:latin typeface="Arial"/>
                <a:ea typeface="Arial"/>
                <a:cs typeface="Arial"/>
              </a:defRPr>
            </a:pPr>
            <a:r>
              <a:rPr sz="1700" b="1">
                <a:solidFill>
                  <a:srgbClr val="5C2230"/>
                </a:solidFill>
                <a:latin typeface="Arial"/>
                <a:ea typeface="Arial"/>
                <a:cs typeface="Arial"/>
              </a:rPr>
              <a:t>01  CLOSE READING / FULL PASSAGE</a:t>
            </a:r>
          </a:p>
        </p:txBody>
      </p:sp>
      <p:sp>
        <p:nvSpPr>
          <p:cNvPr id="2" name="heading">
            <a:extLst xmlns:a="http://schemas.openxmlformats.org/drawingml/2006/main">
              <a:ext uri="{FF2B5EF4-FFF2-40B4-BE49-F238E27FC236}">
                <a16:creationId xmlns:a16="http://schemas.microsoft.com/office/drawing/2014/main" id="{B5A03E19-95BE-4955-8606-AF795E1227DA}"/>
              </a:ext>
            </a:extLst>
          </p:cNvPr>
          <p:cNvSpPr>
            <a:spLocks xmlns:a="http://schemas.openxmlformats.org/drawingml/2006/main" noGrp="1"/>
          </p:cNvSpPr>
          <p:nvPr/>
        </p:nvSpPr>
        <p:spPr>
          <a:xfrm xmlns:a="http://schemas.openxmlformats.org/drawingml/2006/main">
            <a:off x="685800" y="83820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800" b="1">
                <a:solidFill>
                  <a:srgbClr val="211B16"/>
                </a:solidFill>
                <a:latin typeface="Georgia"/>
                <a:ea typeface="Georgia"/>
                <a:cs typeface="Georgia"/>
              </a:defRPr>
            </a:defPPr>
          </a:lstStyle>
          <a:p xmlns:a="http://schemas.openxmlformats.org/drawingml/2006/main">
            <a:pPr algn="l">
              <a:lnSpc>
                <a:spcPct val="112000"/>
              </a:lnSpc>
              <a:buNone/>
              <a:defRPr sz="3800" b="1">
                <a:solidFill>
                  <a:srgbClr val="211B16"/>
                </a:solidFill>
                <a:latin typeface="Georgia"/>
                <a:ea typeface="Georgia"/>
                <a:cs typeface="Georgia"/>
              </a:defRPr>
            </a:pPr>
            <a:r>
              <a:rPr sz="3800" b="1">
                <a:solidFill>
                  <a:srgbClr val="211B16"/>
                </a:solidFill>
                <a:latin typeface="Georgia"/>
                <a:ea typeface="Georgia"/>
                <a:cs typeface="Georgia"/>
              </a:rPr>
              <a:t>The letter on the table</a:t>
            </a:r>
          </a:p>
        </p:txBody>
      </p:sp>
      <p:sp>
        <p:nvSpPr>
          <p:cNvPr id="3" name="passage">
            <a:extLst xmlns:a="http://schemas.openxmlformats.org/drawingml/2006/main">
              <a:ext uri="{FF2B5EF4-FFF2-40B4-BE49-F238E27FC236}">
                <a16:creationId xmlns:a16="http://schemas.microsoft.com/office/drawing/2014/main" id="{EE6AF807-005C-4C8F-8FB2-738CF8597FE8}"/>
              </a:ext>
            </a:extLst>
          </p:cNvPr>
          <p:cNvSpPr>
            <a:spLocks xmlns:a="http://schemas.openxmlformats.org/drawingml/2006/main" noGrp="1"/>
          </p:cNvSpPr>
          <p:nvPr/>
        </p:nvSpPr>
        <p:spPr>
          <a:xfrm xmlns:a="http://schemas.openxmlformats.org/drawingml/2006/main">
            <a:off x="685800" y="2028825"/>
            <a:ext cx="10820400" cy="3162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00" b="0">
                <a:solidFill>
                  <a:srgbClr val="211B16"/>
                </a:solidFill>
                <a:latin typeface="Arial"/>
                <a:ea typeface="Arial"/>
                <a:cs typeface="Arial"/>
              </a:defRPr>
            </a:defPPr>
          </a:lstStyle>
          <a:p xmlns:a="http://schemas.openxmlformats.org/drawingml/2006/main">
            <a:pPr algn="l">
              <a:lnSpc>
                <a:spcPct val="112000"/>
              </a:lnSpc>
              <a:buNone/>
              <a:defRPr sz="2800" b="0">
                <a:solidFill>
                  <a:srgbClr val="211B16"/>
                </a:solidFill>
                <a:latin typeface="Arial"/>
                <a:ea typeface="Arial"/>
                <a:cs typeface="Arial"/>
              </a:defRPr>
            </a:pPr>
            <a:r>
              <a:rPr sz="2800" b="0">
                <a:solidFill>
                  <a:srgbClr val="211B16"/>
                </a:solidFill>
                <a:latin typeface="Arial"/>
                <a:ea typeface="Arial"/>
                <a:cs typeface="Arial"/>
              </a:rPr>
              <a:t>When Mara returned, the letter was still on the table. Someone had placed a clean cup beside it. She took off her coat but kept her gloves on. Outside, the last bus passed the house. She watched its red lights disappear, then sat in the chair nearest the door. The letter was addressed to her mother, who had left that morning.</a:t>
            </a:r>
          </a:p>
        </p:txBody>
      </p:sp>
      <p:sp>
        <p:nvSpPr>
          <p:cNvPr id="4" name="rule">
            <a:extLst xmlns:a="http://schemas.openxmlformats.org/drawingml/2006/main">
              <a:ext uri="{FF2B5EF4-FFF2-40B4-BE49-F238E27FC236}">
                <a16:creationId xmlns:a16="http://schemas.microsoft.com/office/drawing/2014/main" id="{27979451-4354-46D7-8BA1-D4A8E603CA74}"/>
              </a:ext>
            </a:extLst>
          </p:cNvPr>
          <p:cNvSpPr>
            <a:spLocks xmlns:a="http://schemas.openxmlformats.org/drawingml/2006/main" noGrp="1"/>
          </p:cNvSpPr>
          <p:nvPr/>
        </p:nvSpPr>
        <p:spPr>
          <a:xfrm xmlns:a="http://schemas.openxmlformats.org/drawingml/2006/main">
            <a:off x="685800" y="5400675"/>
            <a:ext cx="10820400" cy="19050"/>
          </a:xfrm>
          <a:prstGeom xmlns:a="http://schemas.openxmlformats.org/drawingml/2006/main" prst="rect">
            <a:avLst/>
          </a:prstGeom>
          <a:solidFill xmlns:a="http://schemas.openxmlformats.org/drawingml/2006/main">
            <a:srgbClr val="5C2230"/>
          </a:solidFill>
          <a:ln xmlns:a="http://schemas.openxmlformats.org/drawingml/2006/main" w="0">
            <a:noFill/>
          </a:ln>
        </p:spPr>
      </p:sp>
      <p:sp>
        <p:nvSpPr>
          <p:cNvPr id="5" name="question">
            <a:extLst xmlns:a="http://schemas.openxmlformats.org/drawingml/2006/main">
              <a:ext uri="{FF2B5EF4-FFF2-40B4-BE49-F238E27FC236}">
                <a16:creationId xmlns:a16="http://schemas.microsoft.com/office/drawing/2014/main" id="{32E89600-9666-43E9-AA90-DA7BEF33F484}"/>
              </a:ext>
            </a:extLst>
          </p:cNvPr>
          <p:cNvSpPr>
            <a:spLocks xmlns:a="http://schemas.openxmlformats.org/drawingml/2006/main" noGrp="1"/>
          </p:cNvSpPr>
          <p:nvPr/>
        </p:nvSpPr>
        <p:spPr>
          <a:xfrm xmlns:a="http://schemas.openxmlformats.org/drawingml/2006/main">
            <a:off x="685800" y="5638800"/>
            <a:ext cx="108204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600" b="1">
                <a:solidFill>
                  <a:srgbClr val="5C2230"/>
                </a:solidFill>
                <a:latin typeface="Arial"/>
                <a:ea typeface="Arial"/>
                <a:cs typeface="Arial"/>
              </a:defRPr>
            </a:defPPr>
          </a:lstStyle>
          <a:p xmlns:a="http://schemas.openxmlformats.org/drawingml/2006/main">
            <a:pPr algn="l">
              <a:lnSpc>
                <a:spcPct val="112000"/>
              </a:lnSpc>
              <a:buNone/>
              <a:defRPr sz="2600" b="1">
                <a:solidFill>
                  <a:srgbClr val="5C2230"/>
                </a:solidFill>
                <a:latin typeface="Arial"/>
                <a:ea typeface="Arial"/>
                <a:cs typeface="Arial"/>
              </a:defRPr>
            </a:pPr>
            <a:r>
              <a:rPr sz="2600" b="1">
                <a:solidFill>
                  <a:srgbClr val="5C2230"/>
                </a:solidFill>
                <a:latin typeface="Arial"/>
                <a:ea typeface="Arial"/>
                <a:cs typeface="Arial"/>
              </a:rPr>
              <a:t>Which detail suggests that Mara may not intend to stay?</a:t>
            </a:r>
          </a:p>
        </p:txBody>
      </p:sp>
      <p:sp>
        <p:nvSpPr>
          <p:cNvPr id="6" name="template-capacity-guide">
            <a:extLst xmlns:a="http://schemas.openxmlformats.org/drawingml/2006/main">
              <a:ext uri="{FF2B5EF4-FFF2-40B4-BE49-F238E27FC236}">
                <a16:creationId xmlns:a16="http://schemas.microsoft.com/office/drawing/2014/main" id="{34B7FD70-65EA-4BCE-97D4-16DB2AB4CC86}"/>
              </a:ext>
            </a:extLst>
          </p:cNvPr>
          <p:cNvSpPr>
            <a:spLocks xmlns:a="http://schemas.openxmlformats.org/drawingml/2006/main" noGrp="1"/>
          </p:cNvSpPr>
          <p:nvPr/>
        </p:nvSpPr>
        <p:spPr>
          <a:xfrm xmlns:a="http://schemas.openxmlformats.org/drawingml/2006/main">
            <a:off x="685800" y="6343650"/>
            <a:ext cx="108204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00" b="0">
                <a:solidFill>
                  <a:srgbClr val="5C2230"/>
                </a:solidFill>
                <a:latin typeface="Arial"/>
                <a:ea typeface="Arial"/>
                <a:cs typeface="Arial"/>
              </a:defRPr>
            </a:defPPr>
          </a:lstStyle>
          <a:p xmlns:a="http://schemas.openxmlformats.org/drawingml/2006/main">
            <a:pPr algn="l">
              <a:lnSpc>
                <a:spcPct val="112000"/>
              </a:lnSpc>
              <a:buNone/>
              <a:defRPr sz="1600" b="0">
                <a:solidFill>
                  <a:srgbClr val="5C2230"/>
                </a:solidFill>
                <a:latin typeface="Arial"/>
                <a:ea typeface="Arial"/>
                <a:cs typeface="Arial"/>
              </a:defRPr>
            </a:pPr>
            <a:r>
              <a:rPr sz="1600" b="0">
                <a:solidFill>
                  <a:srgbClr val="5C2230"/>
                </a:solidFill>
                <a:latin typeface="Arial"/>
                <a:ea typeface="Arial"/>
                <a:cs typeface="Arial"/>
              </a:rPr>
              <a:t>Example passage: 61 words at 28 pt</a:t>
            </a:r>
          </a:p>
        </p:txBody>
      </p:sp>
    </p:spTree>
    <p:extLst>
      <p:ext uri="{BB962C8B-B14F-4D97-AF65-F5344CB8AC3E}">
        <p14:creationId xmlns:p14="http://schemas.microsoft.com/office/powerpoint/2010/main" val="902987608"/>
      </p:ext>
    </p:extLst>
  </p:cSld>
</p:sld>
</file>

<file path=ppt/slides/slide2.xml><?xml version="1.0" encoding="utf-8"?>
<p:sld xmlns:p="http://schemas.openxmlformats.org/presentationml/2006/main">
  <p:cSld>
    <p:bg>
      <p:bgPr>
        <a:solidFill xmlns:a="http://schemas.openxmlformats.org/drawingml/2006/main">
          <a:srgbClr val="211B16"/>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E58E1EEC-5C32-4A70-A4A0-35F851CE417C}"/>
              </a:ext>
            </a:extLst>
          </p:cNvPr>
          <p:cNvPicPr>
            <a:picLocks xmlns:a="http://schemas.openxmlformats.org/drawingml/2006/main" noChangeAspect="1"/>
          </p:cNvPicPr>
          <p:nvPr/>
        </p:nvPicPr>
        <p:blipFill>
          <a:blip xmlns:r="http://schemas.openxmlformats.org/officeDocument/2006/relationships" xmlns:a="http://schemas.openxmlformats.org/drawingml/2006/main" r:embed="Re873e6868a7842d1"/>
          <a:stretch xmlns:a="http://schemas.openxmlformats.org/drawingml/2006/main"/>
        </p:blipFill>
        <p:spPr>
          <a:xfrm xmlns:a="http://schemas.openxmlformats.org/drawingml/2006/main">
            <a:off x="3239" y="0"/>
            <a:ext cx="12185522" cy="6858000"/>
          </a:xfrm>
          <a:prstGeom xmlns:a="http://schemas.openxmlformats.org/drawingml/2006/main" prst="rect">
            <a:avLst/>
          </a:prstGeom>
        </p:spPr>
      </p:pic>
      <p:sp>
        <p:nvSpPr>
          <p:cNvPr id="2" name="template-label">
            <a:extLst xmlns:a="http://schemas.openxmlformats.org/drawingml/2006/main">
              <a:ext uri="{FF2B5EF4-FFF2-40B4-BE49-F238E27FC236}">
                <a16:creationId xmlns:a16="http://schemas.microsoft.com/office/drawing/2014/main" id="{40927569-2DB3-4AAB-8D1E-2FC5815E51EB}"/>
              </a:ext>
            </a:extLst>
          </p:cNvPr>
          <p:cNvSpPr>
            <a:spLocks xmlns:a="http://schemas.openxmlformats.org/drawingml/2006/main" noGrp="1"/>
          </p:cNvSpPr>
          <p:nvPr/>
        </p:nvSpPr>
        <p:spPr>
          <a:xfrm xmlns:a="http://schemas.openxmlformats.org/drawingml/2006/main">
            <a:off x="4953000" y="514350"/>
            <a:ext cx="6477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00" b="1">
                <a:solidFill>
                  <a:srgbClr val="B89B5E"/>
                </a:solidFill>
                <a:latin typeface="Arial"/>
                <a:ea typeface="Arial"/>
                <a:cs typeface="Arial"/>
              </a:defRPr>
            </a:defPPr>
          </a:lstStyle>
          <a:p xmlns:a="http://schemas.openxmlformats.org/drawingml/2006/main">
            <a:pPr algn="l">
              <a:lnSpc>
                <a:spcPct val="112000"/>
              </a:lnSpc>
              <a:buNone/>
              <a:defRPr sz="1700" b="1">
                <a:solidFill>
                  <a:srgbClr val="B89B5E"/>
                </a:solidFill>
                <a:latin typeface="Arial"/>
                <a:ea typeface="Arial"/>
                <a:cs typeface="Arial"/>
              </a:defRPr>
            </a:pPr>
            <a:r>
              <a:rPr sz="1700" b="1">
                <a:solidFill>
                  <a:srgbClr val="B89B5E"/>
                </a:solidFill>
                <a:latin typeface="Arial"/>
                <a:ea typeface="Arial"/>
                <a:cs typeface="Arial"/>
              </a:rPr>
              <a:t>02  CLOSE READING / FOCAL QUOTATION</a:t>
            </a:r>
          </a:p>
        </p:txBody>
      </p:sp>
      <p:sp>
        <p:nvSpPr>
          <p:cNvPr id="3" name="heading">
            <a:extLst xmlns:a="http://schemas.openxmlformats.org/drawingml/2006/main">
              <a:ext uri="{FF2B5EF4-FFF2-40B4-BE49-F238E27FC236}">
                <a16:creationId xmlns:a16="http://schemas.microsoft.com/office/drawing/2014/main" id="{9731F79C-75A9-4D05-AB56-2DE57656E1DD}"/>
              </a:ext>
            </a:extLst>
          </p:cNvPr>
          <p:cNvSpPr>
            <a:spLocks xmlns:a="http://schemas.openxmlformats.org/drawingml/2006/main" noGrp="1"/>
          </p:cNvSpPr>
          <p:nvPr/>
        </p:nvSpPr>
        <p:spPr>
          <a:xfrm xmlns:a="http://schemas.openxmlformats.org/drawingml/2006/main">
            <a:off x="4953000" y="1133475"/>
            <a:ext cx="6429375"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00" b="1">
                <a:solidFill>
                  <a:srgbClr val="F2E8D5"/>
                </a:solidFill>
                <a:latin typeface="Georgia"/>
                <a:ea typeface="Georgia"/>
                <a:cs typeface="Georgia"/>
              </a:defRPr>
            </a:defPPr>
          </a:lstStyle>
          <a:p xmlns:a="http://schemas.openxmlformats.org/drawingml/2006/main">
            <a:pPr algn="l">
              <a:lnSpc>
                <a:spcPct val="112000"/>
              </a:lnSpc>
              <a:buNone/>
              <a:defRPr sz="3600" b="1">
                <a:solidFill>
                  <a:srgbClr val="F2E8D5"/>
                </a:solidFill>
                <a:latin typeface="Georgia"/>
                <a:ea typeface="Georgia"/>
                <a:cs typeface="Georgia"/>
              </a:defRPr>
            </a:pPr>
            <a:r>
              <a:rPr sz="3600" b="1">
                <a:solidFill>
                  <a:srgbClr val="F2E8D5"/>
                </a:solidFill>
                <a:latin typeface="Georgia"/>
                <a:ea typeface="Georgia"/>
                <a:cs typeface="Georgia"/>
              </a:rPr>
              <a:t>A sentence worth</a:t>
            </a:r>
          </a:p>
          <a:p xmlns:a="http://schemas.openxmlformats.org/drawingml/2006/main">
            <a:pPr algn="l">
              <a:lnSpc>
                <a:spcPct val="112000"/>
              </a:lnSpc>
              <a:buNone/>
              <a:defRPr sz="3600" b="1">
                <a:solidFill>
                  <a:srgbClr val="F2E8D5"/>
                </a:solidFill>
                <a:latin typeface="Georgia"/>
                <a:ea typeface="Georgia"/>
                <a:cs typeface="Georgia"/>
              </a:defRPr>
            </a:pPr>
            <a:r>
              <a:rPr sz="3600" b="1">
                <a:solidFill>
                  <a:srgbClr val="F2E8D5"/>
                </a:solidFill>
                <a:latin typeface="Georgia"/>
                <a:ea typeface="Georgia"/>
                <a:cs typeface="Georgia"/>
              </a:rPr>
              <a:t>pausing over</a:t>
            </a:r>
          </a:p>
        </p:txBody>
      </p:sp>
      <p:sp>
        <p:nvSpPr>
          <p:cNvPr id="4" name="excerpt">
            <a:extLst xmlns:a="http://schemas.openxmlformats.org/drawingml/2006/main">
              <a:ext uri="{FF2B5EF4-FFF2-40B4-BE49-F238E27FC236}">
                <a16:creationId xmlns:a16="http://schemas.microsoft.com/office/drawing/2014/main" id="{EBE3E243-C52D-43D9-8507-B3DFC691B81D}"/>
              </a:ext>
            </a:extLst>
          </p:cNvPr>
          <p:cNvSpPr>
            <a:spLocks xmlns:a="http://schemas.openxmlformats.org/drawingml/2006/main" noGrp="1"/>
          </p:cNvSpPr>
          <p:nvPr/>
        </p:nvSpPr>
        <p:spPr>
          <a:xfrm xmlns:a="http://schemas.openxmlformats.org/drawingml/2006/main">
            <a:off x="4953000" y="2857500"/>
            <a:ext cx="6238875" cy="1276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0">
                <a:solidFill>
                  <a:srgbClr val="F2E8D5"/>
                </a:solidFill>
                <a:latin typeface="Arial"/>
                <a:ea typeface="Arial"/>
                <a:cs typeface="Arial"/>
              </a:defRPr>
            </a:defPPr>
          </a:lstStyle>
          <a:p xmlns:a="http://schemas.openxmlformats.org/drawingml/2006/main">
            <a:pPr algn="l">
              <a:lnSpc>
                <a:spcPct val="112000"/>
              </a:lnSpc>
              <a:buNone/>
              <a:defRPr sz="3200" b="0">
                <a:solidFill>
                  <a:srgbClr val="F2E8D5"/>
                </a:solidFill>
                <a:latin typeface="Arial"/>
                <a:ea typeface="Arial"/>
                <a:cs typeface="Arial"/>
              </a:defRPr>
            </a:pPr>
            <a:r>
              <a:rPr sz="3200" b="0">
                <a:solidFill>
                  <a:srgbClr val="F2E8D5"/>
                </a:solidFill>
                <a:latin typeface="Arial"/>
                <a:ea typeface="Arial"/>
                <a:cs typeface="Arial"/>
              </a:rPr>
              <a:t>“She took off her coat but kept her gloves on.”</a:t>
            </a:r>
          </a:p>
        </p:txBody>
      </p:sp>
      <p:sp>
        <p:nvSpPr>
          <p:cNvPr id="5" name="question">
            <a:extLst xmlns:a="http://schemas.openxmlformats.org/drawingml/2006/main">
              <a:ext uri="{FF2B5EF4-FFF2-40B4-BE49-F238E27FC236}">
                <a16:creationId xmlns:a16="http://schemas.microsoft.com/office/drawing/2014/main" id="{DE77D66D-FF5E-4223-9712-E2C360C5AA25}"/>
              </a:ext>
            </a:extLst>
          </p:cNvPr>
          <p:cNvSpPr>
            <a:spLocks xmlns:a="http://schemas.openxmlformats.org/drawingml/2006/main" noGrp="1"/>
          </p:cNvSpPr>
          <p:nvPr/>
        </p:nvSpPr>
        <p:spPr>
          <a:xfrm xmlns:a="http://schemas.openxmlformats.org/drawingml/2006/main">
            <a:off x="4953000" y="4572000"/>
            <a:ext cx="6286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F2E8D5"/>
                </a:solidFill>
                <a:latin typeface="Arial"/>
                <a:ea typeface="Arial"/>
                <a:cs typeface="Arial"/>
              </a:defRPr>
            </a:defPPr>
          </a:lstStyle>
          <a:p xmlns:a="http://schemas.openxmlformats.org/drawingml/2006/main">
            <a:pPr algn="l">
              <a:lnSpc>
                <a:spcPct val="112000"/>
              </a:lnSpc>
              <a:buNone/>
              <a:defRPr sz="2700" b="1">
                <a:solidFill>
                  <a:srgbClr val="F2E8D5"/>
                </a:solidFill>
                <a:latin typeface="Arial"/>
                <a:ea typeface="Arial"/>
                <a:cs typeface="Arial"/>
              </a:defRPr>
            </a:pPr>
            <a:r>
              <a:rPr sz="2700" b="1">
                <a:solidFill>
                  <a:srgbClr val="F2E8D5"/>
                </a:solidFill>
                <a:latin typeface="Arial"/>
                <a:ea typeface="Arial"/>
                <a:cs typeface="Arial"/>
              </a:rPr>
              <a:t>What does “but” make</a:t>
            </a:r>
          </a:p>
          <a:p xmlns:a="http://schemas.openxmlformats.org/drawingml/2006/main">
            <a:pPr algn="l">
              <a:lnSpc>
                <a:spcPct val="112000"/>
              </a:lnSpc>
              <a:buNone/>
              <a:defRPr sz="2700" b="1">
                <a:solidFill>
                  <a:srgbClr val="F2E8D5"/>
                </a:solidFill>
                <a:latin typeface="Arial"/>
                <a:ea typeface="Arial"/>
                <a:cs typeface="Arial"/>
              </a:defRPr>
            </a:pPr>
            <a:r>
              <a:rPr sz="2700" b="1">
                <a:solidFill>
                  <a:srgbClr val="F2E8D5"/>
                </a:solidFill>
                <a:latin typeface="Arial"/>
                <a:ea typeface="Arial"/>
                <a:cs typeface="Arial"/>
              </a:rPr>
              <a:t>you notice?</a:t>
            </a:r>
          </a:p>
        </p:txBody>
      </p:sp>
      <p:sp>
        <p:nvSpPr>
          <p:cNvPr id="6" name="template-capacity-guide">
            <a:extLst xmlns:a="http://schemas.openxmlformats.org/drawingml/2006/main">
              <a:ext uri="{FF2B5EF4-FFF2-40B4-BE49-F238E27FC236}">
                <a16:creationId xmlns:a16="http://schemas.microsoft.com/office/drawing/2014/main" id="{94B8FB89-D718-4B4F-8C55-81B6AF4F6B42}"/>
              </a:ext>
            </a:extLst>
          </p:cNvPr>
          <p:cNvSpPr>
            <a:spLocks xmlns:a="http://schemas.openxmlformats.org/drawingml/2006/main" noGrp="1"/>
          </p:cNvSpPr>
          <p:nvPr/>
        </p:nvSpPr>
        <p:spPr>
          <a:xfrm xmlns:a="http://schemas.openxmlformats.org/drawingml/2006/main">
            <a:off x="4953000" y="6343650"/>
            <a:ext cx="6477000" cy="276225"/>
          </a:xfrm>
          <a:prstGeom xmlns:a="http://schemas.openxmlformats.org/drawingml/2006/main" prst="rect">
            <a:avLst/>
          </a:prstGeom>
          <a:solidFill xmlns:a="http://schemas.openxmlformats.org/drawingml/2006/main">
            <a:srgbClr val="211B16"/>
          </a:solidFill>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00" b="0">
                <a:solidFill>
                  <a:srgbClr val="B89B5E"/>
                </a:solidFill>
                <a:latin typeface="Arial"/>
                <a:ea typeface="Arial"/>
                <a:cs typeface="Arial"/>
              </a:defRPr>
            </a:defPPr>
          </a:lstStyle>
          <a:p xmlns:a="http://schemas.openxmlformats.org/drawingml/2006/main">
            <a:pPr algn="l">
              <a:lnSpc>
                <a:spcPct val="112000"/>
              </a:lnSpc>
              <a:buNone/>
              <a:defRPr sz="1600" b="0">
                <a:solidFill>
                  <a:srgbClr val="B89B5E"/>
                </a:solidFill>
                <a:latin typeface="Arial"/>
                <a:ea typeface="Arial"/>
                <a:cs typeface="Arial"/>
              </a:defRPr>
            </a:pPr>
            <a:r>
              <a:rPr sz="1600" b="0">
                <a:solidFill>
                  <a:srgbClr val="B89B5E"/>
                </a:solidFill>
                <a:latin typeface="Arial"/>
                <a:ea typeface="Arial"/>
                <a:cs typeface="Arial"/>
              </a:rPr>
              <a:t>Example: an 11-word excerpt at 32 pt</a:t>
            </a:r>
          </a:p>
        </p:txBody>
      </p:sp>
    </p:spTree>
    <p:extLst>
      <p:ext uri="{BB962C8B-B14F-4D97-AF65-F5344CB8AC3E}">
        <p14:creationId xmlns:p14="http://schemas.microsoft.com/office/powerpoint/2010/main" val="1259421004"/>
      </p:ext>
    </p:extLst>
  </p:cSld>
</p:sld>
</file>

<file path=ppt/slides/slide3.xml><?xml version="1.0" encoding="utf-8"?>
<p:sld xmlns:p="http://schemas.openxmlformats.org/presentationml/2006/main">
  <p:cSld>
    <p:bg>
      <p:bgPr>
        <a:solidFill xmlns:a="http://schemas.openxmlformats.org/drawingml/2006/main">
          <a:srgbClr val="E9D8B6"/>
        </a:solidFill>
      </p:bgPr>
    </p:bg>
    <p:spTree>
      <p:nvGrpSpPr>
        <p:cNvPr id="1" name=""/>
        <p:cNvGrpSpPr/>
        <p:nvPr/>
      </p:nvGrpSpPr>
      <p:grpSpPr>
        <a:xfrm xmlns:a="http://schemas.openxmlformats.org/drawingml/2006/main"/>
      </p:grpSpPr>
      <p:sp>
        <p:nvSpPr>
          <p:cNvPr id="13" name="template-label">
            <a:extLst xmlns:a="http://schemas.openxmlformats.org/drawingml/2006/main">
              <a:ext uri="{FF2B5EF4-FFF2-40B4-BE49-F238E27FC236}">
                <a16:creationId xmlns:a16="http://schemas.microsoft.com/office/drawing/2014/main" id="{B3550755-8CE1-46F0-8125-F3617F77370B}"/>
              </a:ext>
            </a:extLst>
          </p:cNvPr>
          <p:cNvSpPr>
            <a:spLocks xmlns:a="http://schemas.openxmlformats.org/drawingml/2006/main" noGrp="1"/>
          </p:cNvSpPr>
          <p:nvPr/>
        </p:nvSpPr>
        <p:spPr>
          <a:xfrm xmlns:a="http://schemas.openxmlformats.org/drawingml/2006/main">
            <a:off x="685800" y="285750"/>
            <a:ext cx="10820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00" b="1">
                <a:solidFill>
                  <a:srgbClr val="5C2230"/>
                </a:solidFill>
                <a:latin typeface="Arial"/>
                <a:ea typeface="Arial"/>
                <a:cs typeface="Arial"/>
              </a:defRPr>
            </a:defPPr>
          </a:lstStyle>
          <a:p xmlns:a="http://schemas.openxmlformats.org/drawingml/2006/main">
            <a:pPr algn="l">
              <a:lnSpc>
                <a:spcPct val="112000"/>
              </a:lnSpc>
              <a:buNone/>
              <a:defRPr sz="1700" b="1">
                <a:solidFill>
                  <a:srgbClr val="5C2230"/>
                </a:solidFill>
                <a:latin typeface="Arial"/>
                <a:ea typeface="Arial"/>
                <a:cs typeface="Arial"/>
              </a:defRPr>
            </a:pPr>
            <a:r>
              <a:rPr sz="1700" b="1">
                <a:solidFill>
                  <a:srgbClr val="5C2230"/>
                </a:solidFill>
                <a:latin typeface="Arial"/>
                <a:ea typeface="Arial"/>
                <a:cs typeface="Arial"/>
              </a:rPr>
              <a:t>03  PASSAGE ANNOTATION / MARGIN NOTES</a:t>
            </a:r>
          </a:p>
        </p:txBody>
      </p:sp>
      <p:sp>
        <p:nvSpPr>
          <p:cNvPr id="2" name="heading">
            <a:extLst xmlns:a="http://schemas.openxmlformats.org/drawingml/2006/main">
              <a:ext uri="{FF2B5EF4-FFF2-40B4-BE49-F238E27FC236}">
                <a16:creationId xmlns:a16="http://schemas.microsoft.com/office/drawing/2014/main" id="{E8750E9B-4B7E-4322-AC23-67C106ED1A4A}"/>
              </a:ext>
            </a:extLst>
          </p:cNvPr>
          <p:cNvSpPr>
            <a:spLocks xmlns:a="http://schemas.openxmlformats.org/drawingml/2006/main" noGrp="1"/>
          </p:cNvSpPr>
          <p:nvPr/>
        </p:nvSpPr>
        <p:spPr>
          <a:xfrm xmlns:a="http://schemas.openxmlformats.org/drawingml/2006/main">
            <a:off x="685800" y="83820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800" b="1">
                <a:solidFill>
                  <a:srgbClr val="211B16"/>
                </a:solidFill>
                <a:latin typeface="Georgia"/>
                <a:ea typeface="Georgia"/>
                <a:cs typeface="Georgia"/>
              </a:defRPr>
            </a:defPPr>
          </a:lstStyle>
          <a:p xmlns:a="http://schemas.openxmlformats.org/drawingml/2006/main">
            <a:pPr algn="l">
              <a:lnSpc>
                <a:spcPct val="112000"/>
              </a:lnSpc>
              <a:buNone/>
              <a:defRPr sz="3800" b="1">
                <a:solidFill>
                  <a:srgbClr val="211B16"/>
                </a:solidFill>
                <a:latin typeface="Georgia"/>
                <a:ea typeface="Georgia"/>
                <a:cs typeface="Georgia"/>
              </a:defRPr>
            </a:pPr>
            <a:r>
              <a:rPr sz="3800" b="1">
                <a:solidFill>
                  <a:srgbClr val="211B16"/>
                </a:solidFill>
                <a:latin typeface="Georgia"/>
                <a:ea typeface="Georgia"/>
                <a:cs typeface="Georgia"/>
              </a:rPr>
              <a:t>An ordinary room, an uneasy visitor</a:t>
            </a:r>
          </a:p>
        </p:txBody>
      </p:sp>
      <p:sp>
        <p:nvSpPr>
          <p:cNvPr id="3" name="passage">
            <a:extLst xmlns:a="http://schemas.openxmlformats.org/drawingml/2006/main">
              <a:ext uri="{FF2B5EF4-FFF2-40B4-BE49-F238E27FC236}">
                <a16:creationId xmlns:a16="http://schemas.microsoft.com/office/drawing/2014/main" id="{F313418F-6285-4296-BFB7-05C04A604E67}"/>
              </a:ext>
            </a:extLst>
          </p:cNvPr>
          <p:cNvSpPr>
            <a:spLocks xmlns:a="http://schemas.openxmlformats.org/drawingml/2006/main" noGrp="1"/>
          </p:cNvSpPr>
          <p:nvPr/>
        </p:nvSpPr>
        <p:spPr>
          <a:xfrm xmlns:a="http://schemas.openxmlformats.org/drawingml/2006/main">
            <a:off x="685800" y="2152650"/>
            <a:ext cx="638175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900" b="0">
                <a:solidFill>
                  <a:srgbClr val="211B16"/>
                </a:solidFill>
                <a:latin typeface="Arial"/>
                <a:ea typeface="Arial"/>
                <a:cs typeface="Arial"/>
              </a:defRPr>
            </a:defPPr>
          </a:lstStyle>
          <a:p xmlns:a="http://schemas.openxmlformats.org/drawingml/2006/main">
            <a:pPr algn="l">
              <a:lnSpc>
                <a:spcPct val="112000"/>
              </a:lnSpc>
              <a:buNone/>
              <a:defRPr sz="2900" b="0">
                <a:solidFill>
                  <a:srgbClr val="211B16"/>
                </a:solidFill>
                <a:latin typeface="Arial"/>
                <a:ea typeface="Arial"/>
                <a:cs typeface="Arial"/>
              </a:defRPr>
            </a:pPr>
            <a:r>
              <a:rPr sz="2900" b="0">
                <a:solidFill>
                  <a:srgbClr val="211B16"/>
                </a:solidFill>
                <a:latin typeface="Arial"/>
                <a:ea typeface="Arial"/>
                <a:cs typeface="Arial"/>
              </a:rPr>
              <a:t>“Mara left her bag by the door. The room was warm, but she did not sit down. On the mantelpiece, a clock ticked without hands. She counted six beats before she spoke.”</a:t>
            </a:r>
          </a:p>
        </p:txBody>
      </p:sp>
      <p:sp>
        <p:nvSpPr>
          <p:cNvPr id="4" name="rule">
            <a:extLst xmlns:a="http://schemas.openxmlformats.org/drawingml/2006/main">
              <a:ext uri="{FF2B5EF4-FFF2-40B4-BE49-F238E27FC236}">
                <a16:creationId xmlns:a16="http://schemas.microsoft.com/office/drawing/2014/main" id="{545EA01A-B8A1-4EB2-B86F-B68A94FC74E8}"/>
              </a:ext>
            </a:extLst>
          </p:cNvPr>
          <p:cNvSpPr>
            <a:spLocks xmlns:a="http://schemas.openxmlformats.org/drawingml/2006/main" noGrp="1"/>
          </p:cNvSpPr>
          <p:nvPr/>
        </p:nvSpPr>
        <p:spPr>
          <a:xfrm xmlns:a="http://schemas.openxmlformats.org/drawingml/2006/main">
            <a:off x="7524750" y="2076450"/>
            <a:ext cx="19050" cy="3352800"/>
          </a:xfrm>
          <a:prstGeom xmlns:a="http://schemas.openxmlformats.org/drawingml/2006/main" prst="rect">
            <a:avLst/>
          </a:prstGeom>
          <a:solidFill xmlns:a="http://schemas.openxmlformats.org/drawingml/2006/main">
            <a:srgbClr val="5C2230"/>
          </a:solidFill>
          <a:ln xmlns:a="http://schemas.openxmlformats.org/drawingml/2006/main" w="0">
            <a:noFill/>
          </a:ln>
        </p:spPr>
      </p:sp>
      <p:sp>
        <p:nvSpPr>
          <p:cNvPr id="5" name="annotation-label-0">
            <a:extLst xmlns:a="http://schemas.openxmlformats.org/drawingml/2006/main">
              <a:ext uri="{FF2B5EF4-FFF2-40B4-BE49-F238E27FC236}">
                <a16:creationId xmlns:a16="http://schemas.microsoft.com/office/drawing/2014/main" id="{CF28E836-BE87-4D01-B862-221B7241C15B}"/>
              </a:ext>
            </a:extLst>
          </p:cNvPr>
          <p:cNvSpPr>
            <a:spLocks xmlns:a="http://schemas.openxmlformats.org/drawingml/2006/main" noGrp="1"/>
          </p:cNvSpPr>
          <p:nvPr/>
        </p:nvSpPr>
        <p:spPr>
          <a:xfrm xmlns:a="http://schemas.openxmlformats.org/drawingml/2006/main">
            <a:off x="7943850" y="2076450"/>
            <a:ext cx="3524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00" b="1">
                <a:solidFill>
                  <a:srgbClr val="5C2230"/>
                </a:solidFill>
                <a:latin typeface="Arial"/>
                <a:ea typeface="Arial"/>
                <a:cs typeface="Arial"/>
              </a:defRPr>
            </a:defPPr>
          </a:lstStyle>
          <a:p xmlns:a="http://schemas.openxmlformats.org/drawingml/2006/main">
            <a:pPr algn="l">
              <a:lnSpc>
                <a:spcPct val="112000"/>
              </a:lnSpc>
              <a:buNone/>
              <a:defRPr sz="2000" b="1">
                <a:solidFill>
                  <a:srgbClr val="5C2230"/>
                </a:solidFill>
                <a:latin typeface="Arial"/>
                <a:ea typeface="Arial"/>
                <a:cs typeface="Arial"/>
              </a:defRPr>
            </a:pPr>
            <a:r>
              <a:rPr sz="2000" b="1">
                <a:solidFill>
                  <a:srgbClr val="5C2230"/>
                </a:solidFill>
                <a:latin typeface="Arial"/>
                <a:ea typeface="Arial"/>
                <a:cs typeface="Arial"/>
              </a:rPr>
              <a:t>ACTION</a:t>
            </a:r>
          </a:p>
        </p:txBody>
      </p:sp>
      <p:sp>
        <p:nvSpPr>
          <p:cNvPr id="6" name="annotation-0">
            <a:extLst xmlns:a="http://schemas.openxmlformats.org/drawingml/2006/main">
              <a:ext uri="{FF2B5EF4-FFF2-40B4-BE49-F238E27FC236}">
                <a16:creationId xmlns:a16="http://schemas.microsoft.com/office/drawing/2014/main" id="{87E431F1-C45D-4C28-9036-27ABC6601974}"/>
              </a:ext>
            </a:extLst>
          </p:cNvPr>
          <p:cNvSpPr>
            <a:spLocks xmlns:a="http://schemas.openxmlformats.org/drawingml/2006/main" noGrp="1"/>
          </p:cNvSpPr>
          <p:nvPr/>
        </p:nvSpPr>
        <p:spPr>
          <a:xfrm xmlns:a="http://schemas.openxmlformats.org/drawingml/2006/main">
            <a:off x="7943850" y="2457450"/>
            <a:ext cx="3524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211B16"/>
                </a:solidFill>
                <a:latin typeface="Arial"/>
                <a:ea typeface="Arial"/>
                <a:cs typeface="Arial"/>
              </a:defRPr>
            </a:defPPr>
          </a:lstStyle>
          <a:p xmlns:a="http://schemas.openxmlformats.org/drawingml/2006/main">
            <a:pPr algn="l">
              <a:lnSpc>
                <a:spcPct val="112000"/>
              </a:lnSpc>
              <a:buNone/>
              <a:defRPr sz="2400" b="0">
                <a:solidFill>
                  <a:srgbClr val="211B16"/>
                </a:solidFill>
                <a:latin typeface="Arial"/>
                <a:ea typeface="Arial"/>
                <a:cs typeface="Arial"/>
              </a:defRPr>
            </a:pPr>
            <a:r>
              <a:rPr sz="2400" b="0">
                <a:solidFill>
                  <a:srgbClr val="211B16"/>
                </a:solidFill>
                <a:latin typeface="Arial"/>
                <a:ea typeface="Arial"/>
                <a:cs typeface="Arial"/>
              </a:rPr>
              <a:t>The bag stays by the exit.</a:t>
            </a:r>
          </a:p>
        </p:txBody>
      </p:sp>
      <p:sp>
        <p:nvSpPr>
          <p:cNvPr id="7" name="annotation-label-1">
            <a:extLst xmlns:a="http://schemas.openxmlformats.org/drawingml/2006/main">
              <a:ext uri="{FF2B5EF4-FFF2-40B4-BE49-F238E27FC236}">
                <a16:creationId xmlns:a16="http://schemas.microsoft.com/office/drawing/2014/main" id="{2E2C6E4F-F224-4852-A947-86B753DBCB0B}"/>
              </a:ext>
            </a:extLst>
          </p:cNvPr>
          <p:cNvSpPr>
            <a:spLocks xmlns:a="http://schemas.openxmlformats.org/drawingml/2006/main" noGrp="1"/>
          </p:cNvSpPr>
          <p:nvPr/>
        </p:nvSpPr>
        <p:spPr>
          <a:xfrm xmlns:a="http://schemas.openxmlformats.org/drawingml/2006/main">
            <a:off x="7943850" y="3228975"/>
            <a:ext cx="3524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00" b="1">
                <a:solidFill>
                  <a:srgbClr val="5C2230"/>
                </a:solidFill>
                <a:latin typeface="Arial"/>
                <a:ea typeface="Arial"/>
                <a:cs typeface="Arial"/>
              </a:defRPr>
            </a:defPPr>
          </a:lstStyle>
          <a:p xmlns:a="http://schemas.openxmlformats.org/drawingml/2006/main">
            <a:pPr algn="l">
              <a:lnSpc>
                <a:spcPct val="112000"/>
              </a:lnSpc>
              <a:buNone/>
              <a:defRPr sz="2000" b="1">
                <a:solidFill>
                  <a:srgbClr val="5C2230"/>
                </a:solidFill>
                <a:latin typeface="Arial"/>
                <a:ea typeface="Arial"/>
                <a:cs typeface="Arial"/>
              </a:defRPr>
            </a:pPr>
            <a:r>
              <a:rPr sz="2000" b="1">
                <a:solidFill>
                  <a:srgbClr val="5C2230"/>
                </a:solidFill>
                <a:latin typeface="Arial"/>
                <a:ea typeface="Arial"/>
                <a:cs typeface="Arial"/>
              </a:rPr>
              <a:t>CONTRAST</a:t>
            </a:r>
          </a:p>
        </p:txBody>
      </p:sp>
      <p:sp>
        <p:nvSpPr>
          <p:cNvPr id="8" name="annotation-1">
            <a:extLst xmlns:a="http://schemas.openxmlformats.org/drawingml/2006/main">
              <a:ext uri="{FF2B5EF4-FFF2-40B4-BE49-F238E27FC236}">
                <a16:creationId xmlns:a16="http://schemas.microsoft.com/office/drawing/2014/main" id="{EDE903FB-A1D1-410C-8917-174A6CF11E68}"/>
              </a:ext>
            </a:extLst>
          </p:cNvPr>
          <p:cNvSpPr>
            <a:spLocks xmlns:a="http://schemas.openxmlformats.org/drawingml/2006/main" noGrp="1"/>
          </p:cNvSpPr>
          <p:nvPr/>
        </p:nvSpPr>
        <p:spPr>
          <a:xfrm xmlns:a="http://schemas.openxmlformats.org/drawingml/2006/main">
            <a:off x="7943850" y="3609975"/>
            <a:ext cx="3524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211B16"/>
                </a:solidFill>
                <a:latin typeface="Arial"/>
                <a:ea typeface="Arial"/>
                <a:cs typeface="Arial"/>
              </a:defRPr>
            </a:defPPr>
          </a:lstStyle>
          <a:p xmlns:a="http://schemas.openxmlformats.org/drawingml/2006/main">
            <a:pPr algn="l">
              <a:lnSpc>
                <a:spcPct val="112000"/>
              </a:lnSpc>
              <a:buNone/>
              <a:defRPr sz="2400" b="0">
                <a:solidFill>
                  <a:srgbClr val="211B16"/>
                </a:solidFill>
                <a:latin typeface="Arial"/>
                <a:ea typeface="Arial"/>
                <a:cs typeface="Arial"/>
              </a:defRPr>
            </a:pPr>
            <a:r>
              <a:rPr sz="2400" b="0">
                <a:solidFill>
                  <a:srgbClr val="211B16"/>
                </a:solidFill>
                <a:latin typeface="Arial"/>
                <a:ea typeface="Arial"/>
                <a:cs typeface="Arial"/>
              </a:rPr>
              <a:t>Warm, yet uneasy.</a:t>
            </a:r>
          </a:p>
        </p:txBody>
      </p:sp>
      <p:sp>
        <p:nvSpPr>
          <p:cNvPr id="9" name="annotation-label-2">
            <a:extLst xmlns:a="http://schemas.openxmlformats.org/drawingml/2006/main">
              <a:ext uri="{FF2B5EF4-FFF2-40B4-BE49-F238E27FC236}">
                <a16:creationId xmlns:a16="http://schemas.microsoft.com/office/drawing/2014/main" id="{1A87EA40-8C65-494A-BDD9-225C71D87D9E}"/>
              </a:ext>
            </a:extLst>
          </p:cNvPr>
          <p:cNvSpPr>
            <a:spLocks xmlns:a="http://schemas.openxmlformats.org/drawingml/2006/main" noGrp="1"/>
          </p:cNvSpPr>
          <p:nvPr/>
        </p:nvSpPr>
        <p:spPr>
          <a:xfrm xmlns:a="http://schemas.openxmlformats.org/drawingml/2006/main">
            <a:off x="7943850" y="4381500"/>
            <a:ext cx="3524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00" b="1">
                <a:solidFill>
                  <a:srgbClr val="5C2230"/>
                </a:solidFill>
                <a:latin typeface="Arial"/>
                <a:ea typeface="Arial"/>
                <a:cs typeface="Arial"/>
              </a:defRPr>
            </a:defPPr>
          </a:lstStyle>
          <a:p xmlns:a="http://schemas.openxmlformats.org/drawingml/2006/main">
            <a:pPr algn="l">
              <a:lnSpc>
                <a:spcPct val="112000"/>
              </a:lnSpc>
              <a:buNone/>
              <a:defRPr sz="2000" b="1">
                <a:solidFill>
                  <a:srgbClr val="5C2230"/>
                </a:solidFill>
                <a:latin typeface="Arial"/>
                <a:ea typeface="Arial"/>
                <a:cs typeface="Arial"/>
              </a:defRPr>
            </a:pPr>
            <a:r>
              <a:rPr sz="2000" b="1">
                <a:solidFill>
                  <a:srgbClr val="5C2230"/>
                </a:solidFill>
                <a:latin typeface="Arial"/>
                <a:ea typeface="Arial"/>
                <a:cs typeface="Arial"/>
              </a:rPr>
              <a:t>DETAIL</a:t>
            </a:r>
          </a:p>
        </p:txBody>
      </p:sp>
      <p:sp>
        <p:nvSpPr>
          <p:cNvPr id="10" name="annotation-2">
            <a:extLst xmlns:a="http://schemas.openxmlformats.org/drawingml/2006/main">
              <a:ext uri="{FF2B5EF4-FFF2-40B4-BE49-F238E27FC236}">
                <a16:creationId xmlns:a16="http://schemas.microsoft.com/office/drawing/2014/main" id="{C7088204-EFC5-47E8-BF74-C73350A9F5D6}"/>
              </a:ext>
            </a:extLst>
          </p:cNvPr>
          <p:cNvSpPr>
            <a:spLocks xmlns:a="http://schemas.openxmlformats.org/drawingml/2006/main" noGrp="1"/>
          </p:cNvSpPr>
          <p:nvPr/>
        </p:nvSpPr>
        <p:spPr>
          <a:xfrm xmlns:a="http://schemas.openxmlformats.org/drawingml/2006/main">
            <a:off x="7943850" y="4762500"/>
            <a:ext cx="3524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211B16"/>
                </a:solidFill>
                <a:latin typeface="Arial"/>
                <a:ea typeface="Arial"/>
                <a:cs typeface="Arial"/>
              </a:defRPr>
            </a:defPPr>
          </a:lstStyle>
          <a:p xmlns:a="http://schemas.openxmlformats.org/drawingml/2006/main">
            <a:pPr algn="l">
              <a:lnSpc>
                <a:spcPct val="112000"/>
              </a:lnSpc>
              <a:buNone/>
              <a:defRPr sz="2400" b="0">
                <a:solidFill>
                  <a:srgbClr val="211B16"/>
                </a:solidFill>
                <a:latin typeface="Arial"/>
                <a:ea typeface="Arial"/>
                <a:cs typeface="Arial"/>
              </a:defRPr>
            </a:pPr>
            <a:r>
              <a:rPr sz="2400" b="0">
                <a:solidFill>
                  <a:srgbClr val="211B16"/>
                </a:solidFill>
                <a:latin typeface="Arial"/>
                <a:ea typeface="Arial"/>
                <a:cs typeface="Arial"/>
              </a:rPr>
              <a:t>The clock sounds but cannot show time.</a:t>
            </a:r>
          </a:p>
        </p:txBody>
      </p:sp>
      <p:sp>
        <p:nvSpPr>
          <p:cNvPr id="11" name="question">
            <a:extLst xmlns:a="http://schemas.openxmlformats.org/drawingml/2006/main">
              <a:ext uri="{FF2B5EF4-FFF2-40B4-BE49-F238E27FC236}">
                <a16:creationId xmlns:a16="http://schemas.microsoft.com/office/drawing/2014/main" id="{1E386904-91FC-4DCA-9EE0-CCE277436A2E}"/>
              </a:ext>
            </a:extLst>
          </p:cNvPr>
          <p:cNvSpPr>
            <a:spLocks xmlns:a="http://schemas.openxmlformats.org/drawingml/2006/main" noGrp="1"/>
          </p:cNvSpPr>
          <p:nvPr/>
        </p:nvSpPr>
        <p:spPr>
          <a:xfrm xmlns:a="http://schemas.openxmlformats.org/drawingml/2006/main">
            <a:off x="685800" y="5648325"/>
            <a:ext cx="108204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00" b="1">
                <a:solidFill>
                  <a:srgbClr val="5C2230"/>
                </a:solidFill>
                <a:latin typeface="Arial"/>
                <a:ea typeface="Arial"/>
                <a:cs typeface="Arial"/>
              </a:defRPr>
            </a:defPPr>
          </a:lstStyle>
          <a:p xmlns:a="http://schemas.openxmlformats.org/drawingml/2006/main">
            <a:pPr algn="l">
              <a:lnSpc>
                <a:spcPct val="112000"/>
              </a:lnSpc>
              <a:buNone/>
              <a:defRPr sz="2500" b="1">
                <a:solidFill>
                  <a:srgbClr val="5C2230"/>
                </a:solidFill>
                <a:latin typeface="Arial"/>
                <a:ea typeface="Arial"/>
                <a:cs typeface="Arial"/>
              </a:defRPr>
            </a:pPr>
            <a:r>
              <a:rPr sz="2500" b="1">
                <a:solidFill>
                  <a:srgbClr val="5C2230"/>
                </a:solidFill>
                <a:latin typeface="Arial"/>
                <a:ea typeface="Arial"/>
                <a:cs typeface="Arial"/>
              </a:rPr>
              <a:t>Which observation most strongly supports an uneasy mood?</a:t>
            </a:r>
          </a:p>
        </p:txBody>
      </p:sp>
      <p:sp>
        <p:nvSpPr>
          <p:cNvPr id="12" name="template-capacity-guide">
            <a:extLst xmlns:a="http://schemas.openxmlformats.org/drawingml/2006/main">
              <a:ext uri="{FF2B5EF4-FFF2-40B4-BE49-F238E27FC236}">
                <a16:creationId xmlns:a16="http://schemas.microsoft.com/office/drawing/2014/main" id="{34D39976-1BDB-481C-B2AF-EF35D9C48E10}"/>
              </a:ext>
            </a:extLst>
          </p:cNvPr>
          <p:cNvSpPr>
            <a:spLocks xmlns:a="http://schemas.openxmlformats.org/drawingml/2006/main" noGrp="1"/>
          </p:cNvSpPr>
          <p:nvPr/>
        </p:nvSpPr>
        <p:spPr>
          <a:xfrm xmlns:a="http://schemas.openxmlformats.org/drawingml/2006/main">
            <a:off x="685800" y="6343650"/>
            <a:ext cx="108204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00" b="0">
                <a:solidFill>
                  <a:srgbClr val="5C2230"/>
                </a:solidFill>
                <a:latin typeface="Arial"/>
                <a:ea typeface="Arial"/>
                <a:cs typeface="Arial"/>
              </a:defRPr>
            </a:defPPr>
          </a:lstStyle>
          <a:p xmlns:a="http://schemas.openxmlformats.org/drawingml/2006/main">
            <a:pPr algn="l">
              <a:lnSpc>
                <a:spcPct val="112000"/>
              </a:lnSpc>
              <a:buNone/>
              <a:defRPr sz="1600" b="0">
                <a:solidFill>
                  <a:srgbClr val="5C2230"/>
                </a:solidFill>
                <a:latin typeface="Arial"/>
                <a:ea typeface="Arial"/>
                <a:cs typeface="Arial"/>
              </a:defRPr>
            </a:pPr>
            <a:r>
              <a:rPr sz="1600" b="0">
                <a:solidFill>
                  <a:srgbClr val="5C2230"/>
                </a:solidFill>
                <a:latin typeface="Arial"/>
                <a:ea typeface="Arial"/>
                <a:cs typeface="Arial"/>
              </a:rPr>
              <a:t>Example: 32 passage words with three short notes</a:t>
            </a:r>
          </a:p>
        </p:txBody>
      </p:sp>
    </p:spTree>
    <p:extLst>
      <p:ext uri="{BB962C8B-B14F-4D97-AF65-F5344CB8AC3E}">
        <p14:creationId xmlns:p14="http://schemas.microsoft.com/office/powerpoint/2010/main" val="502969030"/>
      </p:ext>
    </p:extLst>
  </p:cSld>
</p:sld>
</file>

<file path=ppt/slides/slide4.xml><?xml version="1.0" encoding="utf-8"?>
<p:sld xmlns:p="http://schemas.openxmlformats.org/presentationml/2006/main">
  <p:cSld>
    <p:bg>
      <p:bgPr>
        <a:solidFill xmlns:a="http://schemas.openxmlformats.org/drawingml/2006/main">
          <a:srgbClr val="211B16"/>
        </a:solidFill>
      </p:bgPr>
    </p:bg>
    <p:spTree>
      <p:nvGrpSpPr>
        <p:cNvPr id="1" name=""/>
        <p:cNvGrpSpPr/>
        <p:nvPr/>
      </p:nvGrpSpPr>
      <p:grpSpPr>
        <a:xfrm xmlns:a="http://schemas.openxmlformats.org/drawingml/2006/main"/>
      </p:grpSpPr>
      <p:sp>
        <p:nvSpPr>
          <p:cNvPr id="14" name="template-label">
            <a:extLst xmlns:a="http://schemas.openxmlformats.org/drawingml/2006/main">
              <a:ext uri="{FF2B5EF4-FFF2-40B4-BE49-F238E27FC236}">
                <a16:creationId xmlns:a16="http://schemas.microsoft.com/office/drawing/2014/main" id="{EBB46C28-80AC-48AF-B37B-9F7F395D848C}"/>
              </a:ext>
            </a:extLst>
          </p:cNvPr>
          <p:cNvSpPr>
            <a:spLocks xmlns:a="http://schemas.openxmlformats.org/drawingml/2006/main" noGrp="1"/>
          </p:cNvSpPr>
          <p:nvPr/>
        </p:nvSpPr>
        <p:spPr>
          <a:xfrm xmlns:a="http://schemas.openxmlformats.org/drawingml/2006/main">
            <a:off x="685800" y="285750"/>
            <a:ext cx="10820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00" b="1">
                <a:solidFill>
                  <a:srgbClr val="B89B5E"/>
                </a:solidFill>
                <a:latin typeface="Arial"/>
                <a:ea typeface="Arial"/>
                <a:cs typeface="Arial"/>
              </a:defRPr>
            </a:defPPr>
          </a:lstStyle>
          <a:p xmlns:a="http://schemas.openxmlformats.org/drawingml/2006/main">
            <a:pPr algn="l">
              <a:lnSpc>
                <a:spcPct val="112000"/>
              </a:lnSpc>
              <a:buNone/>
              <a:defRPr sz="1700" b="1">
                <a:solidFill>
                  <a:srgbClr val="B89B5E"/>
                </a:solidFill>
                <a:latin typeface="Arial"/>
                <a:ea typeface="Arial"/>
                <a:cs typeface="Arial"/>
              </a:defRPr>
            </a:pPr>
            <a:r>
              <a:rPr sz="1700" b="1">
                <a:solidFill>
                  <a:srgbClr val="B89B5E"/>
                </a:solidFill>
                <a:latin typeface="Arial"/>
                <a:ea typeface="Arial"/>
                <a:cs typeface="Arial"/>
              </a:rPr>
              <a:t>04  PASSAGE ANNOTATION / EVIDENCE AND COMMENT</a:t>
            </a:r>
          </a:p>
        </p:txBody>
      </p:sp>
      <p:sp>
        <p:nvSpPr>
          <p:cNvPr id="2" name="heading">
            <a:extLst xmlns:a="http://schemas.openxmlformats.org/drawingml/2006/main">
              <a:ext uri="{FF2B5EF4-FFF2-40B4-BE49-F238E27FC236}">
                <a16:creationId xmlns:a16="http://schemas.microsoft.com/office/drawing/2014/main" id="{205D403A-BC0B-4E22-A6BF-700AF8735EA5}"/>
              </a:ext>
            </a:extLst>
          </p:cNvPr>
          <p:cNvSpPr>
            <a:spLocks xmlns:a="http://schemas.openxmlformats.org/drawingml/2006/main" noGrp="1"/>
          </p:cNvSpPr>
          <p:nvPr/>
        </p:nvSpPr>
        <p:spPr>
          <a:xfrm xmlns:a="http://schemas.openxmlformats.org/drawingml/2006/main">
            <a:off x="685800" y="83820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800" b="1">
                <a:solidFill>
                  <a:srgbClr val="F2E8D5"/>
                </a:solidFill>
                <a:latin typeface="Georgia"/>
                <a:ea typeface="Georgia"/>
                <a:cs typeface="Georgia"/>
              </a:defRPr>
            </a:defPPr>
          </a:lstStyle>
          <a:p xmlns:a="http://schemas.openxmlformats.org/drawingml/2006/main">
            <a:pPr algn="l">
              <a:lnSpc>
                <a:spcPct val="112000"/>
              </a:lnSpc>
              <a:buNone/>
              <a:defRPr sz="3800" b="1">
                <a:solidFill>
                  <a:srgbClr val="F2E8D5"/>
                </a:solidFill>
                <a:latin typeface="Georgia"/>
                <a:ea typeface="Georgia"/>
                <a:cs typeface="Georgia"/>
              </a:defRPr>
            </a:pPr>
            <a:r>
              <a:rPr sz="3800" b="1">
                <a:solidFill>
                  <a:srgbClr val="F2E8D5"/>
                </a:solidFill>
                <a:latin typeface="Georgia"/>
                <a:ea typeface="Georgia"/>
                <a:cs typeface="Georgia"/>
              </a:rPr>
              <a:t>Small words, different meanings</a:t>
            </a:r>
          </a:p>
        </p:txBody>
      </p:sp>
      <p:sp>
        <p:nvSpPr>
          <p:cNvPr id="3" name="left-label">
            <a:extLst xmlns:a="http://schemas.openxmlformats.org/drawingml/2006/main">
              <a:ext uri="{FF2B5EF4-FFF2-40B4-BE49-F238E27FC236}">
                <a16:creationId xmlns:a16="http://schemas.microsoft.com/office/drawing/2014/main" id="{C0B181C5-66CE-459C-B23D-97E6DB8E5B00}"/>
              </a:ext>
            </a:extLst>
          </p:cNvPr>
          <p:cNvSpPr>
            <a:spLocks xmlns:a="http://schemas.openxmlformats.org/drawingml/2006/main" noGrp="1"/>
          </p:cNvSpPr>
          <p:nvPr/>
        </p:nvSpPr>
        <p:spPr>
          <a:xfrm xmlns:a="http://schemas.openxmlformats.org/drawingml/2006/main">
            <a:off x="685800" y="2000250"/>
            <a:ext cx="3810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B89B5E"/>
                </a:solidFill>
                <a:latin typeface="Arial"/>
                <a:ea typeface="Arial"/>
                <a:cs typeface="Arial"/>
              </a:defRPr>
            </a:defPPr>
          </a:lstStyle>
          <a:p xmlns:a="http://schemas.openxmlformats.org/drawingml/2006/main">
            <a:pPr algn="l">
              <a:lnSpc>
                <a:spcPct val="112000"/>
              </a:lnSpc>
              <a:buNone/>
              <a:defRPr sz="2100" b="1">
                <a:solidFill>
                  <a:srgbClr val="B89B5E"/>
                </a:solidFill>
                <a:latin typeface="Arial"/>
                <a:ea typeface="Arial"/>
                <a:cs typeface="Arial"/>
              </a:defRPr>
            </a:pPr>
            <a:r>
              <a:rPr sz="2100" b="1">
                <a:solidFill>
                  <a:srgbClr val="B89B5E"/>
                </a:solidFill>
                <a:latin typeface="Arial"/>
                <a:ea typeface="Arial"/>
                <a:cs typeface="Arial"/>
              </a:rPr>
              <a:t>WORDS ON THE PAGE</a:t>
            </a:r>
          </a:p>
        </p:txBody>
      </p:sp>
      <p:sp>
        <p:nvSpPr>
          <p:cNvPr id="4" name="right-label">
            <a:extLst xmlns:a="http://schemas.openxmlformats.org/drawingml/2006/main">
              <a:ext uri="{FF2B5EF4-FFF2-40B4-BE49-F238E27FC236}">
                <a16:creationId xmlns:a16="http://schemas.microsoft.com/office/drawing/2014/main" id="{A38E6529-AD94-4EE1-BCD1-00047264BCB7}"/>
              </a:ext>
            </a:extLst>
          </p:cNvPr>
          <p:cNvSpPr>
            <a:spLocks xmlns:a="http://schemas.openxmlformats.org/drawingml/2006/main" noGrp="1"/>
          </p:cNvSpPr>
          <p:nvPr/>
        </p:nvSpPr>
        <p:spPr>
          <a:xfrm xmlns:a="http://schemas.openxmlformats.org/drawingml/2006/main">
            <a:off x="5381625" y="2000250"/>
            <a:ext cx="6096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B89B5E"/>
                </a:solidFill>
                <a:latin typeface="Arial"/>
                <a:ea typeface="Arial"/>
                <a:cs typeface="Arial"/>
              </a:defRPr>
            </a:defPPr>
          </a:lstStyle>
          <a:p xmlns:a="http://schemas.openxmlformats.org/drawingml/2006/main">
            <a:pPr algn="l">
              <a:lnSpc>
                <a:spcPct val="112000"/>
              </a:lnSpc>
              <a:buNone/>
              <a:defRPr sz="2100" b="1">
                <a:solidFill>
                  <a:srgbClr val="B89B5E"/>
                </a:solidFill>
                <a:latin typeface="Arial"/>
                <a:ea typeface="Arial"/>
                <a:cs typeface="Arial"/>
              </a:defRPr>
            </a:pPr>
            <a:r>
              <a:rPr sz="2100" b="1">
                <a:solidFill>
                  <a:srgbClr val="B89B5E"/>
                </a:solidFill>
                <a:latin typeface="Arial"/>
                <a:ea typeface="Arial"/>
                <a:cs typeface="Arial"/>
              </a:rPr>
              <a:t>A POSSIBLE READING</a:t>
            </a:r>
          </a:p>
        </p:txBody>
      </p:sp>
      <p:sp>
        <p:nvSpPr>
          <p:cNvPr id="5" name="evidence-0">
            <a:extLst xmlns:a="http://schemas.openxmlformats.org/drawingml/2006/main">
              <a:ext uri="{FF2B5EF4-FFF2-40B4-BE49-F238E27FC236}">
                <a16:creationId xmlns:a16="http://schemas.microsoft.com/office/drawing/2014/main" id="{9EACF49C-CAAE-4D45-8C61-334D7F9D620D}"/>
              </a:ext>
            </a:extLst>
          </p:cNvPr>
          <p:cNvSpPr>
            <a:spLocks xmlns:a="http://schemas.openxmlformats.org/drawingml/2006/main" noGrp="1"/>
          </p:cNvSpPr>
          <p:nvPr/>
        </p:nvSpPr>
        <p:spPr>
          <a:xfrm xmlns:a="http://schemas.openxmlformats.org/drawingml/2006/main">
            <a:off x="685800" y="2647950"/>
            <a:ext cx="42862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00" b="0">
                <a:solidFill>
                  <a:srgbClr val="F2E8D5"/>
                </a:solidFill>
                <a:latin typeface="Arial"/>
                <a:ea typeface="Arial"/>
                <a:cs typeface="Arial"/>
              </a:defRPr>
            </a:defPPr>
          </a:lstStyle>
          <a:p xmlns:a="http://schemas.openxmlformats.org/drawingml/2006/main">
            <a:pPr algn="l">
              <a:lnSpc>
                <a:spcPct val="112000"/>
              </a:lnSpc>
              <a:buNone/>
              <a:defRPr sz="2800" b="0">
                <a:solidFill>
                  <a:srgbClr val="F2E8D5"/>
                </a:solidFill>
                <a:latin typeface="Arial"/>
                <a:ea typeface="Arial"/>
                <a:cs typeface="Arial"/>
              </a:defRPr>
            </a:pPr>
            <a:r>
              <a:rPr sz="2800" b="0">
                <a:solidFill>
                  <a:srgbClr val="F2E8D5"/>
                </a:solidFill>
                <a:latin typeface="Arial"/>
                <a:ea typeface="Arial"/>
                <a:cs typeface="Arial"/>
              </a:rPr>
              <a:t>“She almost smiled.”</a:t>
            </a:r>
          </a:p>
        </p:txBody>
      </p:sp>
      <p:sp>
        <p:nvSpPr>
          <p:cNvPr id="6" name="comment-0">
            <a:extLst xmlns:a="http://schemas.openxmlformats.org/drawingml/2006/main">
              <a:ext uri="{FF2B5EF4-FFF2-40B4-BE49-F238E27FC236}">
                <a16:creationId xmlns:a16="http://schemas.microsoft.com/office/drawing/2014/main" id="{878C787E-B5B3-4AB6-9234-A97ED345A547}"/>
              </a:ext>
            </a:extLst>
          </p:cNvPr>
          <p:cNvSpPr>
            <a:spLocks xmlns:a="http://schemas.openxmlformats.org/drawingml/2006/main" noGrp="1"/>
          </p:cNvSpPr>
          <p:nvPr/>
        </p:nvSpPr>
        <p:spPr>
          <a:xfrm xmlns:a="http://schemas.openxmlformats.org/drawingml/2006/main">
            <a:off x="5381625" y="2647950"/>
            <a:ext cx="6096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600" b="0">
                <a:solidFill>
                  <a:srgbClr val="F2E8D5"/>
                </a:solidFill>
                <a:latin typeface="Arial"/>
                <a:ea typeface="Arial"/>
                <a:cs typeface="Arial"/>
              </a:defRPr>
            </a:defPPr>
          </a:lstStyle>
          <a:p xmlns:a="http://schemas.openxmlformats.org/drawingml/2006/main">
            <a:pPr algn="l">
              <a:lnSpc>
                <a:spcPct val="112000"/>
              </a:lnSpc>
              <a:buNone/>
              <a:defRPr sz="2600" b="0">
                <a:solidFill>
                  <a:srgbClr val="F2E8D5"/>
                </a:solidFill>
                <a:latin typeface="Arial"/>
                <a:ea typeface="Arial"/>
                <a:cs typeface="Arial"/>
              </a:defRPr>
            </a:pPr>
            <a:r>
              <a:rPr sz="2600" b="0">
                <a:solidFill>
                  <a:srgbClr val="F2E8D5"/>
                </a:solidFill>
                <a:latin typeface="Arial"/>
                <a:ea typeface="Arial"/>
                <a:cs typeface="Arial"/>
              </a:rPr>
              <a:t>“Almost” holds the feeling back.</a:t>
            </a:r>
          </a:p>
        </p:txBody>
      </p:sp>
      <p:sp>
        <p:nvSpPr>
          <p:cNvPr id="7" name="rule">
            <a:extLst xmlns:a="http://schemas.openxmlformats.org/drawingml/2006/main">
              <a:ext uri="{FF2B5EF4-FFF2-40B4-BE49-F238E27FC236}">
                <a16:creationId xmlns:a16="http://schemas.microsoft.com/office/drawing/2014/main" id="{A50DC9FD-2FE2-48A4-AD63-557E3B193A3B}"/>
              </a:ext>
            </a:extLst>
          </p:cNvPr>
          <p:cNvSpPr>
            <a:spLocks xmlns:a="http://schemas.openxmlformats.org/drawingml/2006/main" noGrp="1"/>
          </p:cNvSpPr>
          <p:nvPr/>
        </p:nvSpPr>
        <p:spPr>
          <a:xfrm xmlns:a="http://schemas.openxmlformats.org/drawingml/2006/main">
            <a:off x="685800" y="3514725"/>
            <a:ext cx="10820400" cy="19050"/>
          </a:xfrm>
          <a:prstGeom xmlns:a="http://schemas.openxmlformats.org/drawingml/2006/main" prst="rect">
            <a:avLst/>
          </a:prstGeom>
          <a:solidFill xmlns:a="http://schemas.openxmlformats.org/drawingml/2006/main">
            <a:srgbClr val="B89B5E"/>
          </a:solidFill>
          <a:ln xmlns:a="http://schemas.openxmlformats.org/drawingml/2006/main" w="0">
            <a:noFill/>
          </a:ln>
        </p:spPr>
      </p:sp>
      <p:sp>
        <p:nvSpPr>
          <p:cNvPr id="8" name="evidence-1">
            <a:extLst xmlns:a="http://schemas.openxmlformats.org/drawingml/2006/main">
              <a:ext uri="{FF2B5EF4-FFF2-40B4-BE49-F238E27FC236}">
                <a16:creationId xmlns:a16="http://schemas.microsoft.com/office/drawing/2014/main" id="{1FF9201A-418F-466D-901C-5C64F80CB23B}"/>
              </a:ext>
            </a:extLst>
          </p:cNvPr>
          <p:cNvSpPr>
            <a:spLocks xmlns:a="http://schemas.openxmlformats.org/drawingml/2006/main" noGrp="1"/>
          </p:cNvSpPr>
          <p:nvPr/>
        </p:nvSpPr>
        <p:spPr>
          <a:xfrm xmlns:a="http://schemas.openxmlformats.org/drawingml/2006/main">
            <a:off x="685800" y="3695700"/>
            <a:ext cx="42862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00" b="0">
                <a:solidFill>
                  <a:srgbClr val="F2E8D5"/>
                </a:solidFill>
                <a:latin typeface="Arial"/>
                <a:ea typeface="Arial"/>
                <a:cs typeface="Arial"/>
              </a:defRPr>
            </a:defPPr>
          </a:lstStyle>
          <a:p xmlns:a="http://schemas.openxmlformats.org/drawingml/2006/main">
            <a:pPr algn="l">
              <a:lnSpc>
                <a:spcPct val="112000"/>
              </a:lnSpc>
              <a:buNone/>
              <a:defRPr sz="2800" b="0">
                <a:solidFill>
                  <a:srgbClr val="F2E8D5"/>
                </a:solidFill>
                <a:latin typeface="Arial"/>
                <a:ea typeface="Arial"/>
                <a:cs typeface="Arial"/>
              </a:defRPr>
            </a:pPr>
            <a:r>
              <a:rPr sz="2800" b="0">
                <a:solidFill>
                  <a:srgbClr val="F2E8D5"/>
                </a:solidFill>
                <a:latin typeface="Arial"/>
                <a:ea typeface="Arial"/>
                <a:cs typeface="Arial"/>
              </a:rPr>
              <a:t>“He waited again.”</a:t>
            </a:r>
          </a:p>
        </p:txBody>
      </p:sp>
      <p:sp>
        <p:nvSpPr>
          <p:cNvPr id="9" name="comment-1">
            <a:extLst xmlns:a="http://schemas.openxmlformats.org/drawingml/2006/main">
              <a:ext uri="{FF2B5EF4-FFF2-40B4-BE49-F238E27FC236}">
                <a16:creationId xmlns:a16="http://schemas.microsoft.com/office/drawing/2014/main" id="{FF3875D2-0A13-467D-AF06-F5F2E2FFEECD}"/>
              </a:ext>
            </a:extLst>
          </p:cNvPr>
          <p:cNvSpPr>
            <a:spLocks xmlns:a="http://schemas.openxmlformats.org/drawingml/2006/main" noGrp="1"/>
          </p:cNvSpPr>
          <p:nvPr/>
        </p:nvSpPr>
        <p:spPr>
          <a:xfrm xmlns:a="http://schemas.openxmlformats.org/drawingml/2006/main">
            <a:off x="5381625" y="3695700"/>
            <a:ext cx="6096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600" b="0">
                <a:solidFill>
                  <a:srgbClr val="F2E8D5"/>
                </a:solidFill>
                <a:latin typeface="Arial"/>
                <a:ea typeface="Arial"/>
                <a:cs typeface="Arial"/>
              </a:defRPr>
            </a:defPPr>
          </a:lstStyle>
          <a:p xmlns:a="http://schemas.openxmlformats.org/drawingml/2006/main">
            <a:pPr algn="l">
              <a:lnSpc>
                <a:spcPct val="112000"/>
              </a:lnSpc>
              <a:buNone/>
              <a:defRPr sz="2600" b="0">
                <a:solidFill>
                  <a:srgbClr val="F2E8D5"/>
                </a:solidFill>
                <a:latin typeface="Arial"/>
                <a:ea typeface="Arial"/>
                <a:cs typeface="Arial"/>
              </a:defRPr>
            </a:pPr>
            <a:r>
              <a:rPr sz="2600" b="0">
                <a:solidFill>
                  <a:srgbClr val="F2E8D5"/>
                </a:solidFill>
                <a:latin typeface="Arial"/>
                <a:ea typeface="Arial"/>
                <a:cs typeface="Arial"/>
              </a:rPr>
              <a:t>“Again” suggests a history of waiting.</a:t>
            </a:r>
          </a:p>
        </p:txBody>
      </p:sp>
      <p:sp>
        <p:nvSpPr>
          <p:cNvPr id="10" name="rule">
            <a:extLst xmlns:a="http://schemas.openxmlformats.org/drawingml/2006/main">
              <a:ext uri="{FF2B5EF4-FFF2-40B4-BE49-F238E27FC236}">
                <a16:creationId xmlns:a16="http://schemas.microsoft.com/office/drawing/2014/main" id="{18423F1A-0A26-457B-B7F8-E326580408F3}"/>
              </a:ext>
            </a:extLst>
          </p:cNvPr>
          <p:cNvSpPr>
            <a:spLocks xmlns:a="http://schemas.openxmlformats.org/drawingml/2006/main" noGrp="1"/>
          </p:cNvSpPr>
          <p:nvPr/>
        </p:nvSpPr>
        <p:spPr>
          <a:xfrm xmlns:a="http://schemas.openxmlformats.org/drawingml/2006/main">
            <a:off x="685800" y="4562475"/>
            <a:ext cx="10820400" cy="19050"/>
          </a:xfrm>
          <a:prstGeom xmlns:a="http://schemas.openxmlformats.org/drawingml/2006/main" prst="rect">
            <a:avLst/>
          </a:prstGeom>
          <a:solidFill xmlns:a="http://schemas.openxmlformats.org/drawingml/2006/main">
            <a:srgbClr val="B89B5E"/>
          </a:solidFill>
          <a:ln xmlns:a="http://schemas.openxmlformats.org/drawingml/2006/main" w="0">
            <a:noFill/>
          </a:ln>
        </p:spPr>
      </p:sp>
      <p:sp>
        <p:nvSpPr>
          <p:cNvPr id="11" name="evidence-2">
            <a:extLst xmlns:a="http://schemas.openxmlformats.org/drawingml/2006/main">
              <a:ext uri="{FF2B5EF4-FFF2-40B4-BE49-F238E27FC236}">
                <a16:creationId xmlns:a16="http://schemas.microsoft.com/office/drawing/2014/main" id="{83A04C0A-B94B-44F5-BEE9-E7635987A18E}"/>
              </a:ext>
            </a:extLst>
          </p:cNvPr>
          <p:cNvSpPr>
            <a:spLocks xmlns:a="http://schemas.openxmlformats.org/drawingml/2006/main" noGrp="1"/>
          </p:cNvSpPr>
          <p:nvPr/>
        </p:nvSpPr>
        <p:spPr>
          <a:xfrm xmlns:a="http://schemas.openxmlformats.org/drawingml/2006/main">
            <a:off x="685800" y="4743450"/>
            <a:ext cx="42862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00" b="0">
                <a:solidFill>
                  <a:srgbClr val="F2E8D5"/>
                </a:solidFill>
                <a:latin typeface="Arial"/>
                <a:ea typeface="Arial"/>
                <a:cs typeface="Arial"/>
              </a:defRPr>
            </a:defPPr>
          </a:lstStyle>
          <a:p xmlns:a="http://schemas.openxmlformats.org/drawingml/2006/main">
            <a:pPr algn="l">
              <a:lnSpc>
                <a:spcPct val="112000"/>
              </a:lnSpc>
              <a:buNone/>
              <a:defRPr sz="2800" b="0">
                <a:solidFill>
                  <a:srgbClr val="F2E8D5"/>
                </a:solidFill>
                <a:latin typeface="Arial"/>
                <a:ea typeface="Arial"/>
                <a:cs typeface="Arial"/>
              </a:defRPr>
            </a:pPr>
            <a:r>
              <a:rPr sz="2800" b="0">
                <a:solidFill>
                  <a:srgbClr val="F2E8D5"/>
                </a:solidFill>
                <a:latin typeface="Arial"/>
                <a:ea typeface="Arial"/>
                <a:cs typeface="Arial"/>
              </a:rPr>
              <a:t>“Only one cup was warm.”</a:t>
            </a:r>
          </a:p>
        </p:txBody>
      </p:sp>
      <p:sp>
        <p:nvSpPr>
          <p:cNvPr id="12" name="comment-2">
            <a:extLst xmlns:a="http://schemas.openxmlformats.org/drawingml/2006/main">
              <a:ext uri="{FF2B5EF4-FFF2-40B4-BE49-F238E27FC236}">
                <a16:creationId xmlns:a16="http://schemas.microsoft.com/office/drawing/2014/main" id="{92726C85-1DE7-40D9-BCF5-EE283267C42B}"/>
              </a:ext>
            </a:extLst>
          </p:cNvPr>
          <p:cNvSpPr>
            <a:spLocks xmlns:a="http://schemas.openxmlformats.org/drawingml/2006/main" noGrp="1"/>
          </p:cNvSpPr>
          <p:nvPr/>
        </p:nvSpPr>
        <p:spPr>
          <a:xfrm xmlns:a="http://schemas.openxmlformats.org/drawingml/2006/main">
            <a:off x="5381625" y="4743450"/>
            <a:ext cx="6096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600" b="0">
                <a:solidFill>
                  <a:srgbClr val="F2E8D5"/>
                </a:solidFill>
                <a:latin typeface="Arial"/>
                <a:ea typeface="Arial"/>
                <a:cs typeface="Arial"/>
              </a:defRPr>
            </a:defPPr>
          </a:lstStyle>
          <a:p xmlns:a="http://schemas.openxmlformats.org/drawingml/2006/main">
            <a:pPr algn="l">
              <a:lnSpc>
                <a:spcPct val="112000"/>
              </a:lnSpc>
              <a:buNone/>
              <a:defRPr sz="2600" b="0">
                <a:solidFill>
                  <a:srgbClr val="F2E8D5"/>
                </a:solidFill>
                <a:latin typeface="Arial"/>
                <a:ea typeface="Arial"/>
                <a:cs typeface="Arial"/>
              </a:defRPr>
            </a:pPr>
            <a:r>
              <a:rPr sz="2600" b="0">
                <a:solidFill>
                  <a:srgbClr val="F2E8D5"/>
                </a:solidFill>
                <a:latin typeface="Arial"/>
                <a:ea typeface="Arial"/>
                <a:cs typeface="Arial"/>
              </a:rPr>
              <a:t>“Only” makes the missing person matter.</a:t>
            </a:r>
          </a:p>
        </p:txBody>
      </p:sp>
      <p:sp>
        <p:nvSpPr>
          <p:cNvPr id="13" name="template-capacity-guide">
            <a:extLst xmlns:a="http://schemas.openxmlformats.org/drawingml/2006/main">
              <a:ext uri="{FF2B5EF4-FFF2-40B4-BE49-F238E27FC236}">
                <a16:creationId xmlns:a16="http://schemas.microsoft.com/office/drawing/2014/main" id="{17E2EA7B-8CF5-45BD-BD5B-72A7A467F0F3}"/>
              </a:ext>
            </a:extLst>
          </p:cNvPr>
          <p:cNvSpPr>
            <a:spLocks xmlns:a="http://schemas.openxmlformats.org/drawingml/2006/main" noGrp="1"/>
          </p:cNvSpPr>
          <p:nvPr/>
        </p:nvSpPr>
        <p:spPr>
          <a:xfrm xmlns:a="http://schemas.openxmlformats.org/drawingml/2006/main">
            <a:off x="685800" y="6343650"/>
            <a:ext cx="108204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00" b="0">
                <a:solidFill>
                  <a:srgbClr val="B89B5E"/>
                </a:solidFill>
                <a:latin typeface="Arial"/>
                <a:ea typeface="Arial"/>
                <a:cs typeface="Arial"/>
              </a:defRPr>
            </a:defPPr>
          </a:lstStyle>
          <a:p xmlns:a="http://schemas.openxmlformats.org/drawingml/2006/main">
            <a:pPr algn="l">
              <a:lnSpc>
                <a:spcPct val="112000"/>
              </a:lnSpc>
              <a:buNone/>
              <a:defRPr sz="1600" b="0">
                <a:solidFill>
                  <a:srgbClr val="B89B5E"/>
                </a:solidFill>
                <a:latin typeface="Arial"/>
                <a:ea typeface="Arial"/>
                <a:cs typeface="Arial"/>
              </a:defRPr>
            </a:pPr>
            <a:r>
              <a:rPr sz="1600" b="0">
                <a:solidFill>
                  <a:srgbClr val="B89B5E"/>
                </a:solidFill>
                <a:latin typeface="Arial"/>
                <a:ea typeface="Arial"/>
                <a:cs typeface="Arial"/>
              </a:rPr>
              <a:t>Example: three excerpts of 3–5 words with one comment each</a:t>
            </a:r>
          </a:p>
        </p:txBody>
      </p:sp>
    </p:spTree>
    <p:extLst>
      <p:ext uri="{BB962C8B-B14F-4D97-AF65-F5344CB8AC3E}">
        <p14:creationId xmlns:p14="http://schemas.microsoft.com/office/powerpoint/2010/main" val="263566002"/>
      </p:ext>
    </p:extLst>
  </p:cSld>
</p:sld>
</file>

<file path=ppt/slides/slide5.xml><?xml version="1.0" encoding="utf-8"?>
<p:sld xmlns:p="http://schemas.openxmlformats.org/presentationml/2006/main">
  <p:cSld>
    <p:bg>
      <p:bgPr>
        <a:solidFill xmlns:a="http://schemas.openxmlformats.org/drawingml/2006/main">
          <a:srgbClr val="211B16"/>
        </a:solidFill>
      </p:bgPr>
    </p:bg>
    <p:spTree>
      <p:nvGrpSpPr>
        <p:cNvPr id="1" name=""/>
        <p:cNvGrpSpPr/>
        <p:nvPr/>
      </p:nvGrpSpPr>
      <p:grpSpPr>
        <a:xfrm xmlns:a="http://schemas.openxmlformats.org/drawingml/2006/main"/>
      </p:grpSpPr>
      <p:sp>
        <p:nvSpPr>
          <p:cNvPr id="10" name="template-label">
            <a:extLst xmlns:a="http://schemas.openxmlformats.org/drawingml/2006/main">
              <a:ext uri="{FF2B5EF4-FFF2-40B4-BE49-F238E27FC236}">
                <a16:creationId xmlns:a16="http://schemas.microsoft.com/office/drawing/2014/main" id="{28554303-2D01-4BBB-A36F-6550CE064542}"/>
              </a:ext>
            </a:extLst>
          </p:cNvPr>
          <p:cNvSpPr>
            <a:spLocks xmlns:a="http://schemas.openxmlformats.org/drawingml/2006/main" noGrp="1"/>
          </p:cNvSpPr>
          <p:nvPr/>
        </p:nvSpPr>
        <p:spPr>
          <a:xfrm xmlns:a="http://schemas.openxmlformats.org/drawingml/2006/main">
            <a:off x="685800" y="285750"/>
            <a:ext cx="10820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00" b="1">
                <a:solidFill>
                  <a:srgbClr val="B89B5E"/>
                </a:solidFill>
                <a:latin typeface="Arial"/>
                <a:ea typeface="Arial"/>
                <a:cs typeface="Arial"/>
              </a:defRPr>
            </a:defPPr>
          </a:lstStyle>
          <a:p xmlns:a="http://schemas.openxmlformats.org/drawingml/2006/main">
            <a:pPr algn="l">
              <a:lnSpc>
                <a:spcPct val="112000"/>
              </a:lnSpc>
              <a:buNone/>
              <a:defRPr sz="1700" b="1">
                <a:solidFill>
                  <a:srgbClr val="B89B5E"/>
                </a:solidFill>
                <a:latin typeface="Arial"/>
                <a:ea typeface="Arial"/>
                <a:cs typeface="Arial"/>
              </a:defRPr>
            </a:pPr>
            <a:r>
              <a:rPr sz="1700" b="1">
                <a:solidFill>
                  <a:srgbClr val="B89B5E"/>
                </a:solidFill>
                <a:latin typeface="Arial"/>
                <a:ea typeface="Arial"/>
                <a:cs typeface="Arial"/>
              </a:rPr>
              <a:t>05  VOCABULARY / ONE TERM IN DEPTH</a:t>
            </a:r>
          </a:p>
        </p:txBody>
      </p:sp>
      <p:sp>
        <p:nvSpPr>
          <p:cNvPr id="2" name="heading">
            <a:extLst xmlns:a="http://schemas.openxmlformats.org/drawingml/2006/main">
              <a:ext uri="{FF2B5EF4-FFF2-40B4-BE49-F238E27FC236}">
                <a16:creationId xmlns:a16="http://schemas.microsoft.com/office/drawing/2014/main" id="{769A920F-1342-46FE-9362-886B09CBF61C}"/>
              </a:ext>
            </a:extLst>
          </p:cNvPr>
          <p:cNvSpPr>
            <a:spLocks xmlns:a="http://schemas.openxmlformats.org/drawingml/2006/main" noGrp="1"/>
          </p:cNvSpPr>
          <p:nvPr/>
        </p:nvSpPr>
        <p:spPr>
          <a:xfrm xmlns:a="http://schemas.openxmlformats.org/drawingml/2006/main">
            <a:off x="685800" y="83820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800" b="1">
                <a:solidFill>
                  <a:srgbClr val="F2E8D5"/>
                </a:solidFill>
                <a:latin typeface="Georgia"/>
                <a:ea typeface="Georgia"/>
                <a:cs typeface="Georgia"/>
              </a:defRPr>
            </a:defPPr>
          </a:lstStyle>
          <a:p xmlns:a="http://schemas.openxmlformats.org/drawingml/2006/main">
            <a:pPr algn="l">
              <a:lnSpc>
                <a:spcPct val="112000"/>
              </a:lnSpc>
              <a:buNone/>
              <a:defRPr sz="3800" b="1">
                <a:solidFill>
                  <a:srgbClr val="F2E8D5"/>
                </a:solidFill>
                <a:latin typeface="Georgia"/>
                <a:ea typeface="Georgia"/>
                <a:cs typeface="Georgia"/>
              </a:defRPr>
            </a:pPr>
            <a:r>
              <a:rPr sz="3800" b="1">
                <a:solidFill>
                  <a:srgbClr val="F2E8D5"/>
                </a:solidFill>
                <a:latin typeface="Georgia"/>
                <a:ea typeface="Georgia"/>
                <a:cs typeface="Georgia"/>
              </a:rPr>
              <a:t>A word for mixed feelings</a:t>
            </a:r>
          </a:p>
        </p:txBody>
      </p:sp>
      <p:sp>
        <p:nvSpPr>
          <p:cNvPr id="3" name="term">
            <a:extLst xmlns:a="http://schemas.openxmlformats.org/drawingml/2006/main">
              <a:ext uri="{FF2B5EF4-FFF2-40B4-BE49-F238E27FC236}">
                <a16:creationId xmlns:a16="http://schemas.microsoft.com/office/drawing/2014/main" id="{767F20CC-80D2-44B9-8948-92EBAD29D69C}"/>
              </a:ext>
            </a:extLst>
          </p:cNvPr>
          <p:cNvSpPr>
            <a:spLocks xmlns:a="http://schemas.openxmlformats.org/drawingml/2006/main" noGrp="1"/>
          </p:cNvSpPr>
          <p:nvPr/>
        </p:nvSpPr>
        <p:spPr>
          <a:xfrm xmlns:a="http://schemas.openxmlformats.org/drawingml/2006/main">
            <a:off x="685800" y="2162175"/>
            <a:ext cx="56197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5200" b="1">
                <a:solidFill>
                  <a:srgbClr val="F2E8D5"/>
                </a:solidFill>
                <a:latin typeface="Georgia"/>
                <a:ea typeface="Georgia"/>
                <a:cs typeface="Georgia"/>
              </a:defRPr>
            </a:defPPr>
          </a:lstStyle>
          <a:p xmlns:a="http://schemas.openxmlformats.org/drawingml/2006/main">
            <a:pPr algn="l">
              <a:lnSpc>
                <a:spcPct val="112000"/>
              </a:lnSpc>
              <a:buNone/>
              <a:defRPr sz="5200" b="1">
                <a:solidFill>
                  <a:srgbClr val="F2E8D5"/>
                </a:solidFill>
                <a:latin typeface="Georgia"/>
                <a:ea typeface="Georgia"/>
                <a:cs typeface="Georgia"/>
              </a:defRPr>
            </a:pPr>
            <a:r>
              <a:rPr sz="5200" b="1">
                <a:solidFill>
                  <a:srgbClr val="F2E8D5"/>
                </a:solidFill>
                <a:latin typeface="Georgia"/>
                <a:ea typeface="Georgia"/>
                <a:cs typeface="Georgia"/>
              </a:rPr>
              <a:t>Ambivalent</a:t>
            </a:r>
          </a:p>
        </p:txBody>
      </p:sp>
      <p:sp>
        <p:nvSpPr>
          <p:cNvPr id="4" name="part-of-speech">
            <a:extLst xmlns:a="http://schemas.openxmlformats.org/drawingml/2006/main">
              <a:ext uri="{FF2B5EF4-FFF2-40B4-BE49-F238E27FC236}">
                <a16:creationId xmlns:a16="http://schemas.microsoft.com/office/drawing/2014/main" id="{4C4B3D1F-1C67-40EF-90AF-6BCF027B05AE}"/>
              </a:ext>
            </a:extLst>
          </p:cNvPr>
          <p:cNvSpPr>
            <a:spLocks xmlns:a="http://schemas.openxmlformats.org/drawingml/2006/main" noGrp="1"/>
          </p:cNvSpPr>
          <p:nvPr/>
        </p:nvSpPr>
        <p:spPr>
          <a:xfrm xmlns:a="http://schemas.openxmlformats.org/drawingml/2006/main">
            <a:off x="714375" y="3209925"/>
            <a:ext cx="4762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B89B5E"/>
                </a:solidFill>
                <a:latin typeface="Arial"/>
                <a:ea typeface="Arial"/>
                <a:cs typeface="Arial"/>
              </a:defRPr>
            </a:defPPr>
          </a:lstStyle>
          <a:p xmlns:a="http://schemas.openxmlformats.org/drawingml/2006/main">
            <a:pPr algn="l">
              <a:lnSpc>
                <a:spcPct val="112000"/>
              </a:lnSpc>
              <a:buNone/>
              <a:defRPr sz="2400" b="0">
                <a:solidFill>
                  <a:srgbClr val="B89B5E"/>
                </a:solidFill>
                <a:latin typeface="Arial"/>
                <a:ea typeface="Arial"/>
                <a:cs typeface="Arial"/>
              </a:defRPr>
            </a:pPr>
            <a:r>
              <a:rPr sz="2400" b="0">
                <a:solidFill>
                  <a:srgbClr val="B89B5E"/>
                </a:solidFill>
                <a:latin typeface="Arial"/>
                <a:ea typeface="Arial"/>
                <a:cs typeface="Arial"/>
              </a:rPr>
              <a:t>adjective</a:t>
            </a:r>
          </a:p>
        </p:txBody>
      </p:sp>
      <p:sp>
        <p:nvSpPr>
          <p:cNvPr id="5" name="definition">
            <a:extLst xmlns:a="http://schemas.openxmlformats.org/drawingml/2006/main">
              <a:ext uri="{FF2B5EF4-FFF2-40B4-BE49-F238E27FC236}">
                <a16:creationId xmlns:a16="http://schemas.microsoft.com/office/drawing/2014/main" id="{F0074F36-26F0-4315-A9E5-AC5208675536}"/>
              </a:ext>
            </a:extLst>
          </p:cNvPr>
          <p:cNvSpPr>
            <a:spLocks xmlns:a="http://schemas.openxmlformats.org/drawingml/2006/main" noGrp="1"/>
          </p:cNvSpPr>
          <p:nvPr/>
        </p:nvSpPr>
        <p:spPr>
          <a:xfrm xmlns:a="http://schemas.openxmlformats.org/drawingml/2006/main">
            <a:off x="6858000" y="2286000"/>
            <a:ext cx="447675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00" b="0">
                <a:solidFill>
                  <a:srgbClr val="F2E8D5"/>
                </a:solidFill>
                <a:latin typeface="Arial"/>
                <a:ea typeface="Arial"/>
                <a:cs typeface="Arial"/>
              </a:defRPr>
            </a:defPPr>
          </a:lstStyle>
          <a:p xmlns:a="http://schemas.openxmlformats.org/drawingml/2006/main">
            <a:pPr algn="l">
              <a:lnSpc>
                <a:spcPct val="112000"/>
              </a:lnSpc>
              <a:buNone/>
              <a:defRPr sz="2800" b="0">
                <a:solidFill>
                  <a:srgbClr val="F2E8D5"/>
                </a:solidFill>
                <a:latin typeface="Arial"/>
                <a:ea typeface="Arial"/>
                <a:cs typeface="Arial"/>
              </a:defRPr>
            </a:pPr>
            <a:r>
              <a:rPr sz="2800" b="0">
                <a:solidFill>
                  <a:srgbClr val="F2E8D5"/>
                </a:solidFill>
                <a:latin typeface="Arial"/>
                <a:ea typeface="Arial"/>
                <a:cs typeface="Arial"/>
              </a:rPr>
              <a:t>Having both positive and negative feelings about something.</a:t>
            </a:r>
          </a:p>
        </p:txBody>
      </p:sp>
      <p:sp>
        <p:nvSpPr>
          <p:cNvPr id="6" name="rule">
            <a:extLst xmlns:a="http://schemas.openxmlformats.org/drawingml/2006/main">
              <a:ext uri="{FF2B5EF4-FFF2-40B4-BE49-F238E27FC236}">
                <a16:creationId xmlns:a16="http://schemas.microsoft.com/office/drawing/2014/main" id="{67FA2027-8537-4A6F-AACB-34B907FF9F3B}"/>
              </a:ext>
            </a:extLst>
          </p:cNvPr>
          <p:cNvSpPr>
            <a:spLocks xmlns:a="http://schemas.openxmlformats.org/drawingml/2006/main" noGrp="1"/>
          </p:cNvSpPr>
          <p:nvPr/>
        </p:nvSpPr>
        <p:spPr>
          <a:xfrm xmlns:a="http://schemas.openxmlformats.org/drawingml/2006/main">
            <a:off x="685800" y="4229100"/>
            <a:ext cx="10820400" cy="19050"/>
          </a:xfrm>
          <a:prstGeom xmlns:a="http://schemas.openxmlformats.org/drawingml/2006/main" prst="rect">
            <a:avLst/>
          </a:prstGeom>
          <a:solidFill xmlns:a="http://schemas.openxmlformats.org/drawingml/2006/main">
            <a:srgbClr val="B89B5E"/>
          </a:solidFill>
          <a:ln xmlns:a="http://schemas.openxmlformats.org/drawingml/2006/main" w="0">
            <a:noFill/>
          </a:ln>
        </p:spPr>
      </p:sp>
      <p:sp>
        <p:nvSpPr>
          <p:cNvPr id="7" name="example">
            <a:extLst xmlns:a="http://schemas.openxmlformats.org/drawingml/2006/main">
              <a:ext uri="{FF2B5EF4-FFF2-40B4-BE49-F238E27FC236}">
                <a16:creationId xmlns:a16="http://schemas.microsoft.com/office/drawing/2014/main" id="{4BFCACFF-D654-4DAD-A7F1-DF6A4C0B5281}"/>
              </a:ext>
            </a:extLst>
          </p:cNvPr>
          <p:cNvSpPr>
            <a:spLocks xmlns:a="http://schemas.openxmlformats.org/drawingml/2006/main" noGrp="1"/>
          </p:cNvSpPr>
          <p:nvPr/>
        </p:nvSpPr>
        <p:spPr>
          <a:xfrm xmlns:a="http://schemas.openxmlformats.org/drawingml/2006/main">
            <a:off x="685800" y="4486275"/>
            <a:ext cx="108204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00" b="0">
                <a:solidFill>
                  <a:srgbClr val="F2E8D5"/>
                </a:solidFill>
                <a:latin typeface="Arial"/>
                <a:ea typeface="Arial"/>
                <a:cs typeface="Arial"/>
              </a:defRPr>
            </a:defPPr>
          </a:lstStyle>
          <a:p xmlns:a="http://schemas.openxmlformats.org/drawingml/2006/main">
            <a:pPr algn="l">
              <a:lnSpc>
                <a:spcPct val="112000"/>
              </a:lnSpc>
              <a:buNone/>
              <a:defRPr sz="2800" b="0">
                <a:solidFill>
                  <a:srgbClr val="F2E8D5"/>
                </a:solidFill>
                <a:latin typeface="Arial"/>
                <a:ea typeface="Arial"/>
                <a:cs typeface="Arial"/>
              </a:defRPr>
            </a:pPr>
            <a:r>
              <a:rPr sz="2800" b="0">
                <a:solidFill>
                  <a:srgbClr val="F2E8D5"/>
                </a:solidFill>
                <a:latin typeface="Arial"/>
                <a:ea typeface="Arial"/>
                <a:cs typeface="Arial"/>
              </a:rPr>
              <a:t>“I wanted to leave, but I hoped someone would ask me to stay.”</a:t>
            </a:r>
          </a:p>
        </p:txBody>
      </p:sp>
      <p:sp>
        <p:nvSpPr>
          <p:cNvPr id="8" name="application">
            <a:extLst xmlns:a="http://schemas.openxmlformats.org/drawingml/2006/main">
              <a:ext uri="{FF2B5EF4-FFF2-40B4-BE49-F238E27FC236}">
                <a16:creationId xmlns:a16="http://schemas.microsoft.com/office/drawing/2014/main" id="{7212584B-DCFE-42CE-AC29-D2A404EAD37B}"/>
              </a:ext>
            </a:extLst>
          </p:cNvPr>
          <p:cNvSpPr>
            <a:spLocks xmlns:a="http://schemas.openxmlformats.org/drawingml/2006/main" noGrp="1"/>
          </p:cNvSpPr>
          <p:nvPr/>
        </p:nvSpPr>
        <p:spPr>
          <a:xfrm xmlns:a="http://schemas.openxmlformats.org/drawingml/2006/main">
            <a:off x="685800" y="5638800"/>
            <a:ext cx="10820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00" b="1">
                <a:solidFill>
                  <a:srgbClr val="F2E8D5"/>
                </a:solidFill>
                <a:latin typeface="Arial"/>
                <a:ea typeface="Arial"/>
                <a:cs typeface="Arial"/>
              </a:defRPr>
            </a:defPPr>
          </a:lstStyle>
          <a:p xmlns:a="http://schemas.openxmlformats.org/drawingml/2006/main">
            <a:pPr algn="l">
              <a:lnSpc>
                <a:spcPct val="112000"/>
              </a:lnSpc>
              <a:buNone/>
              <a:defRPr sz="2500" b="1">
                <a:solidFill>
                  <a:srgbClr val="F2E8D5"/>
                </a:solidFill>
                <a:latin typeface="Arial"/>
                <a:ea typeface="Arial"/>
                <a:cs typeface="Arial"/>
              </a:defRPr>
            </a:pPr>
            <a:r>
              <a:rPr sz="2500" b="1">
                <a:solidFill>
                  <a:srgbClr val="F2E8D5"/>
                </a:solidFill>
                <a:latin typeface="Arial"/>
                <a:ea typeface="Arial"/>
                <a:cs typeface="Arial"/>
              </a:rPr>
              <a:t>Name a choice that could make a character feel ambivalent.</a:t>
            </a:r>
          </a:p>
        </p:txBody>
      </p:sp>
      <p:sp>
        <p:nvSpPr>
          <p:cNvPr id="9" name="template-capacity-guide">
            <a:extLst xmlns:a="http://schemas.openxmlformats.org/drawingml/2006/main">
              <a:ext uri="{FF2B5EF4-FFF2-40B4-BE49-F238E27FC236}">
                <a16:creationId xmlns:a16="http://schemas.microsoft.com/office/drawing/2014/main" id="{CDA49AB5-F473-4FB3-AA4E-DF3BC9C6B9A5}"/>
              </a:ext>
            </a:extLst>
          </p:cNvPr>
          <p:cNvSpPr>
            <a:spLocks xmlns:a="http://schemas.openxmlformats.org/drawingml/2006/main" noGrp="1"/>
          </p:cNvSpPr>
          <p:nvPr/>
        </p:nvSpPr>
        <p:spPr>
          <a:xfrm xmlns:a="http://schemas.openxmlformats.org/drawingml/2006/main">
            <a:off x="685800" y="6343650"/>
            <a:ext cx="108204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00" b="0">
                <a:solidFill>
                  <a:srgbClr val="B89B5E"/>
                </a:solidFill>
                <a:latin typeface="Arial"/>
                <a:ea typeface="Arial"/>
                <a:cs typeface="Arial"/>
              </a:defRPr>
            </a:defPPr>
          </a:lstStyle>
          <a:p xmlns:a="http://schemas.openxmlformats.org/drawingml/2006/main">
            <a:pPr algn="l">
              <a:lnSpc>
                <a:spcPct val="112000"/>
              </a:lnSpc>
              <a:buNone/>
              <a:defRPr sz="1600" b="0">
                <a:solidFill>
                  <a:srgbClr val="B89B5E"/>
                </a:solidFill>
                <a:latin typeface="Arial"/>
                <a:ea typeface="Arial"/>
                <a:cs typeface="Arial"/>
              </a:defRPr>
            </a:pPr>
            <a:r>
              <a:rPr sz="1600" b="0">
                <a:solidFill>
                  <a:srgbClr val="B89B5E"/>
                </a:solidFill>
                <a:latin typeface="Arial"/>
                <a:ea typeface="Arial"/>
                <a:cs typeface="Arial"/>
              </a:rPr>
              <a:t>Example: one term, a brief definition and a context sentence</a:t>
            </a:r>
          </a:p>
        </p:txBody>
      </p:sp>
    </p:spTree>
    <p:extLst>
      <p:ext uri="{BB962C8B-B14F-4D97-AF65-F5344CB8AC3E}">
        <p14:creationId xmlns:p14="http://schemas.microsoft.com/office/powerpoint/2010/main" val="1893372612"/>
      </p:ext>
    </p:extLst>
  </p:cSld>
</p:sld>
</file>

<file path=ppt/slides/slide6.xml><?xml version="1.0" encoding="utf-8"?>
<p:sld xmlns:p="http://schemas.openxmlformats.org/presentationml/2006/main">
  <p:cSld>
    <p:bg>
      <p:bgPr>
        <a:solidFill xmlns:a="http://schemas.openxmlformats.org/drawingml/2006/main">
          <a:srgbClr val="E9D8B6"/>
        </a:solidFill>
      </p:bgPr>
    </p:bg>
    <p:spTree>
      <p:nvGrpSpPr>
        <p:cNvPr id="1" name=""/>
        <p:cNvGrpSpPr/>
        <p:nvPr/>
      </p:nvGrpSpPr>
      <p:grpSpPr>
        <a:xfrm xmlns:a="http://schemas.openxmlformats.org/drawingml/2006/main"/>
      </p:grpSpPr>
      <p:sp>
        <p:nvSpPr>
          <p:cNvPr id="6" name="template-label">
            <a:extLst xmlns:a="http://schemas.openxmlformats.org/drawingml/2006/main">
              <a:ext uri="{FF2B5EF4-FFF2-40B4-BE49-F238E27FC236}">
                <a16:creationId xmlns:a16="http://schemas.microsoft.com/office/drawing/2014/main" id="{75924E4D-B999-4246-AB9B-8DA805ADF1CE}"/>
              </a:ext>
            </a:extLst>
          </p:cNvPr>
          <p:cNvSpPr>
            <a:spLocks xmlns:a="http://schemas.openxmlformats.org/drawingml/2006/main" noGrp="1"/>
          </p:cNvSpPr>
          <p:nvPr/>
        </p:nvSpPr>
        <p:spPr>
          <a:xfrm xmlns:a="http://schemas.openxmlformats.org/drawingml/2006/main">
            <a:off x="685800" y="285750"/>
            <a:ext cx="10820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00" b="1">
                <a:solidFill>
                  <a:srgbClr val="5C2230"/>
                </a:solidFill>
                <a:latin typeface="Arial"/>
                <a:ea typeface="Arial"/>
                <a:cs typeface="Arial"/>
              </a:defRPr>
            </a:defPPr>
          </a:lstStyle>
          <a:p xmlns:a="http://schemas.openxmlformats.org/drawingml/2006/main">
            <a:pPr algn="l">
              <a:lnSpc>
                <a:spcPct val="112000"/>
              </a:lnSpc>
              <a:buNone/>
              <a:defRPr sz="1700" b="1">
                <a:solidFill>
                  <a:srgbClr val="5C2230"/>
                </a:solidFill>
                <a:latin typeface="Arial"/>
                <a:ea typeface="Arial"/>
                <a:cs typeface="Arial"/>
              </a:defRPr>
            </a:pPr>
            <a:r>
              <a:rPr sz="1700" b="1">
                <a:solidFill>
                  <a:srgbClr val="5C2230"/>
                </a:solidFill>
                <a:latin typeface="Arial"/>
                <a:ea typeface="Arial"/>
                <a:cs typeface="Arial"/>
              </a:rPr>
              <a:t>06  VOCABULARY / TERMS IN CONTEXT</a:t>
            </a:r>
          </a:p>
        </p:txBody>
      </p:sp>
      <p:sp>
        <p:nvSpPr>
          <p:cNvPr id="2" name="heading">
            <a:extLst xmlns:a="http://schemas.openxmlformats.org/drawingml/2006/main">
              <a:ext uri="{FF2B5EF4-FFF2-40B4-BE49-F238E27FC236}">
                <a16:creationId xmlns:a16="http://schemas.microsoft.com/office/drawing/2014/main" id="{BE317FC7-2587-480E-8904-49D379A5D499}"/>
              </a:ext>
            </a:extLst>
          </p:cNvPr>
          <p:cNvSpPr>
            <a:spLocks xmlns:a="http://schemas.openxmlformats.org/drawingml/2006/main" noGrp="1"/>
          </p:cNvSpPr>
          <p:nvPr/>
        </p:nvSpPr>
        <p:spPr>
          <a:xfrm xmlns:a="http://schemas.openxmlformats.org/drawingml/2006/main">
            <a:off x="685800" y="83820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800" b="1">
                <a:solidFill>
                  <a:srgbClr val="211B16"/>
                </a:solidFill>
                <a:latin typeface="Georgia"/>
                <a:ea typeface="Georgia"/>
                <a:cs typeface="Georgia"/>
              </a:defRPr>
            </a:defPPr>
          </a:lstStyle>
          <a:p xmlns:a="http://schemas.openxmlformats.org/drawingml/2006/main">
            <a:pPr algn="l">
              <a:lnSpc>
                <a:spcPct val="112000"/>
              </a:lnSpc>
              <a:buNone/>
              <a:defRPr sz="3800" b="1">
                <a:solidFill>
                  <a:srgbClr val="211B16"/>
                </a:solidFill>
                <a:latin typeface="Georgia"/>
                <a:ea typeface="Georgia"/>
                <a:cs typeface="Georgia"/>
              </a:defRPr>
            </a:pPr>
            <a:r>
              <a:rPr sz="3800" b="1">
                <a:solidFill>
                  <a:srgbClr val="211B16"/>
                </a:solidFill>
                <a:latin typeface="Georgia"/>
                <a:ea typeface="Georgia"/>
                <a:cs typeface="Georgia"/>
              </a:rPr>
              <a:t>Words for discussing a text</a:t>
            </a:r>
          </a:p>
        </p:txBody>
      </p:sp>
      <p:graphicFrame>
        <p:nvGraphicFramePr>
          <p:cNvPr id="3" name="">
            <a:extLst xmlns:a="http://schemas.openxmlformats.org/drawingml/2006/main">
              <a:ext uri="{FF2B5EF4-FFF2-40B4-BE49-F238E27FC236}">
                <a16:creationId xmlns:a16="http://schemas.microsoft.com/office/drawing/2014/main" id="{8265E900-8046-4D20-8456-C68D6A9BB9E3}"/>
              </a:ext>
            </a:extLst>
          </p:cNvPr>
          <p:cNvGraphicFramePr/>
          <p:nvPr/>
        </p:nvGraphicFramePr>
        <p:xfrm>
          <a:off xmlns:a="http://schemas.openxmlformats.org/drawingml/2006/main" x="685800" y="2019300"/>
          <a:ext xmlns:a="http://schemas.openxmlformats.org/drawingml/2006/main" cx="10820400" cy="3448050"/>
        </p:xfrm>
        <a:graphic xmlns:a="http://schemas.openxmlformats.org/drawingml/2006/main">
          <a:graphicData uri="http://schemas.openxmlformats.org/drawingml/2006/table">
            <a:tbl>
              <a:tblPr firstRow="1" bandRow="0"/>
              <a:tblGrid>
                <a:gridCol w="2095500"/>
                <a:gridCol w="3771900"/>
                <a:gridCol w="4953000"/>
              </a:tblGrid>
              <a:tr h="590550">
                <a:tc>
                  <a:txBody>
                    <a:bodyPr lIns="152400" tIns="85725" rIns="152400" bIns="85725">
                      <a:noAutofit/>
                    </a:bodyPr>
                    <a:lstStyle/>
                    <a:p>
                      <a:pPr algn="l">
                        <a:lnSpc>
                          <a:spcPct val="108000"/>
                        </a:lnSpc>
                        <a:buNone/>
                      </a:pPr>
                      <a:r>
                        <a:rPr sz="2200" b="1">
                          <a:solidFill>
                            <a:srgbClr val="F2E8D5"/>
                          </a:solidFill>
                          <a:latin typeface="Arial"/>
                          <a:ea typeface="Arial"/>
                          <a:cs typeface="Arial"/>
                        </a:rPr>
                        <a:t>Term</a:t>
                      </a:r>
                    </a:p>
                  </a:txBody>
                  <a:tcPr marL="91440" marR="91440" marT="45720" marB="45720" anchor="ctr">
                    <a:solidFill>
                      <a:srgbClr val="5C2230"/>
                    </a:solidFill>
                  </a:tcPr>
                </a:tc>
                <a:tc>
                  <a:txBody>
                    <a:bodyPr lIns="152400" tIns="85725" rIns="152400" bIns="85725">
                      <a:noAutofit/>
                    </a:bodyPr>
                    <a:lstStyle/>
                    <a:p>
                      <a:pPr algn="l">
                        <a:lnSpc>
                          <a:spcPct val="108000"/>
                        </a:lnSpc>
                        <a:buNone/>
                      </a:pPr>
                      <a:r>
                        <a:rPr sz="2200" b="1">
                          <a:solidFill>
                            <a:srgbClr val="F2E8D5"/>
                          </a:solidFill>
                          <a:latin typeface="Arial"/>
                          <a:ea typeface="Arial"/>
                          <a:cs typeface="Arial"/>
                        </a:rPr>
                        <a:t>Meaning</a:t>
                      </a:r>
                    </a:p>
                  </a:txBody>
                  <a:tcPr marL="91440" marR="91440" marT="45720" marB="45720" anchor="ctr">
                    <a:solidFill>
                      <a:srgbClr val="5C2230"/>
                    </a:solidFill>
                  </a:tcPr>
                </a:tc>
                <a:tc>
                  <a:txBody>
                    <a:bodyPr lIns="152400" tIns="85725" rIns="152400" bIns="85725">
                      <a:noAutofit/>
                    </a:bodyPr>
                    <a:lstStyle/>
                    <a:p>
                      <a:pPr algn="l">
                        <a:lnSpc>
                          <a:spcPct val="108000"/>
                        </a:lnSpc>
                        <a:buNone/>
                      </a:pPr>
                      <a:r>
                        <a:rPr sz="2200" b="1">
                          <a:solidFill>
                            <a:srgbClr val="F2E8D5"/>
                          </a:solidFill>
                          <a:latin typeface="Arial"/>
                          <a:ea typeface="Arial"/>
                          <a:cs typeface="Arial"/>
                        </a:rPr>
                        <a:t>Example in context</a:t>
                      </a:r>
                    </a:p>
                  </a:txBody>
                  <a:tcPr marL="91440" marR="91440" marT="45720" marB="45720" anchor="ctr">
                    <a:solidFill>
                      <a:srgbClr val="5C2230"/>
                    </a:solidFill>
                  </a:tcPr>
                </a:tc>
              </a:tr>
              <a:tr h="952500">
                <a:tc>
                  <a:txBody>
                    <a:bodyPr lIns="152400" tIns="85725" rIns="152400" bIns="85725">
                      <a:noAutofit/>
                    </a:bodyPr>
                    <a:lstStyle/>
                    <a:p>
                      <a:pPr algn="l">
                        <a:lnSpc>
                          <a:spcPct val="108000"/>
                        </a:lnSpc>
                        <a:buNone/>
                      </a:pPr>
                      <a:r>
                        <a:rPr sz="2400" b="1">
                          <a:solidFill>
                            <a:srgbClr val="211B16"/>
                          </a:solidFill>
                          <a:latin typeface="Arial"/>
                          <a:ea typeface="Arial"/>
                          <a:cs typeface="Arial"/>
                        </a:rPr>
                        <a:t>Tone</a:t>
                      </a:r>
                    </a:p>
                  </a:txBody>
                  <a:tcPr marL="91440" marR="91440" marT="45720" marB="45720" anchor="ctr">
                    <a:solidFill>
                      <a:srgbClr val="F2E8D5"/>
                    </a:solidFill>
                  </a:tcPr>
                </a:tc>
                <a:tc>
                  <a:txBody>
                    <a:bodyPr lIns="152400" tIns="85725" rIns="152400" bIns="85725">
                      <a:noAutofit/>
                    </a:bodyPr>
                    <a:lstStyle/>
                    <a:p>
                      <a:pPr algn="l">
                        <a:lnSpc>
                          <a:spcPct val="108000"/>
                        </a:lnSpc>
                        <a:buNone/>
                      </a:pPr>
                      <a:r>
                        <a:rPr sz="2400" b="0">
                          <a:solidFill>
                            <a:srgbClr val="211B16"/>
                          </a:solidFill>
                          <a:latin typeface="Arial"/>
                          <a:ea typeface="Arial"/>
                          <a:cs typeface="Arial"/>
                        </a:rPr>
                        <a:t>The attitude suggested by the wording.</a:t>
                      </a:r>
                    </a:p>
                  </a:txBody>
                  <a:tcPr marL="91440" marR="91440" marT="45720" marB="45720" anchor="ctr">
                    <a:solidFill>
                      <a:srgbClr val="F2E8D5"/>
                    </a:solidFill>
                  </a:tcPr>
                </a:tc>
                <a:tc>
                  <a:txBody>
                    <a:bodyPr lIns="152400" tIns="85725" rIns="152400" bIns="85725">
                      <a:noAutofit/>
                    </a:bodyPr>
                    <a:lstStyle/>
                    <a:p>
                      <a:pPr algn="l">
                        <a:lnSpc>
                          <a:spcPct val="108000"/>
                        </a:lnSpc>
                        <a:buNone/>
                      </a:pPr>
                      <a:r>
                        <a:rPr sz="2400" b="0">
                          <a:solidFill>
                            <a:srgbClr val="211B16"/>
                          </a:solidFill>
                          <a:latin typeface="Arial"/>
                          <a:ea typeface="Arial"/>
                          <a:cs typeface="Arial"/>
                        </a:rPr>
                        <a:t>The calm tone makes the threat less obvious.</a:t>
                      </a:r>
                    </a:p>
                  </a:txBody>
                  <a:tcPr marL="91440" marR="91440" marT="45720" marB="45720" anchor="ctr">
                    <a:solidFill>
                      <a:srgbClr val="F2E8D5"/>
                    </a:solidFill>
                  </a:tcPr>
                </a:tc>
              </a:tr>
              <a:tr h="952500">
                <a:tc>
                  <a:txBody>
                    <a:bodyPr lIns="152400" tIns="85725" rIns="152400" bIns="85725">
                      <a:noAutofit/>
                    </a:bodyPr>
                    <a:lstStyle/>
                    <a:p>
                      <a:pPr algn="l">
                        <a:lnSpc>
                          <a:spcPct val="108000"/>
                        </a:lnSpc>
                        <a:buNone/>
                      </a:pPr>
                      <a:r>
                        <a:rPr sz="2400" b="1">
                          <a:solidFill>
                            <a:srgbClr val="211B16"/>
                          </a:solidFill>
                          <a:latin typeface="Arial"/>
                          <a:ea typeface="Arial"/>
                          <a:cs typeface="Arial"/>
                        </a:rPr>
                        <a:t>Perspective</a:t>
                      </a:r>
                    </a:p>
                  </a:txBody>
                  <a:tcPr marL="91440" marR="91440" marT="45720" marB="45720" anchor="ctr">
                    <a:solidFill>
                      <a:srgbClr val="E9D8B6"/>
                    </a:solidFill>
                  </a:tcPr>
                </a:tc>
                <a:tc>
                  <a:txBody>
                    <a:bodyPr lIns="152400" tIns="85725" rIns="152400" bIns="85725">
                      <a:noAutofit/>
                    </a:bodyPr>
                    <a:lstStyle/>
                    <a:p>
                      <a:pPr algn="l">
                        <a:lnSpc>
                          <a:spcPct val="108000"/>
                        </a:lnSpc>
                        <a:buNone/>
                      </a:pPr>
                      <a:r>
                        <a:rPr sz="2400" b="0">
                          <a:solidFill>
                            <a:srgbClr val="211B16"/>
                          </a:solidFill>
                          <a:latin typeface="Arial"/>
                          <a:ea typeface="Arial"/>
                          <a:cs typeface="Arial"/>
                        </a:rPr>
                        <a:t>The position from which events are seen.</a:t>
                      </a:r>
                    </a:p>
                  </a:txBody>
                  <a:tcPr marL="91440" marR="91440" marT="45720" marB="45720" anchor="ctr">
                    <a:solidFill>
                      <a:srgbClr val="E9D8B6"/>
                    </a:solidFill>
                  </a:tcPr>
                </a:tc>
                <a:tc>
                  <a:txBody>
                    <a:bodyPr lIns="152400" tIns="85725" rIns="152400" bIns="85725">
                      <a:noAutofit/>
                    </a:bodyPr>
                    <a:lstStyle/>
                    <a:p>
                      <a:pPr algn="l">
                        <a:lnSpc>
                          <a:spcPct val="108000"/>
                        </a:lnSpc>
                        <a:buNone/>
                      </a:pPr>
                      <a:r>
                        <a:rPr sz="2400" b="0">
                          <a:solidFill>
                            <a:srgbClr val="211B16"/>
                          </a:solidFill>
                          <a:latin typeface="Arial"/>
                          <a:ea typeface="Arial"/>
                          <a:cs typeface="Arial"/>
                        </a:rPr>
                        <a:t>We learn only what the visitor notices.</a:t>
                      </a:r>
                    </a:p>
                  </a:txBody>
                  <a:tcPr marL="91440" marR="91440" marT="45720" marB="45720" anchor="ctr">
                    <a:solidFill>
                      <a:srgbClr val="E9D8B6"/>
                    </a:solidFill>
                  </a:tcPr>
                </a:tc>
              </a:tr>
              <a:tr h="952500">
                <a:tc>
                  <a:txBody>
                    <a:bodyPr lIns="152400" tIns="85725" rIns="152400" bIns="85725">
                      <a:noAutofit/>
                    </a:bodyPr>
                    <a:lstStyle/>
                    <a:p>
                      <a:pPr algn="l">
                        <a:lnSpc>
                          <a:spcPct val="108000"/>
                        </a:lnSpc>
                        <a:buNone/>
                      </a:pPr>
                      <a:r>
                        <a:rPr sz="2400" b="1">
                          <a:solidFill>
                            <a:srgbClr val="211B16"/>
                          </a:solidFill>
                          <a:latin typeface="Arial"/>
                          <a:ea typeface="Arial"/>
                          <a:cs typeface="Arial"/>
                        </a:rPr>
                        <a:t>Inference</a:t>
                      </a:r>
                    </a:p>
                  </a:txBody>
                  <a:tcPr marL="91440" marR="91440" marT="45720" marB="45720" anchor="ctr">
                    <a:solidFill>
                      <a:srgbClr val="F2E8D5"/>
                    </a:solidFill>
                  </a:tcPr>
                </a:tc>
                <a:tc>
                  <a:txBody>
                    <a:bodyPr lIns="152400" tIns="85725" rIns="152400" bIns="85725">
                      <a:noAutofit/>
                    </a:bodyPr>
                    <a:lstStyle/>
                    <a:p>
                      <a:pPr algn="l">
                        <a:lnSpc>
                          <a:spcPct val="108000"/>
                        </a:lnSpc>
                        <a:buNone/>
                      </a:pPr>
                      <a:r>
                        <a:rPr sz="2400" b="0">
                          <a:solidFill>
                            <a:srgbClr val="211B16"/>
                          </a:solidFill>
                          <a:latin typeface="Arial"/>
                          <a:ea typeface="Arial"/>
                          <a:cs typeface="Arial"/>
                        </a:rPr>
                        <a:t>An idea reached from clues in the text.</a:t>
                      </a:r>
                    </a:p>
                  </a:txBody>
                  <a:tcPr marL="91440" marR="91440" marT="45720" marB="45720" anchor="ctr">
                    <a:solidFill>
                      <a:srgbClr val="F2E8D5"/>
                    </a:solidFill>
                  </a:tcPr>
                </a:tc>
                <a:tc>
                  <a:txBody>
                    <a:bodyPr lIns="152400" tIns="85725" rIns="152400" bIns="85725">
                      <a:noAutofit/>
                    </a:bodyPr>
                    <a:lstStyle/>
                    <a:p>
                      <a:pPr algn="l">
                        <a:lnSpc>
                          <a:spcPct val="108000"/>
                        </a:lnSpc>
                        <a:buNone/>
                      </a:pPr>
                      <a:r>
                        <a:rPr sz="2400" b="0">
                          <a:solidFill>
                            <a:srgbClr val="211B16"/>
                          </a:solidFill>
                          <a:latin typeface="Arial"/>
                          <a:ea typeface="Arial"/>
                          <a:cs typeface="Arial"/>
                        </a:rPr>
                        <a:t>The packed bag suggests she plans to leave.</a:t>
                      </a:r>
                    </a:p>
                  </a:txBody>
                  <a:tcPr marL="91440" marR="91440" marT="45720" marB="45720" anchor="ctr">
                    <a:solidFill>
                      <a:srgbClr val="F2E8D5"/>
                    </a:solidFill>
                  </a:tcPr>
                </a:tc>
              </a:tr>
            </a:tbl>
          </a:graphicData>
        </a:graphic>
      </p:graphicFrame>
      <p:sp>
        <p:nvSpPr>
          <p:cNvPr id="4" name="application">
            <a:extLst xmlns:a="http://schemas.openxmlformats.org/drawingml/2006/main">
              <a:ext uri="{FF2B5EF4-FFF2-40B4-BE49-F238E27FC236}">
                <a16:creationId xmlns:a16="http://schemas.microsoft.com/office/drawing/2014/main" id="{8E8FD9C6-14EB-421F-9FC8-BD5B6866EEC5}"/>
              </a:ext>
            </a:extLst>
          </p:cNvPr>
          <p:cNvSpPr>
            <a:spLocks xmlns:a="http://schemas.openxmlformats.org/drawingml/2006/main" noGrp="1"/>
          </p:cNvSpPr>
          <p:nvPr/>
        </p:nvSpPr>
        <p:spPr>
          <a:xfrm xmlns:a="http://schemas.openxmlformats.org/drawingml/2006/main">
            <a:off x="685800" y="5734050"/>
            <a:ext cx="108204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00" b="1">
                <a:solidFill>
                  <a:srgbClr val="5C2230"/>
                </a:solidFill>
                <a:latin typeface="Arial"/>
                <a:ea typeface="Arial"/>
                <a:cs typeface="Arial"/>
              </a:defRPr>
            </a:defPPr>
          </a:lstStyle>
          <a:p xmlns:a="http://schemas.openxmlformats.org/drawingml/2006/main">
            <a:pPr algn="l">
              <a:lnSpc>
                <a:spcPct val="112000"/>
              </a:lnSpc>
              <a:buNone/>
              <a:defRPr sz="2500" b="1">
                <a:solidFill>
                  <a:srgbClr val="5C2230"/>
                </a:solidFill>
                <a:latin typeface="Arial"/>
                <a:ea typeface="Arial"/>
                <a:cs typeface="Arial"/>
              </a:defRPr>
            </a:pPr>
            <a:r>
              <a:rPr sz="2500" b="1">
                <a:solidFill>
                  <a:srgbClr val="5C2230"/>
                </a:solidFill>
                <a:latin typeface="Arial"/>
                <a:ea typeface="Arial"/>
                <a:cs typeface="Arial"/>
              </a:rPr>
              <a:t>Choose one term and use it to discuss your reading.</a:t>
            </a:r>
          </a:p>
        </p:txBody>
      </p:sp>
      <p:sp>
        <p:nvSpPr>
          <p:cNvPr id="5" name="template-capacity-guide">
            <a:extLst xmlns:a="http://schemas.openxmlformats.org/drawingml/2006/main">
              <a:ext uri="{FF2B5EF4-FFF2-40B4-BE49-F238E27FC236}">
                <a16:creationId xmlns:a16="http://schemas.microsoft.com/office/drawing/2014/main" id="{B715727C-05B1-4891-B952-CAD8E5DCB037}"/>
              </a:ext>
            </a:extLst>
          </p:cNvPr>
          <p:cNvSpPr>
            <a:spLocks xmlns:a="http://schemas.openxmlformats.org/drawingml/2006/main" noGrp="1"/>
          </p:cNvSpPr>
          <p:nvPr/>
        </p:nvSpPr>
        <p:spPr>
          <a:xfrm xmlns:a="http://schemas.openxmlformats.org/drawingml/2006/main">
            <a:off x="685800" y="6343650"/>
            <a:ext cx="108204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00" b="0">
                <a:solidFill>
                  <a:srgbClr val="5C2230"/>
                </a:solidFill>
                <a:latin typeface="Arial"/>
                <a:ea typeface="Arial"/>
                <a:cs typeface="Arial"/>
              </a:defRPr>
            </a:defPPr>
          </a:lstStyle>
          <a:p xmlns:a="http://schemas.openxmlformats.org/drawingml/2006/main">
            <a:pPr algn="l">
              <a:lnSpc>
                <a:spcPct val="112000"/>
              </a:lnSpc>
              <a:buNone/>
              <a:defRPr sz="1600" b="0">
                <a:solidFill>
                  <a:srgbClr val="5C2230"/>
                </a:solidFill>
                <a:latin typeface="Arial"/>
                <a:ea typeface="Arial"/>
                <a:cs typeface="Arial"/>
              </a:defRPr>
            </a:pPr>
            <a:r>
              <a:rPr sz="1600" b="0">
                <a:solidFill>
                  <a:srgbClr val="5C2230"/>
                </a:solidFill>
                <a:latin typeface="Arial"/>
                <a:ea typeface="Arial"/>
                <a:cs typeface="Arial"/>
              </a:rPr>
              <a:t>Example: three terms at 24 pt with brief meanings and examples</a:t>
            </a:r>
          </a:p>
        </p:txBody>
      </p:sp>
    </p:spTree>
    <p:extLst>
      <p:ext uri="{BB962C8B-B14F-4D97-AF65-F5344CB8AC3E}">
        <p14:creationId xmlns:p14="http://schemas.microsoft.com/office/powerpoint/2010/main" val="1473255248"/>
      </p:ext>
    </p:extLst>
  </p:cSld>
</p:sld>
</file>

<file path=ppt/slides/slide7.xml><?xml version="1.0" encoding="utf-8"?>
<p:sld xmlns:p="http://schemas.openxmlformats.org/presentationml/2006/main">
  <p:cSld>
    <p:bg>
      <p:bgPr>
        <a:solidFill xmlns:a="http://schemas.openxmlformats.org/drawingml/2006/main">
          <a:srgbClr val="E9D8B6"/>
        </a:solidFill>
      </p:bgPr>
    </p:bg>
    <p:spTree>
      <p:nvGrpSpPr>
        <p:cNvPr id="1" name=""/>
        <p:cNvGrpSpPr/>
        <p:nvPr/>
      </p:nvGrpSpPr>
      <p:grpSpPr>
        <a:xfrm xmlns:a="http://schemas.openxmlformats.org/drawingml/2006/main"/>
      </p:grpSpPr>
      <p:sp>
        <p:nvSpPr>
          <p:cNvPr id="10" name="template-label">
            <a:extLst xmlns:a="http://schemas.openxmlformats.org/drawingml/2006/main">
              <a:ext uri="{FF2B5EF4-FFF2-40B4-BE49-F238E27FC236}">
                <a16:creationId xmlns:a16="http://schemas.microsoft.com/office/drawing/2014/main" id="{D4591C79-CFFE-4472-8138-14C68B1D6CB4}"/>
              </a:ext>
            </a:extLst>
          </p:cNvPr>
          <p:cNvSpPr>
            <a:spLocks xmlns:a="http://schemas.openxmlformats.org/drawingml/2006/main" noGrp="1"/>
          </p:cNvSpPr>
          <p:nvPr/>
        </p:nvSpPr>
        <p:spPr>
          <a:xfrm xmlns:a="http://schemas.openxmlformats.org/drawingml/2006/main">
            <a:off x="685800" y="285750"/>
            <a:ext cx="10820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00" b="1">
                <a:solidFill>
                  <a:srgbClr val="5C2230"/>
                </a:solidFill>
                <a:latin typeface="Arial"/>
                <a:ea typeface="Arial"/>
                <a:cs typeface="Arial"/>
              </a:defRPr>
            </a:defPPr>
          </a:lstStyle>
          <a:p xmlns:a="http://schemas.openxmlformats.org/drawingml/2006/main">
            <a:pPr algn="l">
              <a:lnSpc>
                <a:spcPct val="112000"/>
              </a:lnSpc>
              <a:buNone/>
              <a:defRPr sz="1700" b="1">
                <a:solidFill>
                  <a:srgbClr val="5C2230"/>
                </a:solidFill>
                <a:latin typeface="Arial"/>
                <a:ea typeface="Arial"/>
                <a:cs typeface="Arial"/>
              </a:defRPr>
            </a:pPr>
            <a:r>
              <a:rPr sz="1700" b="1">
                <a:solidFill>
                  <a:srgbClr val="5C2230"/>
                </a:solidFill>
                <a:latin typeface="Arial"/>
                <a:ea typeface="Arial"/>
                <a:cs typeface="Arial"/>
              </a:rPr>
              <a:t>07  COMPARISON / PAIRED PASSAGES</a:t>
            </a:r>
          </a:p>
        </p:txBody>
      </p:sp>
      <p:sp>
        <p:nvSpPr>
          <p:cNvPr id="2" name="heading">
            <a:extLst xmlns:a="http://schemas.openxmlformats.org/drawingml/2006/main">
              <a:ext uri="{FF2B5EF4-FFF2-40B4-BE49-F238E27FC236}">
                <a16:creationId xmlns:a16="http://schemas.microsoft.com/office/drawing/2014/main" id="{BC969573-D751-43FB-9E19-738E68DD8933}"/>
              </a:ext>
            </a:extLst>
          </p:cNvPr>
          <p:cNvSpPr>
            <a:spLocks xmlns:a="http://schemas.openxmlformats.org/drawingml/2006/main" noGrp="1"/>
          </p:cNvSpPr>
          <p:nvPr/>
        </p:nvSpPr>
        <p:spPr>
          <a:xfrm xmlns:a="http://schemas.openxmlformats.org/drawingml/2006/main">
            <a:off x="685800" y="83820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800" b="1">
                <a:solidFill>
                  <a:srgbClr val="211B16"/>
                </a:solidFill>
                <a:latin typeface="Georgia"/>
                <a:ea typeface="Georgia"/>
                <a:cs typeface="Georgia"/>
              </a:defRPr>
            </a:defPPr>
          </a:lstStyle>
          <a:p xmlns:a="http://schemas.openxmlformats.org/drawingml/2006/main">
            <a:pPr algn="l">
              <a:lnSpc>
                <a:spcPct val="112000"/>
              </a:lnSpc>
              <a:buNone/>
              <a:defRPr sz="3800" b="1">
                <a:solidFill>
                  <a:srgbClr val="211B16"/>
                </a:solidFill>
                <a:latin typeface="Georgia"/>
                <a:ea typeface="Georgia"/>
                <a:cs typeface="Georgia"/>
              </a:defRPr>
            </a:pPr>
            <a:r>
              <a:rPr sz="3800" b="1">
                <a:solidFill>
                  <a:srgbClr val="211B16"/>
                </a:solidFill>
                <a:latin typeface="Georgia"/>
                <a:ea typeface="Georgia"/>
                <a:cs typeface="Georgia"/>
              </a:rPr>
              <a:t>Two views of the same river</a:t>
            </a:r>
          </a:p>
        </p:txBody>
      </p:sp>
      <p:sp>
        <p:nvSpPr>
          <p:cNvPr id="3" name="label-a">
            <a:extLst xmlns:a="http://schemas.openxmlformats.org/drawingml/2006/main">
              <a:ext uri="{FF2B5EF4-FFF2-40B4-BE49-F238E27FC236}">
                <a16:creationId xmlns:a16="http://schemas.microsoft.com/office/drawing/2014/main" id="{A2620C8C-7B53-42C6-9818-CE9177635595}"/>
              </a:ext>
            </a:extLst>
          </p:cNvPr>
          <p:cNvSpPr>
            <a:spLocks xmlns:a="http://schemas.openxmlformats.org/drawingml/2006/main" noGrp="1"/>
          </p:cNvSpPr>
          <p:nvPr/>
        </p:nvSpPr>
        <p:spPr>
          <a:xfrm xmlns:a="http://schemas.openxmlformats.org/drawingml/2006/main">
            <a:off x="685800" y="2019300"/>
            <a:ext cx="4857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00" b="1">
                <a:solidFill>
                  <a:srgbClr val="5C2230"/>
                </a:solidFill>
                <a:latin typeface="Arial"/>
                <a:ea typeface="Arial"/>
                <a:cs typeface="Arial"/>
              </a:defRPr>
            </a:defPPr>
          </a:lstStyle>
          <a:p xmlns:a="http://schemas.openxmlformats.org/drawingml/2006/main">
            <a:pPr algn="l">
              <a:lnSpc>
                <a:spcPct val="112000"/>
              </a:lnSpc>
              <a:buNone/>
              <a:defRPr sz="2200" b="1">
                <a:solidFill>
                  <a:srgbClr val="5C2230"/>
                </a:solidFill>
                <a:latin typeface="Arial"/>
                <a:ea typeface="Arial"/>
                <a:cs typeface="Arial"/>
              </a:defRPr>
            </a:pPr>
            <a:r>
              <a:rPr sz="2200" b="1">
                <a:solidFill>
                  <a:srgbClr val="5C2230"/>
                </a:solidFill>
                <a:latin typeface="Arial"/>
                <a:ea typeface="Arial"/>
                <a:cs typeface="Arial"/>
              </a:rPr>
              <a:t>PASSAGE A</a:t>
            </a:r>
          </a:p>
        </p:txBody>
      </p:sp>
      <p:sp>
        <p:nvSpPr>
          <p:cNvPr id="4" name="label-b">
            <a:extLst xmlns:a="http://schemas.openxmlformats.org/drawingml/2006/main">
              <a:ext uri="{FF2B5EF4-FFF2-40B4-BE49-F238E27FC236}">
                <a16:creationId xmlns:a16="http://schemas.microsoft.com/office/drawing/2014/main" id="{F64FE5DF-B37C-4292-87D2-A6FB47112EA3}"/>
              </a:ext>
            </a:extLst>
          </p:cNvPr>
          <p:cNvSpPr>
            <a:spLocks xmlns:a="http://schemas.openxmlformats.org/drawingml/2006/main" noGrp="1"/>
          </p:cNvSpPr>
          <p:nvPr/>
        </p:nvSpPr>
        <p:spPr>
          <a:xfrm xmlns:a="http://schemas.openxmlformats.org/drawingml/2006/main">
            <a:off x="6505575" y="2019300"/>
            <a:ext cx="5000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00" b="1">
                <a:solidFill>
                  <a:srgbClr val="5C2230"/>
                </a:solidFill>
                <a:latin typeface="Arial"/>
                <a:ea typeface="Arial"/>
                <a:cs typeface="Arial"/>
              </a:defRPr>
            </a:defPPr>
          </a:lstStyle>
          <a:p xmlns:a="http://schemas.openxmlformats.org/drawingml/2006/main">
            <a:pPr algn="l">
              <a:lnSpc>
                <a:spcPct val="112000"/>
              </a:lnSpc>
              <a:buNone/>
              <a:defRPr sz="2200" b="1">
                <a:solidFill>
                  <a:srgbClr val="5C2230"/>
                </a:solidFill>
                <a:latin typeface="Arial"/>
                <a:ea typeface="Arial"/>
                <a:cs typeface="Arial"/>
              </a:defRPr>
            </a:pPr>
            <a:r>
              <a:rPr sz="2200" b="1">
                <a:solidFill>
                  <a:srgbClr val="5C2230"/>
                </a:solidFill>
                <a:latin typeface="Arial"/>
                <a:ea typeface="Arial"/>
                <a:cs typeface="Arial"/>
              </a:rPr>
              <a:t>PASSAGE B</a:t>
            </a:r>
          </a:p>
        </p:txBody>
      </p:sp>
      <p:sp>
        <p:nvSpPr>
          <p:cNvPr id="5" name="rule">
            <a:extLst xmlns:a="http://schemas.openxmlformats.org/drawingml/2006/main">
              <a:ext uri="{FF2B5EF4-FFF2-40B4-BE49-F238E27FC236}">
                <a16:creationId xmlns:a16="http://schemas.microsoft.com/office/drawing/2014/main" id="{4FD9D0A1-9DF1-4393-B951-914A0BA26532}"/>
              </a:ext>
            </a:extLst>
          </p:cNvPr>
          <p:cNvSpPr>
            <a:spLocks xmlns:a="http://schemas.openxmlformats.org/drawingml/2006/main" noGrp="1"/>
          </p:cNvSpPr>
          <p:nvPr/>
        </p:nvSpPr>
        <p:spPr>
          <a:xfrm xmlns:a="http://schemas.openxmlformats.org/drawingml/2006/main">
            <a:off x="6048375" y="2019300"/>
            <a:ext cx="19050" cy="3305175"/>
          </a:xfrm>
          <a:prstGeom xmlns:a="http://schemas.openxmlformats.org/drawingml/2006/main" prst="rect">
            <a:avLst/>
          </a:prstGeom>
          <a:solidFill xmlns:a="http://schemas.openxmlformats.org/drawingml/2006/main">
            <a:srgbClr val="5C2230"/>
          </a:solidFill>
          <a:ln xmlns:a="http://schemas.openxmlformats.org/drawingml/2006/main" w="0">
            <a:noFill/>
          </a:ln>
        </p:spPr>
      </p:sp>
      <p:sp>
        <p:nvSpPr>
          <p:cNvPr id="6" name="passage-a">
            <a:extLst xmlns:a="http://schemas.openxmlformats.org/drawingml/2006/main">
              <a:ext uri="{FF2B5EF4-FFF2-40B4-BE49-F238E27FC236}">
                <a16:creationId xmlns:a16="http://schemas.microsoft.com/office/drawing/2014/main" id="{4E74862A-F740-4839-A80B-0452D5A109C6}"/>
              </a:ext>
            </a:extLst>
          </p:cNvPr>
          <p:cNvSpPr>
            <a:spLocks xmlns:a="http://schemas.openxmlformats.org/drawingml/2006/main" noGrp="1"/>
          </p:cNvSpPr>
          <p:nvPr/>
        </p:nvSpPr>
        <p:spPr>
          <a:xfrm xmlns:a="http://schemas.openxmlformats.org/drawingml/2006/main">
            <a:off x="685800" y="2590800"/>
            <a:ext cx="4857750" cy="2714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0">
                <a:solidFill>
                  <a:srgbClr val="211B16"/>
                </a:solidFill>
                <a:latin typeface="Arial"/>
                <a:ea typeface="Arial"/>
                <a:cs typeface="Arial"/>
              </a:defRPr>
            </a:defPPr>
          </a:lstStyle>
          <a:p xmlns:a="http://schemas.openxmlformats.org/drawingml/2006/main">
            <a:pPr algn="l">
              <a:lnSpc>
                <a:spcPct val="112000"/>
              </a:lnSpc>
              <a:buNone/>
              <a:defRPr sz="2700" b="0">
                <a:solidFill>
                  <a:srgbClr val="211B16"/>
                </a:solidFill>
                <a:latin typeface="Arial"/>
                <a:ea typeface="Arial"/>
                <a:cs typeface="Arial"/>
              </a:defRPr>
            </a:pPr>
            <a:r>
              <a:rPr sz="2700" b="0">
                <a:solidFill>
                  <a:srgbClr val="211B16"/>
                </a:solidFill>
                <a:latin typeface="Arial"/>
                <a:ea typeface="Arial"/>
                <a:cs typeface="Arial"/>
              </a:rPr>
              <a:t>The river carried the last light through the town. We leaned on the bridge and watched it pass. For a moment, nobody asked where we would go next.</a:t>
            </a:r>
          </a:p>
        </p:txBody>
      </p:sp>
      <p:sp>
        <p:nvSpPr>
          <p:cNvPr id="7" name="passage-b">
            <a:extLst xmlns:a="http://schemas.openxmlformats.org/drawingml/2006/main">
              <a:ext uri="{FF2B5EF4-FFF2-40B4-BE49-F238E27FC236}">
                <a16:creationId xmlns:a16="http://schemas.microsoft.com/office/drawing/2014/main" id="{D31BF41E-5B26-448B-BEB4-7511A84E92A5}"/>
              </a:ext>
            </a:extLst>
          </p:cNvPr>
          <p:cNvSpPr>
            <a:spLocks xmlns:a="http://schemas.openxmlformats.org/drawingml/2006/main" noGrp="1"/>
          </p:cNvSpPr>
          <p:nvPr/>
        </p:nvSpPr>
        <p:spPr>
          <a:xfrm xmlns:a="http://schemas.openxmlformats.org/drawingml/2006/main">
            <a:off x="6505575" y="2590800"/>
            <a:ext cx="5000625" cy="2714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0">
                <a:solidFill>
                  <a:srgbClr val="211B16"/>
                </a:solidFill>
                <a:latin typeface="Arial"/>
                <a:ea typeface="Arial"/>
                <a:cs typeface="Arial"/>
              </a:defRPr>
            </a:defPPr>
          </a:lstStyle>
          <a:p xmlns:a="http://schemas.openxmlformats.org/drawingml/2006/main">
            <a:pPr algn="l">
              <a:lnSpc>
                <a:spcPct val="112000"/>
              </a:lnSpc>
              <a:buNone/>
              <a:defRPr sz="2700" b="0">
                <a:solidFill>
                  <a:srgbClr val="211B16"/>
                </a:solidFill>
                <a:latin typeface="Arial"/>
                <a:ea typeface="Arial"/>
                <a:cs typeface="Arial"/>
              </a:defRPr>
            </a:pPr>
            <a:r>
              <a:rPr sz="2700" b="0">
                <a:solidFill>
                  <a:srgbClr val="211B16"/>
                </a:solidFill>
                <a:latin typeface="Arial"/>
                <a:ea typeface="Arial"/>
                <a:cs typeface="Arial"/>
              </a:rPr>
              <a:t>The river pressed against the bridge. Below us, branches struck the stone. We kept our bags on our shoulders and watched the road on the far bank.</a:t>
            </a:r>
          </a:p>
        </p:txBody>
      </p:sp>
      <p:sp>
        <p:nvSpPr>
          <p:cNvPr id="8" name="question">
            <a:extLst xmlns:a="http://schemas.openxmlformats.org/drawingml/2006/main">
              <a:ext uri="{FF2B5EF4-FFF2-40B4-BE49-F238E27FC236}">
                <a16:creationId xmlns:a16="http://schemas.microsoft.com/office/drawing/2014/main" id="{0B4E1087-64D7-41DC-9BE1-9B5A11D67AB2}"/>
              </a:ext>
            </a:extLst>
          </p:cNvPr>
          <p:cNvSpPr>
            <a:spLocks xmlns:a="http://schemas.openxmlformats.org/drawingml/2006/main" noGrp="1"/>
          </p:cNvSpPr>
          <p:nvPr/>
        </p:nvSpPr>
        <p:spPr>
          <a:xfrm xmlns:a="http://schemas.openxmlformats.org/drawingml/2006/main">
            <a:off x="685800" y="5686425"/>
            <a:ext cx="108204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00" b="1">
                <a:solidFill>
                  <a:srgbClr val="5C2230"/>
                </a:solidFill>
                <a:latin typeface="Arial"/>
                <a:ea typeface="Arial"/>
                <a:cs typeface="Arial"/>
              </a:defRPr>
            </a:defPPr>
          </a:lstStyle>
          <a:p xmlns:a="http://schemas.openxmlformats.org/drawingml/2006/main">
            <a:pPr algn="l">
              <a:lnSpc>
                <a:spcPct val="112000"/>
              </a:lnSpc>
              <a:buNone/>
              <a:defRPr sz="2800" b="1">
                <a:solidFill>
                  <a:srgbClr val="5C2230"/>
                </a:solidFill>
                <a:latin typeface="Arial"/>
                <a:ea typeface="Arial"/>
                <a:cs typeface="Arial"/>
              </a:defRPr>
            </a:pPr>
            <a:r>
              <a:rPr sz="2800" b="1">
                <a:solidFill>
                  <a:srgbClr val="5C2230"/>
                </a:solidFill>
                <a:latin typeface="Arial"/>
                <a:ea typeface="Arial"/>
                <a:cs typeface="Arial"/>
              </a:rPr>
              <a:t>How do the verbs change the mood?</a:t>
            </a:r>
          </a:p>
        </p:txBody>
      </p:sp>
      <p:sp>
        <p:nvSpPr>
          <p:cNvPr id="9" name="template-capacity-guide">
            <a:extLst xmlns:a="http://schemas.openxmlformats.org/drawingml/2006/main">
              <a:ext uri="{FF2B5EF4-FFF2-40B4-BE49-F238E27FC236}">
                <a16:creationId xmlns:a16="http://schemas.microsoft.com/office/drawing/2014/main" id="{D562CD30-5A3D-4FEB-8920-1864D91A44BE}"/>
              </a:ext>
            </a:extLst>
          </p:cNvPr>
          <p:cNvSpPr>
            <a:spLocks xmlns:a="http://schemas.openxmlformats.org/drawingml/2006/main" noGrp="1"/>
          </p:cNvSpPr>
          <p:nvPr/>
        </p:nvSpPr>
        <p:spPr>
          <a:xfrm xmlns:a="http://schemas.openxmlformats.org/drawingml/2006/main">
            <a:off x="685800" y="6343650"/>
            <a:ext cx="108204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00" b="0">
                <a:solidFill>
                  <a:srgbClr val="5C2230"/>
                </a:solidFill>
                <a:latin typeface="Arial"/>
                <a:ea typeface="Arial"/>
                <a:cs typeface="Arial"/>
              </a:defRPr>
            </a:defPPr>
          </a:lstStyle>
          <a:p xmlns:a="http://schemas.openxmlformats.org/drawingml/2006/main">
            <a:pPr algn="l">
              <a:lnSpc>
                <a:spcPct val="112000"/>
              </a:lnSpc>
              <a:buNone/>
              <a:defRPr sz="1600" b="0">
                <a:solidFill>
                  <a:srgbClr val="5C2230"/>
                </a:solidFill>
                <a:latin typeface="Arial"/>
                <a:ea typeface="Arial"/>
                <a:cs typeface="Arial"/>
              </a:defRPr>
            </a:pPr>
            <a:r>
              <a:rPr sz="1600" b="0">
                <a:solidFill>
                  <a:srgbClr val="5C2230"/>
                </a:solidFill>
                <a:latin typeface="Arial"/>
                <a:ea typeface="Arial"/>
                <a:cs typeface="Arial"/>
              </a:rPr>
              <a:t>Example: 28 words beside 27 words at 27 pt</a:t>
            </a:r>
          </a:p>
        </p:txBody>
      </p:sp>
    </p:spTree>
    <p:extLst>
      <p:ext uri="{BB962C8B-B14F-4D97-AF65-F5344CB8AC3E}">
        <p14:creationId xmlns:p14="http://schemas.microsoft.com/office/powerpoint/2010/main" val="1094895308"/>
      </p:ext>
    </p:extLst>
  </p:cSld>
</p:sld>
</file>

<file path=ppt/slides/slide8.xml><?xml version="1.0" encoding="utf-8"?>
<p:sld xmlns:p="http://schemas.openxmlformats.org/presentationml/2006/main">
  <p:cSld>
    <p:bg>
      <p:bgPr>
        <a:solidFill xmlns:a="http://schemas.openxmlformats.org/drawingml/2006/main">
          <a:srgbClr val="E9D8B6"/>
        </a:solidFill>
      </p:bgPr>
    </p:bg>
    <p:spTree>
      <p:nvGrpSpPr>
        <p:cNvPr id="1" name=""/>
        <p:cNvGrpSpPr/>
        <p:nvPr/>
      </p:nvGrpSpPr>
      <p:grpSpPr>
        <a:xfrm xmlns:a="http://schemas.openxmlformats.org/drawingml/2006/main"/>
      </p:grpSpPr>
      <p:sp>
        <p:nvSpPr>
          <p:cNvPr id="6" name="template-label">
            <a:extLst xmlns:a="http://schemas.openxmlformats.org/drawingml/2006/main">
              <a:ext uri="{FF2B5EF4-FFF2-40B4-BE49-F238E27FC236}">
                <a16:creationId xmlns:a16="http://schemas.microsoft.com/office/drawing/2014/main" id="{4A803451-C2F1-4D0C-A2BF-B2D0A5C7132A}"/>
              </a:ext>
            </a:extLst>
          </p:cNvPr>
          <p:cNvSpPr>
            <a:spLocks xmlns:a="http://schemas.openxmlformats.org/drawingml/2006/main" noGrp="1"/>
          </p:cNvSpPr>
          <p:nvPr/>
        </p:nvSpPr>
        <p:spPr>
          <a:xfrm xmlns:a="http://schemas.openxmlformats.org/drawingml/2006/main">
            <a:off x="685800" y="285750"/>
            <a:ext cx="10820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00" b="1">
                <a:solidFill>
                  <a:srgbClr val="5C2230"/>
                </a:solidFill>
                <a:latin typeface="Arial"/>
                <a:ea typeface="Arial"/>
                <a:cs typeface="Arial"/>
              </a:defRPr>
            </a:defPPr>
          </a:lstStyle>
          <a:p xmlns:a="http://schemas.openxmlformats.org/drawingml/2006/main">
            <a:pPr algn="l">
              <a:lnSpc>
                <a:spcPct val="112000"/>
              </a:lnSpc>
              <a:buNone/>
              <a:defRPr sz="1700" b="1">
                <a:solidFill>
                  <a:srgbClr val="5C2230"/>
                </a:solidFill>
                <a:latin typeface="Arial"/>
                <a:ea typeface="Arial"/>
                <a:cs typeface="Arial"/>
              </a:defRPr>
            </a:pPr>
            <a:r>
              <a:rPr sz="1700" b="1">
                <a:solidFill>
                  <a:srgbClr val="5C2230"/>
                </a:solidFill>
                <a:latin typeface="Arial"/>
                <a:ea typeface="Arial"/>
                <a:cs typeface="Arial"/>
              </a:rPr>
              <a:t>08  COMPARISON / COMPARISON MATRIX</a:t>
            </a:r>
          </a:p>
        </p:txBody>
      </p:sp>
      <p:sp>
        <p:nvSpPr>
          <p:cNvPr id="2" name="heading">
            <a:extLst xmlns:a="http://schemas.openxmlformats.org/drawingml/2006/main">
              <a:ext uri="{FF2B5EF4-FFF2-40B4-BE49-F238E27FC236}">
                <a16:creationId xmlns:a16="http://schemas.microsoft.com/office/drawing/2014/main" id="{5850D7C9-AB3F-4C73-AB3B-27E8C593E892}"/>
              </a:ext>
            </a:extLst>
          </p:cNvPr>
          <p:cNvSpPr>
            <a:spLocks xmlns:a="http://schemas.openxmlformats.org/drawingml/2006/main" noGrp="1"/>
          </p:cNvSpPr>
          <p:nvPr/>
        </p:nvSpPr>
        <p:spPr>
          <a:xfrm xmlns:a="http://schemas.openxmlformats.org/drawingml/2006/main">
            <a:off x="685800" y="83820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800" b="1">
                <a:solidFill>
                  <a:srgbClr val="211B16"/>
                </a:solidFill>
                <a:latin typeface="Georgia"/>
                <a:ea typeface="Georgia"/>
                <a:cs typeface="Georgia"/>
              </a:defRPr>
            </a:defPPr>
          </a:lstStyle>
          <a:p xmlns:a="http://schemas.openxmlformats.org/drawingml/2006/main">
            <a:pPr algn="l">
              <a:lnSpc>
                <a:spcPct val="112000"/>
              </a:lnSpc>
              <a:buNone/>
              <a:defRPr sz="3800" b="1">
                <a:solidFill>
                  <a:srgbClr val="211B16"/>
                </a:solidFill>
                <a:latin typeface="Georgia"/>
                <a:ea typeface="Georgia"/>
                <a:cs typeface="Georgia"/>
              </a:defRPr>
            </a:pPr>
            <a:r>
              <a:rPr sz="3800" b="1">
                <a:solidFill>
                  <a:srgbClr val="211B16"/>
                </a:solidFill>
                <a:latin typeface="Georgia"/>
                <a:ea typeface="Georgia"/>
                <a:cs typeface="Georgia"/>
              </a:rPr>
              <a:t>Description and interpretation</a:t>
            </a:r>
          </a:p>
        </p:txBody>
      </p:sp>
      <p:graphicFrame>
        <p:nvGraphicFramePr>
          <p:cNvPr id="3" name="">
            <a:extLst xmlns:a="http://schemas.openxmlformats.org/drawingml/2006/main">
              <a:ext uri="{FF2B5EF4-FFF2-40B4-BE49-F238E27FC236}">
                <a16:creationId xmlns:a16="http://schemas.microsoft.com/office/drawing/2014/main" id="{FDB10311-3C1E-40CB-A3C6-8CD0F3AACD06}"/>
              </a:ext>
            </a:extLst>
          </p:cNvPr>
          <p:cNvGraphicFramePr/>
          <p:nvPr/>
        </p:nvGraphicFramePr>
        <p:xfrm>
          <a:off xmlns:a="http://schemas.openxmlformats.org/drawingml/2006/main" x="685800" y="2038350"/>
          <a:ext xmlns:a="http://schemas.openxmlformats.org/drawingml/2006/main" cx="10820400" cy="3467100"/>
        </p:xfrm>
        <a:graphic xmlns:a="http://schemas.openxmlformats.org/drawingml/2006/main">
          <a:graphicData uri="http://schemas.openxmlformats.org/drawingml/2006/table">
            <a:tbl>
              <a:tblPr firstRow="1" bandRow="0"/>
              <a:tblGrid>
                <a:gridCol w="2152650"/>
                <a:gridCol w="4095750"/>
                <a:gridCol w="4572000"/>
              </a:tblGrid>
              <a:tr h="590550">
                <a:tc>
                  <a:txBody>
                    <a:bodyPr lIns="152400" tIns="85725" rIns="152400" bIns="85725">
                      <a:noAutofit/>
                    </a:bodyPr>
                    <a:lstStyle/>
                    <a:p>
                      <a:pPr algn="l">
                        <a:lnSpc>
                          <a:spcPct val="108000"/>
                        </a:lnSpc>
                        <a:buNone/>
                      </a:pPr>
                      <a:r>
                        <a:rPr sz="2200" b="1">
                          <a:solidFill>
                            <a:srgbClr val="F2E8D5"/>
                          </a:solidFill>
                          <a:latin typeface="Arial"/>
                          <a:ea typeface="Arial"/>
                          <a:cs typeface="Arial"/>
                        </a:rPr>
                        <a:t>Focus</a:t>
                      </a:r>
                    </a:p>
                  </a:txBody>
                  <a:tcPr marL="91440" marR="91440" marT="45720" marB="45720" anchor="ctr">
                    <a:solidFill>
                      <a:srgbClr val="5C2230"/>
                    </a:solidFill>
                  </a:tcPr>
                </a:tc>
                <a:tc>
                  <a:txBody>
                    <a:bodyPr lIns="152400" tIns="85725" rIns="152400" bIns="85725">
                      <a:noAutofit/>
                    </a:bodyPr>
                    <a:lstStyle/>
                    <a:p>
                      <a:pPr algn="l">
                        <a:lnSpc>
                          <a:spcPct val="108000"/>
                        </a:lnSpc>
                        <a:buNone/>
                      </a:pPr>
                      <a:r>
                        <a:rPr sz="2200" b="1">
                          <a:solidFill>
                            <a:srgbClr val="F2E8D5"/>
                          </a:solidFill>
                          <a:latin typeface="Arial"/>
                          <a:ea typeface="Arial"/>
                          <a:cs typeface="Arial"/>
                        </a:rPr>
                        <a:t>Description</a:t>
                      </a:r>
                    </a:p>
                  </a:txBody>
                  <a:tcPr marL="91440" marR="91440" marT="45720" marB="45720" anchor="ctr">
                    <a:solidFill>
                      <a:srgbClr val="5C2230"/>
                    </a:solidFill>
                  </a:tcPr>
                </a:tc>
                <a:tc>
                  <a:txBody>
                    <a:bodyPr lIns="152400" tIns="85725" rIns="152400" bIns="85725">
                      <a:noAutofit/>
                    </a:bodyPr>
                    <a:lstStyle/>
                    <a:p>
                      <a:pPr algn="l">
                        <a:lnSpc>
                          <a:spcPct val="108000"/>
                        </a:lnSpc>
                        <a:buNone/>
                      </a:pPr>
                      <a:r>
                        <a:rPr sz="2200" b="1">
                          <a:solidFill>
                            <a:srgbClr val="F2E8D5"/>
                          </a:solidFill>
                          <a:latin typeface="Arial"/>
                          <a:ea typeface="Arial"/>
                          <a:cs typeface="Arial"/>
                        </a:rPr>
                        <a:t>Interpretation</a:t>
                      </a:r>
                    </a:p>
                  </a:txBody>
                  <a:tcPr marL="91440" marR="91440" marT="45720" marB="45720" anchor="ctr">
                    <a:solidFill>
                      <a:srgbClr val="5C2230"/>
                    </a:solidFill>
                  </a:tcPr>
                </a:tc>
              </a:tr>
              <a:tr h="958850">
                <a:tc>
                  <a:txBody>
                    <a:bodyPr lIns="152400" tIns="85725" rIns="152400" bIns="85725">
                      <a:noAutofit/>
                    </a:bodyPr>
                    <a:lstStyle/>
                    <a:p>
                      <a:pPr algn="l">
                        <a:lnSpc>
                          <a:spcPct val="108000"/>
                        </a:lnSpc>
                        <a:buNone/>
                      </a:pPr>
                      <a:r>
                        <a:rPr sz="2500" b="1">
                          <a:solidFill>
                            <a:srgbClr val="211B16"/>
                          </a:solidFill>
                          <a:latin typeface="Arial"/>
                          <a:ea typeface="Arial"/>
                          <a:cs typeface="Arial"/>
                        </a:rPr>
                        <a:t>Purpose</a:t>
                      </a:r>
                    </a:p>
                  </a:txBody>
                  <a:tcPr marL="91440" marR="91440" marT="45720" marB="45720" anchor="ctr">
                    <a:solidFill>
                      <a:srgbClr val="F2E8D5"/>
                    </a:solidFill>
                  </a:tcPr>
                </a:tc>
                <a:tc>
                  <a:txBody>
                    <a:bodyPr lIns="152400" tIns="85725" rIns="152400" bIns="85725">
                      <a:noAutofit/>
                    </a:bodyPr>
                    <a:lstStyle/>
                    <a:p>
                      <a:pPr algn="l">
                        <a:lnSpc>
                          <a:spcPct val="108000"/>
                        </a:lnSpc>
                        <a:buNone/>
                      </a:pPr>
                      <a:r>
                        <a:rPr sz="2500" b="0">
                          <a:solidFill>
                            <a:srgbClr val="211B16"/>
                          </a:solidFill>
                          <a:latin typeface="Arial"/>
                          <a:ea typeface="Arial"/>
                          <a:cs typeface="Arial"/>
                        </a:rPr>
                        <a:t>Say what is present.</a:t>
                      </a:r>
                    </a:p>
                  </a:txBody>
                  <a:tcPr marL="91440" marR="91440" marT="45720" marB="45720" anchor="ctr">
                    <a:solidFill>
                      <a:srgbClr val="F2E8D5"/>
                    </a:solidFill>
                  </a:tcPr>
                </a:tc>
                <a:tc>
                  <a:txBody>
                    <a:bodyPr lIns="152400" tIns="85725" rIns="152400" bIns="85725">
                      <a:noAutofit/>
                    </a:bodyPr>
                    <a:lstStyle/>
                    <a:p>
                      <a:pPr algn="l">
                        <a:lnSpc>
                          <a:spcPct val="108000"/>
                        </a:lnSpc>
                        <a:buNone/>
                      </a:pPr>
                      <a:r>
                        <a:rPr sz="2500" b="0">
                          <a:solidFill>
                            <a:srgbClr val="211B16"/>
                          </a:solidFill>
                          <a:latin typeface="Arial"/>
                          <a:ea typeface="Arial"/>
                          <a:cs typeface="Arial"/>
                        </a:rPr>
                        <a:t>Suggest what it means.</a:t>
                      </a:r>
                    </a:p>
                  </a:txBody>
                  <a:tcPr marL="91440" marR="91440" marT="45720" marB="45720" anchor="ctr">
                    <a:solidFill>
                      <a:srgbClr val="F2E8D5"/>
                    </a:solidFill>
                  </a:tcPr>
                </a:tc>
              </a:tr>
              <a:tr h="958850">
                <a:tc>
                  <a:txBody>
                    <a:bodyPr lIns="152400" tIns="85725" rIns="152400" bIns="85725">
                      <a:noAutofit/>
                    </a:bodyPr>
                    <a:lstStyle/>
                    <a:p>
                      <a:pPr algn="l">
                        <a:lnSpc>
                          <a:spcPct val="108000"/>
                        </a:lnSpc>
                        <a:buNone/>
                      </a:pPr>
                      <a:r>
                        <a:rPr sz="2500" b="1">
                          <a:solidFill>
                            <a:srgbClr val="211B16"/>
                          </a:solidFill>
                          <a:latin typeface="Arial"/>
                          <a:ea typeface="Arial"/>
                          <a:cs typeface="Arial"/>
                        </a:rPr>
                        <a:t>Evidence</a:t>
                      </a:r>
                    </a:p>
                  </a:txBody>
                  <a:tcPr marL="91440" marR="91440" marT="45720" marB="45720" anchor="ctr">
                    <a:solidFill>
                      <a:srgbClr val="E9D8B6"/>
                    </a:solidFill>
                  </a:tcPr>
                </a:tc>
                <a:tc>
                  <a:txBody>
                    <a:bodyPr lIns="152400" tIns="85725" rIns="152400" bIns="85725">
                      <a:noAutofit/>
                    </a:bodyPr>
                    <a:lstStyle/>
                    <a:p>
                      <a:pPr algn="l">
                        <a:lnSpc>
                          <a:spcPct val="108000"/>
                        </a:lnSpc>
                        <a:buNone/>
                      </a:pPr>
                      <a:r>
                        <a:rPr sz="2500" b="0">
                          <a:solidFill>
                            <a:srgbClr val="211B16"/>
                          </a:solidFill>
                          <a:latin typeface="Arial"/>
                          <a:ea typeface="Arial"/>
                          <a:cs typeface="Arial"/>
                        </a:rPr>
                        <a:t>Name a visible detail.</a:t>
                      </a:r>
                    </a:p>
                  </a:txBody>
                  <a:tcPr marL="91440" marR="91440" marT="45720" marB="45720" anchor="ctr">
                    <a:solidFill>
                      <a:srgbClr val="E9D8B6"/>
                    </a:solidFill>
                  </a:tcPr>
                </a:tc>
                <a:tc>
                  <a:txBody>
                    <a:bodyPr lIns="152400" tIns="85725" rIns="152400" bIns="85725">
                      <a:noAutofit/>
                    </a:bodyPr>
                    <a:lstStyle/>
                    <a:p>
                      <a:pPr algn="l">
                        <a:lnSpc>
                          <a:spcPct val="108000"/>
                        </a:lnSpc>
                        <a:buNone/>
                      </a:pPr>
                      <a:r>
                        <a:rPr sz="2500" b="0">
                          <a:solidFill>
                            <a:srgbClr val="211B16"/>
                          </a:solidFill>
                          <a:latin typeface="Arial"/>
                          <a:ea typeface="Arial"/>
                          <a:cs typeface="Arial"/>
                        </a:rPr>
                        <a:t>Connect the detail to an idea.</a:t>
                      </a:r>
                    </a:p>
                  </a:txBody>
                  <a:tcPr marL="91440" marR="91440" marT="45720" marB="45720" anchor="ctr">
                    <a:solidFill>
                      <a:srgbClr val="E9D8B6"/>
                    </a:solidFill>
                  </a:tcPr>
                </a:tc>
              </a:tr>
              <a:tr h="958850">
                <a:tc>
                  <a:txBody>
                    <a:bodyPr lIns="152400" tIns="85725" rIns="152400" bIns="85725">
                      <a:noAutofit/>
                    </a:bodyPr>
                    <a:lstStyle/>
                    <a:p>
                      <a:pPr algn="l">
                        <a:lnSpc>
                          <a:spcPct val="108000"/>
                        </a:lnSpc>
                        <a:buNone/>
                      </a:pPr>
                      <a:r>
                        <a:rPr sz="2500" b="1">
                          <a:solidFill>
                            <a:srgbClr val="211B16"/>
                          </a:solidFill>
                          <a:latin typeface="Arial"/>
                          <a:ea typeface="Arial"/>
                          <a:cs typeface="Arial"/>
                        </a:rPr>
                        <a:t>Example</a:t>
                      </a:r>
                    </a:p>
                  </a:txBody>
                  <a:tcPr marL="91440" marR="91440" marT="45720" marB="45720" anchor="ctr">
                    <a:solidFill>
                      <a:srgbClr val="F2E8D5"/>
                    </a:solidFill>
                  </a:tcPr>
                </a:tc>
                <a:tc>
                  <a:txBody>
                    <a:bodyPr lIns="152400" tIns="85725" rIns="152400" bIns="85725">
                      <a:noAutofit/>
                    </a:bodyPr>
                    <a:lstStyle/>
                    <a:p>
                      <a:pPr algn="l">
                        <a:lnSpc>
                          <a:spcPct val="108000"/>
                        </a:lnSpc>
                        <a:buNone/>
                      </a:pPr>
                      <a:r>
                        <a:rPr sz="2500" b="0">
                          <a:solidFill>
                            <a:srgbClr val="211B16"/>
                          </a:solidFill>
                          <a:latin typeface="Arial"/>
                          <a:ea typeface="Arial"/>
                          <a:cs typeface="Arial"/>
                        </a:rPr>
                        <a:t>The chair faces the door.</a:t>
                      </a:r>
                    </a:p>
                  </a:txBody>
                  <a:tcPr marL="91440" marR="91440" marT="45720" marB="45720" anchor="ctr">
                    <a:solidFill>
                      <a:srgbClr val="F2E8D5"/>
                    </a:solidFill>
                  </a:tcPr>
                </a:tc>
                <a:tc>
                  <a:txBody>
                    <a:bodyPr lIns="152400" tIns="85725" rIns="152400" bIns="85725">
                      <a:noAutofit/>
                    </a:bodyPr>
                    <a:lstStyle/>
                    <a:p>
                      <a:pPr algn="l">
                        <a:lnSpc>
                          <a:spcPct val="108000"/>
                        </a:lnSpc>
                        <a:buNone/>
                      </a:pPr>
                      <a:r>
                        <a:rPr sz="2500" b="0">
                          <a:solidFill>
                            <a:srgbClr val="211B16"/>
                          </a:solidFill>
                          <a:latin typeface="Arial"/>
                          <a:ea typeface="Arial"/>
                          <a:cs typeface="Arial"/>
                        </a:rPr>
                        <a:t>The visitor may be ready to leave.</a:t>
                      </a:r>
                    </a:p>
                  </a:txBody>
                  <a:tcPr marL="91440" marR="91440" marT="45720" marB="45720" anchor="ctr">
                    <a:solidFill>
                      <a:srgbClr val="F2E8D5"/>
                    </a:solidFill>
                  </a:tcPr>
                </a:tc>
              </a:tr>
            </a:tbl>
          </a:graphicData>
        </a:graphic>
      </p:graphicFrame>
      <p:sp>
        <p:nvSpPr>
          <p:cNvPr id="4" name="practice">
            <a:extLst xmlns:a="http://schemas.openxmlformats.org/drawingml/2006/main">
              <a:ext uri="{FF2B5EF4-FFF2-40B4-BE49-F238E27FC236}">
                <a16:creationId xmlns:a16="http://schemas.microsoft.com/office/drawing/2014/main" id="{55F368F0-1052-4DD5-8D20-C8E67997ACAA}"/>
              </a:ext>
            </a:extLst>
          </p:cNvPr>
          <p:cNvSpPr>
            <a:spLocks xmlns:a="http://schemas.openxmlformats.org/drawingml/2006/main" noGrp="1"/>
          </p:cNvSpPr>
          <p:nvPr/>
        </p:nvSpPr>
        <p:spPr>
          <a:xfrm xmlns:a="http://schemas.openxmlformats.org/drawingml/2006/main">
            <a:off x="685800" y="5762625"/>
            <a:ext cx="108204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00" b="1">
                <a:solidFill>
                  <a:srgbClr val="5C2230"/>
                </a:solidFill>
                <a:latin typeface="Arial"/>
                <a:ea typeface="Arial"/>
                <a:cs typeface="Arial"/>
              </a:defRPr>
            </a:defPPr>
          </a:lstStyle>
          <a:p xmlns:a="http://schemas.openxmlformats.org/drawingml/2006/main">
            <a:pPr algn="l">
              <a:lnSpc>
                <a:spcPct val="112000"/>
              </a:lnSpc>
              <a:buNone/>
              <a:defRPr sz="2500" b="1">
                <a:solidFill>
                  <a:srgbClr val="5C2230"/>
                </a:solidFill>
                <a:latin typeface="Arial"/>
                <a:ea typeface="Arial"/>
                <a:cs typeface="Arial"/>
              </a:defRPr>
            </a:pPr>
            <a:r>
              <a:rPr sz="2500" b="1">
                <a:solidFill>
                  <a:srgbClr val="5C2230"/>
                </a:solidFill>
                <a:latin typeface="Arial"/>
                <a:ea typeface="Arial"/>
                <a:cs typeface="Arial"/>
              </a:rPr>
              <a:t>Write one description. Then build an interpretation from it.</a:t>
            </a:r>
          </a:p>
        </p:txBody>
      </p:sp>
      <p:sp>
        <p:nvSpPr>
          <p:cNvPr id="5" name="template-capacity-guide">
            <a:extLst xmlns:a="http://schemas.openxmlformats.org/drawingml/2006/main">
              <a:ext uri="{FF2B5EF4-FFF2-40B4-BE49-F238E27FC236}">
                <a16:creationId xmlns:a16="http://schemas.microsoft.com/office/drawing/2014/main" id="{2C949BE3-2130-4911-A902-6EB83F6DA536}"/>
              </a:ext>
            </a:extLst>
          </p:cNvPr>
          <p:cNvSpPr>
            <a:spLocks xmlns:a="http://schemas.openxmlformats.org/drawingml/2006/main" noGrp="1"/>
          </p:cNvSpPr>
          <p:nvPr/>
        </p:nvSpPr>
        <p:spPr>
          <a:xfrm xmlns:a="http://schemas.openxmlformats.org/drawingml/2006/main">
            <a:off x="685800" y="6343650"/>
            <a:ext cx="108204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00" b="0">
                <a:solidFill>
                  <a:srgbClr val="5C2230"/>
                </a:solidFill>
                <a:latin typeface="Arial"/>
                <a:ea typeface="Arial"/>
                <a:cs typeface="Arial"/>
              </a:defRPr>
            </a:defPPr>
          </a:lstStyle>
          <a:p xmlns:a="http://schemas.openxmlformats.org/drawingml/2006/main">
            <a:pPr algn="l">
              <a:lnSpc>
                <a:spcPct val="112000"/>
              </a:lnSpc>
              <a:buNone/>
              <a:defRPr sz="1600" b="0">
                <a:solidFill>
                  <a:srgbClr val="5C2230"/>
                </a:solidFill>
                <a:latin typeface="Arial"/>
                <a:ea typeface="Arial"/>
                <a:cs typeface="Arial"/>
              </a:defRPr>
            </a:pPr>
            <a:r>
              <a:rPr sz="1600" b="0">
                <a:solidFill>
                  <a:srgbClr val="5C2230"/>
                </a:solidFill>
                <a:latin typeface="Arial"/>
                <a:ea typeface="Arial"/>
                <a:cs typeface="Arial"/>
              </a:rPr>
              <a:t>Example: three comparison rows with short cells at 25 pt</a:t>
            </a:r>
          </a:p>
        </p:txBody>
      </p:sp>
    </p:spTree>
    <p:extLst>
      <p:ext uri="{BB962C8B-B14F-4D97-AF65-F5344CB8AC3E}">
        <p14:creationId xmlns:p14="http://schemas.microsoft.com/office/powerpoint/2010/main" val="550202220"/>
      </p:ext>
    </p:extLst>
  </p:cSld>
</p:sld>
</file>

<file path=ppt/slides/slide9.xml><?xml version="1.0" encoding="utf-8"?>
<p:sld xmlns:p="http://schemas.openxmlformats.org/presentationml/2006/main">
  <p:cSld>
    <p:bg>
      <p:bgPr>
        <a:solidFill xmlns:a="http://schemas.openxmlformats.org/drawingml/2006/main">
          <a:srgbClr val="211B16"/>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DA648E8C-0D24-4B4E-8413-B8EB07C96771}"/>
              </a:ext>
            </a:extLst>
          </p:cNvPr>
          <p:cNvPicPr>
            <a:picLocks xmlns:a="http://schemas.openxmlformats.org/drawingml/2006/main" noChangeAspect="1"/>
          </p:cNvPicPr>
          <p:nvPr/>
        </p:nvPicPr>
        <p:blipFill>
          <a:blip xmlns:r="http://schemas.openxmlformats.org/officeDocument/2006/relationships" xmlns:a="http://schemas.openxmlformats.org/drawingml/2006/main" r:embed="Rf12981847d5a4dae"/>
          <a:stretch xmlns:a="http://schemas.openxmlformats.org/drawingml/2006/main"/>
        </p:blipFill>
        <p:spPr>
          <a:xfrm xmlns:a="http://schemas.openxmlformats.org/drawingml/2006/main">
            <a:off x="3239" y="0"/>
            <a:ext cx="12185522" cy="6858000"/>
          </a:xfrm>
          <a:prstGeom xmlns:a="http://schemas.openxmlformats.org/drawingml/2006/main" prst="rect">
            <a:avLst/>
          </a:prstGeom>
        </p:spPr>
      </p:pic>
      <p:sp>
        <p:nvSpPr>
          <p:cNvPr id="2" name="template-label">
            <a:extLst xmlns:a="http://schemas.openxmlformats.org/drawingml/2006/main">
              <a:ext uri="{FF2B5EF4-FFF2-40B4-BE49-F238E27FC236}">
                <a16:creationId xmlns:a16="http://schemas.microsoft.com/office/drawing/2014/main" id="{ADAD4148-8878-4039-890B-BC99B51D04FB}"/>
              </a:ext>
            </a:extLst>
          </p:cNvPr>
          <p:cNvSpPr>
            <a:spLocks xmlns:a="http://schemas.openxmlformats.org/drawingml/2006/main" noGrp="1"/>
          </p:cNvSpPr>
          <p:nvPr/>
        </p:nvSpPr>
        <p:spPr>
          <a:xfrm xmlns:a="http://schemas.openxmlformats.org/drawingml/2006/main">
            <a:off x="1952625" y="419100"/>
            <a:ext cx="8334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00" b="1">
                <a:solidFill>
                  <a:srgbClr val="B89B5E"/>
                </a:solidFill>
                <a:latin typeface="Arial"/>
                <a:ea typeface="Arial"/>
                <a:cs typeface="Arial"/>
              </a:defRPr>
            </a:defPPr>
          </a:lstStyle>
          <a:p xmlns:a="http://schemas.openxmlformats.org/drawingml/2006/main">
            <a:pPr algn="l">
              <a:lnSpc>
                <a:spcPct val="112000"/>
              </a:lnSpc>
              <a:buNone/>
              <a:defRPr sz="1700" b="1">
                <a:solidFill>
                  <a:srgbClr val="B89B5E"/>
                </a:solidFill>
                <a:latin typeface="Arial"/>
                <a:ea typeface="Arial"/>
                <a:cs typeface="Arial"/>
              </a:defRPr>
            </a:pPr>
            <a:r>
              <a:rPr sz="1700" b="1">
                <a:solidFill>
                  <a:srgbClr val="B89B5E"/>
                </a:solidFill>
                <a:latin typeface="Arial"/>
                <a:ea typeface="Arial"/>
                <a:cs typeface="Arial"/>
              </a:rPr>
              <a:t>09  DEBATE / CLAIM AND COUNTERPOINT</a:t>
            </a:r>
          </a:p>
        </p:txBody>
      </p:sp>
      <p:sp>
        <p:nvSpPr>
          <p:cNvPr id="3" name="heading">
            <a:extLst xmlns:a="http://schemas.openxmlformats.org/drawingml/2006/main">
              <a:ext uri="{FF2B5EF4-FFF2-40B4-BE49-F238E27FC236}">
                <a16:creationId xmlns:a16="http://schemas.microsoft.com/office/drawing/2014/main" id="{1BE5B691-8423-4D07-B9C9-8BFF9FA6A30F}"/>
              </a:ext>
            </a:extLst>
          </p:cNvPr>
          <p:cNvSpPr>
            <a:spLocks xmlns:a="http://schemas.openxmlformats.org/drawingml/2006/main" noGrp="1"/>
          </p:cNvSpPr>
          <p:nvPr/>
        </p:nvSpPr>
        <p:spPr>
          <a:xfrm xmlns:a="http://schemas.openxmlformats.org/drawingml/2006/main">
            <a:off x="1952625" y="1057275"/>
            <a:ext cx="8334375" cy="1457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000" b="1">
                <a:solidFill>
                  <a:srgbClr val="F2E8D5"/>
                </a:solidFill>
                <a:latin typeface="Georgia"/>
                <a:ea typeface="Georgia"/>
                <a:cs typeface="Georgia"/>
              </a:defRPr>
            </a:defPPr>
          </a:lstStyle>
          <a:p xmlns:a="http://schemas.openxmlformats.org/drawingml/2006/main">
            <a:pPr algn="l">
              <a:lnSpc>
                <a:spcPct val="112000"/>
              </a:lnSpc>
              <a:buNone/>
              <a:defRPr sz="4000" b="1">
                <a:solidFill>
                  <a:srgbClr val="F2E8D5"/>
                </a:solidFill>
                <a:latin typeface="Georgia"/>
                <a:ea typeface="Georgia"/>
                <a:cs typeface="Georgia"/>
              </a:defRPr>
            </a:pPr>
            <a:r>
              <a:rPr sz="4000" b="1">
                <a:solidFill>
                  <a:srgbClr val="F2E8D5"/>
                </a:solidFill>
                <a:latin typeface="Georgia"/>
                <a:ea typeface="Georgia"/>
                <a:cs typeface="Georgia"/>
              </a:rPr>
              <a:t>What should a</a:t>
            </a:r>
          </a:p>
          <a:p xmlns:a="http://schemas.openxmlformats.org/drawingml/2006/main">
            <a:pPr algn="l">
              <a:lnSpc>
                <a:spcPct val="112000"/>
              </a:lnSpc>
              <a:buNone/>
              <a:defRPr sz="4000" b="1">
                <a:solidFill>
                  <a:srgbClr val="F2E8D5"/>
                </a:solidFill>
                <a:latin typeface="Georgia"/>
                <a:ea typeface="Georgia"/>
                <a:cs typeface="Georgia"/>
              </a:defRPr>
            </a:pPr>
            <a:r>
              <a:rPr sz="4000" b="1">
                <a:solidFill>
                  <a:srgbClr val="F2E8D5"/>
                </a:solidFill>
                <a:latin typeface="Georgia"/>
                <a:ea typeface="Georgia"/>
                <a:cs typeface="Georgia"/>
              </a:rPr>
              <a:t>town preserve?</a:t>
            </a:r>
          </a:p>
        </p:txBody>
      </p:sp>
      <p:sp>
        <p:nvSpPr>
          <p:cNvPr id="4" name="claim">
            <a:extLst xmlns:a="http://schemas.openxmlformats.org/drawingml/2006/main">
              <a:ext uri="{FF2B5EF4-FFF2-40B4-BE49-F238E27FC236}">
                <a16:creationId xmlns:a16="http://schemas.microsoft.com/office/drawing/2014/main" id="{A5EEFF47-EDD7-4144-814C-5613D21990DA}"/>
              </a:ext>
            </a:extLst>
          </p:cNvPr>
          <p:cNvSpPr>
            <a:spLocks xmlns:a="http://schemas.openxmlformats.org/drawingml/2006/main" noGrp="1"/>
          </p:cNvSpPr>
          <p:nvPr/>
        </p:nvSpPr>
        <p:spPr>
          <a:xfrm xmlns:a="http://schemas.openxmlformats.org/drawingml/2006/main">
            <a:off x="1952625" y="2781300"/>
            <a:ext cx="8334375"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0">
                <a:solidFill>
                  <a:srgbClr val="F2E8D5"/>
                </a:solidFill>
                <a:latin typeface="Arial"/>
                <a:ea typeface="Arial"/>
                <a:cs typeface="Arial"/>
              </a:defRPr>
            </a:defPPr>
          </a:lstStyle>
          <a:p xmlns:a="http://schemas.openxmlformats.org/drawingml/2006/main">
            <a:pPr algn="l">
              <a:lnSpc>
                <a:spcPct val="112000"/>
              </a:lnSpc>
              <a:buNone/>
              <a:defRPr sz="3000" b="0">
                <a:solidFill>
                  <a:srgbClr val="F2E8D5"/>
                </a:solidFill>
                <a:latin typeface="Arial"/>
                <a:ea typeface="Arial"/>
                <a:cs typeface="Arial"/>
              </a:defRPr>
            </a:pPr>
            <a:r>
              <a:rPr sz="3000" b="0">
                <a:solidFill>
                  <a:srgbClr val="F2E8D5"/>
                </a:solidFill>
                <a:latin typeface="Arial"/>
                <a:ea typeface="Arial"/>
                <a:cs typeface="Arial"/>
              </a:rPr>
              <a:t>“Every old building should be preserved.”</a:t>
            </a:r>
          </a:p>
        </p:txBody>
      </p:sp>
      <p:sp>
        <p:nvSpPr>
          <p:cNvPr id="5" name="support-label">
            <a:extLst xmlns:a="http://schemas.openxmlformats.org/drawingml/2006/main">
              <a:ext uri="{FF2B5EF4-FFF2-40B4-BE49-F238E27FC236}">
                <a16:creationId xmlns:a16="http://schemas.microsoft.com/office/drawing/2014/main" id="{D6F5829C-99BC-42EB-80E5-56347BEFB33D}"/>
              </a:ext>
            </a:extLst>
          </p:cNvPr>
          <p:cNvSpPr>
            <a:spLocks xmlns:a="http://schemas.openxmlformats.org/drawingml/2006/main" noGrp="1"/>
          </p:cNvSpPr>
          <p:nvPr/>
        </p:nvSpPr>
        <p:spPr>
          <a:xfrm xmlns:a="http://schemas.openxmlformats.org/drawingml/2006/main">
            <a:off x="1952625" y="4057650"/>
            <a:ext cx="36671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B89B5E"/>
                </a:solidFill>
                <a:latin typeface="Arial"/>
                <a:ea typeface="Arial"/>
                <a:cs typeface="Arial"/>
              </a:defRPr>
            </a:defPPr>
          </a:lstStyle>
          <a:p xmlns:a="http://schemas.openxmlformats.org/drawingml/2006/main">
            <a:pPr algn="l">
              <a:lnSpc>
                <a:spcPct val="112000"/>
              </a:lnSpc>
              <a:buNone/>
              <a:defRPr sz="2100" b="1">
                <a:solidFill>
                  <a:srgbClr val="B89B5E"/>
                </a:solidFill>
                <a:latin typeface="Arial"/>
                <a:ea typeface="Arial"/>
                <a:cs typeface="Arial"/>
              </a:defRPr>
            </a:pPr>
            <a:r>
              <a:rPr sz="2100" b="1">
                <a:solidFill>
                  <a:srgbClr val="B89B5E"/>
                </a:solidFill>
                <a:latin typeface="Arial"/>
                <a:ea typeface="Arial"/>
                <a:cs typeface="Arial"/>
              </a:rPr>
              <a:t>FOR</a:t>
            </a:r>
          </a:p>
        </p:txBody>
      </p:sp>
      <p:sp>
        <p:nvSpPr>
          <p:cNvPr id="6" name="challenge-label">
            <a:extLst xmlns:a="http://schemas.openxmlformats.org/drawingml/2006/main">
              <a:ext uri="{FF2B5EF4-FFF2-40B4-BE49-F238E27FC236}">
                <a16:creationId xmlns:a16="http://schemas.microsoft.com/office/drawing/2014/main" id="{76E8B4B0-443E-425F-9F0C-FDB428288420}"/>
              </a:ext>
            </a:extLst>
          </p:cNvPr>
          <p:cNvSpPr>
            <a:spLocks xmlns:a="http://schemas.openxmlformats.org/drawingml/2006/main" noGrp="1"/>
          </p:cNvSpPr>
          <p:nvPr/>
        </p:nvSpPr>
        <p:spPr>
          <a:xfrm xmlns:a="http://schemas.openxmlformats.org/drawingml/2006/main">
            <a:off x="6429375" y="4057650"/>
            <a:ext cx="36671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B89B5E"/>
                </a:solidFill>
                <a:latin typeface="Arial"/>
                <a:ea typeface="Arial"/>
                <a:cs typeface="Arial"/>
              </a:defRPr>
            </a:defPPr>
          </a:lstStyle>
          <a:p xmlns:a="http://schemas.openxmlformats.org/drawingml/2006/main">
            <a:pPr algn="l">
              <a:lnSpc>
                <a:spcPct val="112000"/>
              </a:lnSpc>
              <a:buNone/>
              <a:defRPr sz="2100" b="1">
                <a:solidFill>
                  <a:srgbClr val="B89B5E"/>
                </a:solidFill>
                <a:latin typeface="Arial"/>
                <a:ea typeface="Arial"/>
                <a:cs typeface="Arial"/>
              </a:defRPr>
            </a:pPr>
            <a:r>
              <a:rPr sz="2100" b="1">
                <a:solidFill>
                  <a:srgbClr val="B89B5E"/>
                </a:solidFill>
                <a:latin typeface="Arial"/>
                <a:ea typeface="Arial"/>
                <a:cs typeface="Arial"/>
              </a:rPr>
              <a:t>AGAINST</a:t>
            </a:r>
          </a:p>
        </p:txBody>
      </p:sp>
      <p:sp>
        <p:nvSpPr>
          <p:cNvPr id="7" name="support">
            <a:extLst xmlns:a="http://schemas.openxmlformats.org/drawingml/2006/main">
              <a:ext uri="{FF2B5EF4-FFF2-40B4-BE49-F238E27FC236}">
                <a16:creationId xmlns:a16="http://schemas.microsoft.com/office/drawing/2014/main" id="{448C48E5-016F-4B34-BF06-6F185A3EED9C}"/>
              </a:ext>
            </a:extLst>
          </p:cNvPr>
          <p:cNvSpPr>
            <a:spLocks xmlns:a="http://schemas.openxmlformats.org/drawingml/2006/main" noGrp="1"/>
          </p:cNvSpPr>
          <p:nvPr/>
        </p:nvSpPr>
        <p:spPr>
          <a:xfrm xmlns:a="http://schemas.openxmlformats.org/drawingml/2006/main">
            <a:off x="1952625" y="4486275"/>
            <a:ext cx="3667125"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00" b="0">
                <a:solidFill>
                  <a:srgbClr val="F2E8D5"/>
                </a:solidFill>
                <a:latin typeface="Arial"/>
                <a:ea typeface="Arial"/>
                <a:cs typeface="Arial"/>
              </a:defRPr>
            </a:defPPr>
          </a:lstStyle>
          <a:p xmlns:a="http://schemas.openxmlformats.org/drawingml/2006/main">
            <a:pPr algn="l">
              <a:lnSpc>
                <a:spcPct val="112000"/>
              </a:lnSpc>
              <a:buNone/>
              <a:defRPr sz="2500" b="0">
                <a:solidFill>
                  <a:srgbClr val="F2E8D5"/>
                </a:solidFill>
                <a:latin typeface="Arial"/>
                <a:ea typeface="Arial"/>
                <a:cs typeface="Arial"/>
              </a:defRPr>
            </a:pPr>
            <a:r>
              <a:rPr sz="2500" b="0">
                <a:solidFill>
                  <a:srgbClr val="F2E8D5"/>
                </a:solidFill>
                <a:latin typeface="Arial"/>
                <a:ea typeface="Arial"/>
                <a:cs typeface="Arial"/>
              </a:rPr>
              <a:t>Buildings can hold a community’s shared memories.</a:t>
            </a:r>
          </a:p>
        </p:txBody>
      </p:sp>
      <p:sp>
        <p:nvSpPr>
          <p:cNvPr id="8" name="challenge">
            <a:extLst xmlns:a="http://schemas.openxmlformats.org/drawingml/2006/main">
              <a:ext uri="{FF2B5EF4-FFF2-40B4-BE49-F238E27FC236}">
                <a16:creationId xmlns:a16="http://schemas.microsoft.com/office/drawing/2014/main" id="{8DC8F6F7-96C8-4825-8288-024F677C95B7}"/>
              </a:ext>
            </a:extLst>
          </p:cNvPr>
          <p:cNvSpPr>
            <a:spLocks xmlns:a="http://schemas.openxmlformats.org/drawingml/2006/main" noGrp="1"/>
          </p:cNvSpPr>
          <p:nvPr/>
        </p:nvSpPr>
        <p:spPr>
          <a:xfrm xmlns:a="http://schemas.openxmlformats.org/drawingml/2006/main">
            <a:off x="6429375" y="4486275"/>
            <a:ext cx="36671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00" b="0">
                <a:solidFill>
                  <a:srgbClr val="F2E8D5"/>
                </a:solidFill>
                <a:latin typeface="Arial"/>
                <a:ea typeface="Arial"/>
                <a:cs typeface="Arial"/>
              </a:defRPr>
            </a:defPPr>
          </a:lstStyle>
          <a:p xmlns:a="http://schemas.openxmlformats.org/drawingml/2006/main">
            <a:pPr algn="l">
              <a:lnSpc>
                <a:spcPct val="112000"/>
              </a:lnSpc>
              <a:buNone/>
              <a:defRPr sz="2500" b="0">
                <a:solidFill>
                  <a:srgbClr val="F2E8D5"/>
                </a:solidFill>
                <a:latin typeface="Arial"/>
                <a:ea typeface="Arial"/>
                <a:cs typeface="Arial"/>
              </a:defRPr>
            </a:pPr>
            <a:r>
              <a:rPr sz="2500" b="0">
                <a:solidFill>
                  <a:srgbClr val="F2E8D5"/>
                </a:solidFill>
                <a:latin typeface="Arial"/>
                <a:ea typeface="Arial"/>
                <a:cs typeface="Arial"/>
              </a:rPr>
              <a:t>Some buildings may be unsafe or too costly to repair.</a:t>
            </a:r>
          </a:p>
        </p:txBody>
      </p:sp>
      <p:sp>
        <p:nvSpPr>
          <p:cNvPr id="9" name="template-capacity-guide">
            <a:extLst xmlns:a="http://schemas.openxmlformats.org/drawingml/2006/main">
              <a:ext uri="{FF2B5EF4-FFF2-40B4-BE49-F238E27FC236}">
                <a16:creationId xmlns:a16="http://schemas.microsoft.com/office/drawing/2014/main" id="{0C35276F-2687-4E09-8719-420808F0DDDA}"/>
              </a:ext>
            </a:extLst>
          </p:cNvPr>
          <p:cNvSpPr>
            <a:spLocks xmlns:a="http://schemas.openxmlformats.org/drawingml/2006/main" noGrp="1"/>
          </p:cNvSpPr>
          <p:nvPr/>
        </p:nvSpPr>
        <p:spPr>
          <a:xfrm xmlns:a="http://schemas.openxmlformats.org/drawingml/2006/main">
            <a:off x="1952625" y="6343650"/>
            <a:ext cx="8334375" cy="276225"/>
          </a:xfrm>
          <a:prstGeom xmlns:a="http://schemas.openxmlformats.org/drawingml/2006/main" prst="rect">
            <a:avLst/>
          </a:prstGeom>
          <a:solidFill xmlns:a="http://schemas.openxmlformats.org/drawingml/2006/main">
            <a:srgbClr val="211B16"/>
          </a:solidFill>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00" b="0">
                <a:solidFill>
                  <a:srgbClr val="B89B5E"/>
                </a:solidFill>
                <a:latin typeface="Arial"/>
                <a:ea typeface="Arial"/>
                <a:cs typeface="Arial"/>
              </a:defRPr>
            </a:defPPr>
          </a:lstStyle>
          <a:p xmlns:a="http://schemas.openxmlformats.org/drawingml/2006/main">
            <a:pPr algn="l">
              <a:lnSpc>
                <a:spcPct val="112000"/>
              </a:lnSpc>
              <a:buNone/>
              <a:defRPr sz="1600" b="0">
                <a:solidFill>
                  <a:srgbClr val="B89B5E"/>
                </a:solidFill>
                <a:latin typeface="Arial"/>
                <a:ea typeface="Arial"/>
                <a:cs typeface="Arial"/>
              </a:defRPr>
            </a:pPr>
            <a:r>
              <a:rPr sz="1600" b="0">
                <a:solidFill>
                  <a:srgbClr val="B89B5E"/>
                </a:solidFill>
                <a:latin typeface="Arial"/>
                <a:ea typeface="Arial"/>
                <a:cs typeface="Arial"/>
              </a:rPr>
              <a:t>Example: one claim and two positions of about 10 words</a:t>
            </a:r>
          </a:p>
        </p:txBody>
      </p:sp>
    </p:spTree>
    <p:extLst>
      <p:ext uri="{BB962C8B-B14F-4D97-AF65-F5344CB8AC3E}">
        <p14:creationId xmlns:p14="http://schemas.microsoft.com/office/powerpoint/2010/main" val="1255533142"/>
      </p:ext>
    </p:extLst>
  </p:cSld>
</p:sld>
</file>

<file path=ppt/slides/slide10.xml><?xml version="1.0" encoding="utf-8"?>
<p:sld xmlns:p="http://schemas.openxmlformats.org/presentationml/2006/main">
  <p:cSld>
    <p:bg>
      <p:bgPr>
        <a:solidFill xmlns:a="http://schemas.openxmlformats.org/drawingml/2006/main">
          <a:srgbClr val="E9D8B6"/>
        </a:solidFill>
      </p:bgPr>
    </p:bg>
    <p:spTree>
      <p:nvGrpSpPr>
        <p:cNvPr id="1" name=""/>
        <p:cNvGrpSpPr/>
        <p:nvPr/>
      </p:nvGrpSpPr>
      <p:grpSpPr>
        <a:xfrm xmlns:a="http://schemas.openxmlformats.org/drawingml/2006/main"/>
      </p:grpSpPr>
      <p:sp>
        <p:nvSpPr>
          <p:cNvPr id="16" name="template-label">
            <a:extLst xmlns:a="http://schemas.openxmlformats.org/drawingml/2006/main">
              <a:ext uri="{FF2B5EF4-FFF2-40B4-BE49-F238E27FC236}">
                <a16:creationId xmlns:a16="http://schemas.microsoft.com/office/drawing/2014/main" id="{8113F937-C03B-4DCA-9ACA-C0221B90A05B}"/>
              </a:ext>
            </a:extLst>
          </p:cNvPr>
          <p:cNvSpPr>
            <a:spLocks xmlns:a="http://schemas.openxmlformats.org/drawingml/2006/main" noGrp="1"/>
          </p:cNvSpPr>
          <p:nvPr/>
        </p:nvSpPr>
        <p:spPr>
          <a:xfrm xmlns:a="http://schemas.openxmlformats.org/drawingml/2006/main">
            <a:off x="685800" y="285750"/>
            <a:ext cx="10820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00" b="1">
                <a:solidFill>
                  <a:srgbClr val="5C2230"/>
                </a:solidFill>
                <a:latin typeface="Arial"/>
                <a:ea typeface="Arial"/>
                <a:cs typeface="Arial"/>
              </a:defRPr>
            </a:defPPr>
          </a:lstStyle>
          <a:p xmlns:a="http://schemas.openxmlformats.org/drawingml/2006/main">
            <a:pPr algn="l">
              <a:lnSpc>
                <a:spcPct val="112000"/>
              </a:lnSpc>
              <a:buNone/>
              <a:defRPr sz="1700" b="1">
                <a:solidFill>
                  <a:srgbClr val="5C2230"/>
                </a:solidFill>
                <a:latin typeface="Arial"/>
                <a:ea typeface="Arial"/>
                <a:cs typeface="Arial"/>
              </a:defRPr>
            </a:pPr>
            <a:r>
              <a:rPr sz="1700" b="1">
                <a:solidFill>
                  <a:srgbClr val="5C2230"/>
                </a:solidFill>
                <a:latin typeface="Arial"/>
                <a:ea typeface="Arial"/>
                <a:cs typeface="Arial"/>
              </a:rPr>
              <a:t>10  DEBATE / DISCUSSION ROLES</a:t>
            </a:r>
          </a:p>
        </p:txBody>
      </p:sp>
      <p:sp>
        <p:nvSpPr>
          <p:cNvPr id="2" name="heading">
            <a:extLst xmlns:a="http://schemas.openxmlformats.org/drawingml/2006/main">
              <a:ext uri="{FF2B5EF4-FFF2-40B4-BE49-F238E27FC236}">
                <a16:creationId xmlns:a16="http://schemas.microsoft.com/office/drawing/2014/main" id="{3D004655-EE8E-43BF-B3EF-78C0129D0C74}"/>
              </a:ext>
            </a:extLst>
          </p:cNvPr>
          <p:cNvSpPr>
            <a:spLocks xmlns:a="http://schemas.openxmlformats.org/drawingml/2006/main" noGrp="1"/>
          </p:cNvSpPr>
          <p:nvPr/>
        </p:nvSpPr>
        <p:spPr>
          <a:xfrm xmlns:a="http://schemas.openxmlformats.org/drawingml/2006/main">
            <a:off x="685800" y="83820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800" b="1">
                <a:solidFill>
                  <a:srgbClr val="211B16"/>
                </a:solidFill>
                <a:latin typeface="Georgia"/>
                <a:ea typeface="Georgia"/>
                <a:cs typeface="Georgia"/>
              </a:defRPr>
            </a:defPPr>
          </a:lstStyle>
          <a:p xmlns:a="http://schemas.openxmlformats.org/drawingml/2006/main">
            <a:pPr algn="l">
              <a:lnSpc>
                <a:spcPct val="112000"/>
              </a:lnSpc>
              <a:buNone/>
              <a:defRPr sz="3800" b="1">
                <a:solidFill>
                  <a:srgbClr val="211B16"/>
                </a:solidFill>
                <a:latin typeface="Georgia"/>
                <a:ea typeface="Georgia"/>
                <a:cs typeface="Georgia"/>
              </a:defRPr>
            </a:pPr>
            <a:r>
              <a:rPr sz="3800" b="1">
                <a:solidFill>
                  <a:srgbClr val="211B16"/>
                </a:solidFill>
                <a:latin typeface="Georgia"/>
                <a:ea typeface="Georgia"/>
                <a:cs typeface="Georgia"/>
              </a:rPr>
              <a:t>A discussion that develops an idea</a:t>
            </a:r>
          </a:p>
        </p:txBody>
      </p:sp>
      <p:sp>
        <p:nvSpPr>
          <p:cNvPr id="3" name="number-0">
            <a:extLst xmlns:a="http://schemas.openxmlformats.org/drawingml/2006/main">
              <a:ext uri="{FF2B5EF4-FFF2-40B4-BE49-F238E27FC236}">
                <a16:creationId xmlns:a16="http://schemas.microsoft.com/office/drawing/2014/main" id="{04A5AE6A-1203-479E-B429-EFCFA45E94BC}"/>
              </a:ext>
            </a:extLst>
          </p:cNvPr>
          <p:cNvSpPr>
            <a:spLocks xmlns:a="http://schemas.openxmlformats.org/drawingml/2006/main" noGrp="1"/>
          </p:cNvSpPr>
          <p:nvPr/>
        </p:nvSpPr>
        <p:spPr>
          <a:xfrm xmlns:a="http://schemas.openxmlformats.org/drawingml/2006/main">
            <a:off x="685800" y="2076450"/>
            <a:ext cx="857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900" b="1">
                <a:solidFill>
                  <a:srgbClr val="5C2230"/>
                </a:solidFill>
                <a:latin typeface="Georgia"/>
                <a:ea typeface="Georgia"/>
                <a:cs typeface="Georgia"/>
              </a:defRPr>
            </a:defPPr>
          </a:lstStyle>
          <a:p xmlns:a="http://schemas.openxmlformats.org/drawingml/2006/main">
            <a:pPr algn="l">
              <a:lnSpc>
                <a:spcPct val="112000"/>
              </a:lnSpc>
              <a:buNone/>
              <a:defRPr sz="3900" b="1">
                <a:solidFill>
                  <a:srgbClr val="5C2230"/>
                </a:solidFill>
                <a:latin typeface="Georgia"/>
                <a:ea typeface="Georgia"/>
                <a:cs typeface="Georgia"/>
              </a:defRPr>
            </a:pPr>
            <a:r>
              <a:rPr sz="3900" b="1">
                <a:solidFill>
                  <a:srgbClr val="5C2230"/>
                </a:solidFill>
                <a:latin typeface="Georgia"/>
                <a:ea typeface="Georgia"/>
                <a:cs typeface="Georgia"/>
              </a:rPr>
              <a:t>01</a:t>
            </a:r>
          </a:p>
        </p:txBody>
      </p:sp>
      <p:sp>
        <p:nvSpPr>
          <p:cNvPr id="4" name="role-0">
            <a:extLst xmlns:a="http://schemas.openxmlformats.org/drawingml/2006/main">
              <a:ext uri="{FF2B5EF4-FFF2-40B4-BE49-F238E27FC236}">
                <a16:creationId xmlns:a16="http://schemas.microsoft.com/office/drawing/2014/main" id="{EDC70D8B-8D2C-4BB8-B0C6-CD0C67450709}"/>
              </a:ext>
            </a:extLst>
          </p:cNvPr>
          <p:cNvSpPr>
            <a:spLocks xmlns:a="http://schemas.openxmlformats.org/drawingml/2006/main" noGrp="1"/>
          </p:cNvSpPr>
          <p:nvPr/>
        </p:nvSpPr>
        <p:spPr>
          <a:xfrm xmlns:a="http://schemas.openxmlformats.org/drawingml/2006/main">
            <a:off x="1905000" y="2114550"/>
            <a:ext cx="285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211B16"/>
                </a:solidFill>
                <a:latin typeface="Arial"/>
                <a:ea typeface="Arial"/>
                <a:cs typeface="Arial"/>
              </a:defRPr>
            </a:defPPr>
          </a:lstStyle>
          <a:p xmlns:a="http://schemas.openxmlformats.org/drawingml/2006/main">
            <a:pPr algn="l">
              <a:lnSpc>
                <a:spcPct val="112000"/>
              </a:lnSpc>
              <a:buNone/>
              <a:defRPr sz="2700" b="1">
                <a:solidFill>
                  <a:srgbClr val="211B16"/>
                </a:solidFill>
                <a:latin typeface="Arial"/>
                <a:ea typeface="Arial"/>
                <a:cs typeface="Arial"/>
              </a:defRPr>
            </a:pPr>
            <a:r>
              <a:rPr sz="2700" b="1">
                <a:solidFill>
                  <a:srgbClr val="211B16"/>
                </a:solidFill>
                <a:latin typeface="Arial"/>
                <a:ea typeface="Arial"/>
                <a:cs typeface="Arial"/>
              </a:rPr>
              <a:t>Speaker</a:t>
            </a:r>
          </a:p>
        </p:txBody>
      </p:sp>
      <p:sp>
        <p:nvSpPr>
          <p:cNvPr id="5" name="instruction-0">
            <a:extLst xmlns:a="http://schemas.openxmlformats.org/drawingml/2006/main">
              <a:ext uri="{FF2B5EF4-FFF2-40B4-BE49-F238E27FC236}">
                <a16:creationId xmlns:a16="http://schemas.microsoft.com/office/drawing/2014/main" id="{6E320A04-D688-4D99-B72B-033321A8F314}"/>
              </a:ext>
            </a:extLst>
          </p:cNvPr>
          <p:cNvSpPr>
            <a:spLocks xmlns:a="http://schemas.openxmlformats.org/drawingml/2006/main" noGrp="1"/>
          </p:cNvSpPr>
          <p:nvPr/>
        </p:nvSpPr>
        <p:spPr>
          <a:xfrm xmlns:a="http://schemas.openxmlformats.org/drawingml/2006/main">
            <a:off x="5238750" y="2105025"/>
            <a:ext cx="62674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600" b="0">
                <a:solidFill>
                  <a:srgbClr val="211B16"/>
                </a:solidFill>
                <a:latin typeface="Arial"/>
                <a:ea typeface="Arial"/>
                <a:cs typeface="Arial"/>
              </a:defRPr>
            </a:defPPr>
          </a:lstStyle>
          <a:p xmlns:a="http://schemas.openxmlformats.org/drawingml/2006/main">
            <a:pPr algn="l">
              <a:lnSpc>
                <a:spcPct val="112000"/>
              </a:lnSpc>
              <a:buNone/>
              <a:defRPr sz="2600" b="0">
                <a:solidFill>
                  <a:srgbClr val="211B16"/>
                </a:solidFill>
                <a:latin typeface="Arial"/>
                <a:ea typeface="Arial"/>
                <a:cs typeface="Arial"/>
              </a:defRPr>
            </a:pPr>
            <a:r>
              <a:rPr sz="2600" b="0">
                <a:solidFill>
                  <a:srgbClr val="211B16"/>
                </a:solidFill>
                <a:latin typeface="Arial"/>
                <a:ea typeface="Arial"/>
                <a:cs typeface="Arial"/>
              </a:rPr>
              <a:t>Make a claim and support it with one detail.</a:t>
            </a:r>
          </a:p>
        </p:txBody>
      </p:sp>
      <p:sp>
        <p:nvSpPr>
          <p:cNvPr id="6" name="rule">
            <a:extLst xmlns:a="http://schemas.openxmlformats.org/drawingml/2006/main">
              <a:ext uri="{FF2B5EF4-FFF2-40B4-BE49-F238E27FC236}">
                <a16:creationId xmlns:a16="http://schemas.microsoft.com/office/drawing/2014/main" id="{D104880D-7F2D-44E7-B6AE-8E1FD0EAB303}"/>
              </a:ext>
            </a:extLst>
          </p:cNvPr>
          <p:cNvSpPr>
            <a:spLocks xmlns:a="http://schemas.openxmlformats.org/drawingml/2006/main" noGrp="1"/>
          </p:cNvSpPr>
          <p:nvPr/>
        </p:nvSpPr>
        <p:spPr>
          <a:xfrm xmlns:a="http://schemas.openxmlformats.org/drawingml/2006/main">
            <a:off x="1905000" y="3105150"/>
            <a:ext cx="9601200" cy="19050"/>
          </a:xfrm>
          <a:prstGeom xmlns:a="http://schemas.openxmlformats.org/drawingml/2006/main" prst="rect">
            <a:avLst/>
          </a:prstGeom>
          <a:solidFill xmlns:a="http://schemas.openxmlformats.org/drawingml/2006/main">
            <a:srgbClr val="5C2230"/>
          </a:solidFill>
          <a:ln xmlns:a="http://schemas.openxmlformats.org/drawingml/2006/main" w="0">
            <a:noFill/>
          </a:ln>
        </p:spPr>
      </p:sp>
      <p:sp>
        <p:nvSpPr>
          <p:cNvPr id="7" name="number-1">
            <a:extLst xmlns:a="http://schemas.openxmlformats.org/drawingml/2006/main">
              <a:ext uri="{FF2B5EF4-FFF2-40B4-BE49-F238E27FC236}">
                <a16:creationId xmlns:a16="http://schemas.microsoft.com/office/drawing/2014/main" id="{CF78293C-BE98-49EC-AC4B-49FD14D29D06}"/>
              </a:ext>
            </a:extLst>
          </p:cNvPr>
          <p:cNvSpPr>
            <a:spLocks xmlns:a="http://schemas.openxmlformats.org/drawingml/2006/main" noGrp="1"/>
          </p:cNvSpPr>
          <p:nvPr/>
        </p:nvSpPr>
        <p:spPr>
          <a:xfrm xmlns:a="http://schemas.openxmlformats.org/drawingml/2006/main">
            <a:off x="685800" y="3190875"/>
            <a:ext cx="857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900" b="1">
                <a:solidFill>
                  <a:srgbClr val="5C2230"/>
                </a:solidFill>
                <a:latin typeface="Georgia"/>
                <a:ea typeface="Georgia"/>
                <a:cs typeface="Georgia"/>
              </a:defRPr>
            </a:defPPr>
          </a:lstStyle>
          <a:p xmlns:a="http://schemas.openxmlformats.org/drawingml/2006/main">
            <a:pPr algn="l">
              <a:lnSpc>
                <a:spcPct val="112000"/>
              </a:lnSpc>
              <a:buNone/>
              <a:defRPr sz="3900" b="1">
                <a:solidFill>
                  <a:srgbClr val="5C2230"/>
                </a:solidFill>
                <a:latin typeface="Georgia"/>
                <a:ea typeface="Georgia"/>
                <a:cs typeface="Georgia"/>
              </a:defRPr>
            </a:pPr>
            <a:r>
              <a:rPr sz="3900" b="1">
                <a:solidFill>
                  <a:srgbClr val="5C2230"/>
                </a:solidFill>
                <a:latin typeface="Georgia"/>
                <a:ea typeface="Georgia"/>
                <a:cs typeface="Georgia"/>
              </a:rPr>
              <a:t>02</a:t>
            </a:r>
          </a:p>
        </p:txBody>
      </p:sp>
      <p:sp>
        <p:nvSpPr>
          <p:cNvPr id="8" name="role-1">
            <a:extLst xmlns:a="http://schemas.openxmlformats.org/drawingml/2006/main">
              <a:ext uri="{FF2B5EF4-FFF2-40B4-BE49-F238E27FC236}">
                <a16:creationId xmlns:a16="http://schemas.microsoft.com/office/drawing/2014/main" id="{58BD0939-E3D9-4FC6-910B-E64A178DA2E4}"/>
              </a:ext>
            </a:extLst>
          </p:cNvPr>
          <p:cNvSpPr>
            <a:spLocks xmlns:a="http://schemas.openxmlformats.org/drawingml/2006/main" noGrp="1"/>
          </p:cNvSpPr>
          <p:nvPr/>
        </p:nvSpPr>
        <p:spPr>
          <a:xfrm xmlns:a="http://schemas.openxmlformats.org/drawingml/2006/main">
            <a:off x="1905000" y="3228975"/>
            <a:ext cx="285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211B16"/>
                </a:solidFill>
                <a:latin typeface="Arial"/>
                <a:ea typeface="Arial"/>
                <a:cs typeface="Arial"/>
              </a:defRPr>
            </a:defPPr>
          </a:lstStyle>
          <a:p xmlns:a="http://schemas.openxmlformats.org/drawingml/2006/main">
            <a:pPr algn="l">
              <a:lnSpc>
                <a:spcPct val="112000"/>
              </a:lnSpc>
              <a:buNone/>
              <a:defRPr sz="2700" b="1">
                <a:solidFill>
                  <a:srgbClr val="211B16"/>
                </a:solidFill>
                <a:latin typeface="Arial"/>
                <a:ea typeface="Arial"/>
                <a:cs typeface="Arial"/>
              </a:defRPr>
            </a:pPr>
            <a:r>
              <a:rPr sz="2700" b="1">
                <a:solidFill>
                  <a:srgbClr val="211B16"/>
                </a:solidFill>
                <a:latin typeface="Arial"/>
                <a:ea typeface="Arial"/>
                <a:cs typeface="Arial"/>
              </a:rPr>
              <a:t>Challenger</a:t>
            </a:r>
          </a:p>
        </p:txBody>
      </p:sp>
      <p:sp>
        <p:nvSpPr>
          <p:cNvPr id="9" name="instruction-1">
            <a:extLst xmlns:a="http://schemas.openxmlformats.org/drawingml/2006/main">
              <a:ext uri="{FF2B5EF4-FFF2-40B4-BE49-F238E27FC236}">
                <a16:creationId xmlns:a16="http://schemas.microsoft.com/office/drawing/2014/main" id="{D72A6BCA-B1AC-4CA4-BD02-531E4BFB9D90}"/>
              </a:ext>
            </a:extLst>
          </p:cNvPr>
          <p:cNvSpPr>
            <a:spLocks xmlns:a="http://schemas.openxmlformats.org/drawingml/2006/main" noGrp="1"/>
          </p:cNvSpPr>
          <p:nvPr/>
        </p:nvSpPr>
        <p:spPr>
          <a:xfrm xmlns:a="http://schemas.openxmlformats.org/drawingml/2006/main">
            <a:off x="5238750" y="3219450"/>
            <a:ext cx="62674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600" b="0">
                <a:solidFill>
                  <a:srgbClr val="211B16"/>
                </a:solidFill>
                <a:latin typeface="Arial"/>
                <a:ea typeface="Arial"/>
                <a:cs typeface="Arial"/>
              </a:defRPr>
            </a:defPPr>
          </a:lstStyle>
          <a:p xmlns:a="http://schemas.openxmlformats.org/drawingml/2006/main">
            <a:pPr algn="l">
              <a:lnSpc>
                <a:spcPct val="112000"/>
              </a:lnSpc>
              <a:buNone/>
              <a:defRPr sz="2600" b="0">
                <a:solidFill>
                  <a:srgbClr val="211B16"/>
                </a:solidFill>
                <a:latin typeface="Arial"/>
                <a:ea typeface="Arial"/>
                <a:cs typeface="Arial"/>
              </a:defRPr>
            </a:pPr>
            <a:r>
              <a:rPr sz="2600" b="0">
                <a:solidFill>
                  <a:srgbClr val="211B16"/>
                </a:solidFill>
                <a:latin typeface="Arial"/>
                <a:ea typeface="Arial"/>
                <a:cs typeface="Arial"/>
              </a:rPr>
              <a:t>Offer a different reading of the same detail.</a:t>
            </a:r>
          </a:p>
        </p:txBody>
      </p:sp>
      <p:sp>
        <p:nvSpPr>
          <p:cNvPr id="10" name="rule">
            <a:extLst xmlns:a="http://schemas.openxmlformats.org/drawingml/2006/main">
              <a:ext uri="{FF2B5EF4-FFF2-40B4-BE49-F238E27FC236}">
                <a16:creationId xmlns:a16="http://schemas.microsoft.com/office/drawing/2014/main" id="{EACA90F7-5CAC-42FC-BB97-AA05A4BB0524}"/>
              </a:ext>
            </a:extLst>
          </p:cNvPr>
          <p:cNvSpPr>
            <a:spLocks xmlns:a="http://schemas.openxmlformats.org/drawingml/2006/main" noGrp="1"/>
          </p:cNvSpPr>
          <p:nvPr/>
        </p:nvSpPr>
        <p:spPr>
          <a:xfrm xmlns:a="http://schemas.openxmlformats.org/drawingml/2006/main">
            <a:off x="1905000" y="4219575"/>
            <a:ext cx="9601200" cy="19050"/>
          </a:xfrm>
          <a:prstGeom xmlns:a="http://schemas.openxmlformats.org/drawingml/2006/main" prst="rect">
            <a:avLst/>
          </a:prstGeom>
          <a:solidFill xmlns:a="http://schemas.openxmlformats.org/drawingml/2006/main">
            <a:srgbClr val="5C2230"/>
          </a:solidFill>
          <a:ln xmlns:a="http://schemas.openxmlformats.org/drawingml/2006/main" w="0">
            <a:noFill/>
          </a:ln>
        </p:spPr>
      </p:sp>
      <p:sp>
        <p:nvSpPr>
          <p:cNvPr id="11" name="number-2">
            <a:extLst xmlns:a="http://schemas.openxmlformats.org/drawingml/2006/main">
              <a:ext uri="{FF2B5EF4-FFF2-40B4-BE49-F238E27FC236}">
                <a16:creationId xmlns:a16="http://schemas.microsoft.com/office/drawing/2014/main" id="{DA0CD235-3A93-4F79-B8B1-ECF6C95EEB01}"/>
              </a:ext>
            </a:extLst>
          </p:cNvPr>
          <p:cNvSpPr>
            <a:spLocks xmlns:a="http://schemas.openxmlformats.org/drawingml/2006/main" noGrp="1"/>
          </p:cNvSpPr>
          <p:nvPr/>
        </p:nvSpPr>
        <p:spPr>
          <a:xfrm xmlns:a="http://schemas.openxmlformats.org/drawingml/2006/main">
            <a:off x="685800" y="4305300"/>
            <a:ext cx="857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900" b="1">
                <a:solidFill>
                  <a:srgbClr val="5C2230"/>
                </a:solidFill>
                <a:latin typeface="Georgia"/>
                <a:ea typeface="Georgia"/>
                <a:cs typeface="Georgia"/>
              </a:defRPr>
            </a:defPPr>
          </a:lstStyle>
          <a:p xmlns:a="http://schemas.openxmlformats.org/drawingml/2006/main">
            <a:pPr algn="l">
              <a:lnSpc>
                <a:spcPct val="112000"/>
              </a:lnSpc>
              <a:buNone/>
              <a:defRPr sz="3900" b="1">
                <a:solidFill>
                  <a:srgbClr val="5C2230"/>
                </a:solidFill>
                <a:latin typeface="Georgia"/>
                <a:ea typeface="Georgia"/>
                <a:cs typeface="Georgia"/>
              </a:defRPr>
            </a:pPr>
            <a:r>
              <a:rPr sz="3900" b="1">
                <a:solidFill>
                  <a:srgbClr val="5C2230"/>
                </a:solidFill>
                <a:latin typeface="Georgia"/>
                <a:ea typeface="Georgia"/>
                <a:cs typeface="Georgia"/>
              </a:rPr>
              <a:t>03</a:t>
            </a:r>
          </a:p>
        </p:txBody>
      </p:sp>
      <p:sp>
        <p:nvSpPr>
          <p:cNvPr id="12" name="role-2">
            <a:extLst xmlns:a="http://schemas.openxmlformats.org/drawingml/2006/main">
              <a:ext uri="{FF2B5EF4-FFF2-40B4-BE49-F238E27FC236}">
                <a16:creationId xmlns:a16="http://schemas.microsoft.com/office/drawing/2014/main" id="{FA7DF339-D10F-4DFC-AD82-8A5D01CA77FA}"/>
              </a:ext>
            </a:extLst>
          </p:cNvPr>
          <p:cNvSpPr>
            <a:spLocks xmlns:a="http://schemas.openxmlformats.org/drawingml/2006/main" noGrp="1"/>
          </p:cNvSpPr>
          <p:nvPr/>
        </p:nvSpPr>
        <p:spPr>
          <a:xfrm xmlns:a="http://schemas.openxmlformats.org/drawingml/2006/main">
            <a:off x="1905000" y="4343400"/>
            <a:ext cx="285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211B16"/>
                </a:solidFill>
                <a:latin typeface="Arial"/>
                <a:ea typeface="Arial"/>
                <a:cs typeface="Arial"/>
              </a:defRPr>
            </a:defPPr>
          </a:lstStyle>
          <a:p xmlns:a="http://schemas.openxmlformats.org/drawingml/2006/main">
            <a:pPr algn="l">
              <a:lnSpc>
                <a:spcPct val="112000"/>
              </a:lnSpc>
              <a:buNone/>
              <a:defRPr sz="2700" b="1">
                <a:solidFill>
                  <a:srgbClr val="211B16"/>
                </a:solidFill>
                <a:latin typeface="Arial"/>
                <a:ea typeface="Arial"/>
                <a:cs typeface="Arial"/>
              </a:defRPr>
            </a:pPr>
            <a:r>
              <a:rPr sz="2700" b="1">
                <a:solidFill>
                  <a:srgbClr val="211B16"/>
                </a:solidFill>
                <a:latin typeface="Arial"/>
                <a:ea typeface="Arial"/>
                <a:cs typeface="Arial"/>
              </a:rPr>
              <a:t>Summariser</a:t>
            </a:r>
          </a:p>
        </p:txBody>
      </p:sp>
      <p:sp>
        <p:nvSpPr>
          <p:cNvPr id="13" name="instruction-2">
            <a:extLst xmlns:a="http://schemas.openxmlformats.org/drawingml/2006/main">
              <a:ext uri="{FF2B5EF4-FFF2-40B4-BE49-F238E27FC236}">
                <a16:creationId xmlns:a16="http://schemas.microsoft.com/office/drawing/2014/main" id="{D3BEC9DB-5882-4DA0-A0A8-15488F8C0711}"/>
              </a:ext>
            </a:extLst>
          </p:cNvPr>
          <p:cNvSpPr>
            <a:spLocks xmlns:a="http://schemas.openxmlformats.org/drawingml/2006/main" noGrp="1"/>
          </p:cNvSpPr>
          <p:nvPr/>
        </p:nvSpPr>
        <p:spPr>
          <a:xfrm xmlns:a="http://schemas.openxmlformats.org/drawingml/2006/main">
            <a:off x="5238750" y="4333875"/>
            <a:ext cx="62674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600" b="0">
                <a:solidFill>
                  <a:srgbClr val="211B16"/>
                </a:solidFill>
                <a:latin typeface="Arial"/>
                <a:ea typeface="Arial"/>
                <a:cs typeface="Arial"/>
              </a:defRPr>
            </a:defPPr>
          </a:lstStyle>
          <a:p xmlns:a="http://schemas.openxmlformats.org/drawingml/2006/main">
            <a:pPr algn="l">
              <a:lnSpc>
                <a:spcPct val="112000"/>
              </a:lnSpc>
              <a:buNone/>
              <a:defRPr sz="2600" b="0">
                <a:solidFill>
                  <a:srgbClr val="211B16"/>
                </a:solidFill>
                <a:latin typeface="Arial"/>
                <a:ea typeface="Arial"/>
                <a:cs typeface="Arial"/>
              </a:defRPr>
            </a:pPr>
            <a:r>
              <a:rPr sz="2600" b="0">
                <a:solidFill>
                  <a:srgbClr val="211B16"/>
                </a:solidFill>
                <a:latin typeface="Arial"/>
                <a:ea typeface="Arial"/>
                <a:cs typeface="Arial"/>
              </a:rPr>
              <a:t>Name the agreement and the question that remains.</a:t>
            </a:r>
          </a:p>
        </p:txBody>
      </p:sp>
      <p:sp>
        <p:nvSpPr>
          <p:cNvPr id="14" name="rotation">
            <a:extLst xmlns:a="http://schemas.openxmlformats.org/drawingml/2006/main">
              <a:ext uri="{FF2B5EF4-FFF2-40B4-BE49-F238E27FC236}">
                <a16:creationId xmlns:a16="http://schemas.microsoft.com/office/drawing/2014/main" id="{6D36BE10-8F3C-4404-885C-88BBEEABF9E7}"/>
              </a:ext>
            </a:extLst>
          </p:cNvPr>
          <p:cNvSpPr>
            <a:spLocks xmlns:a="http://schemas.openxmlformats.org/drawingml/2006/main" noGrp="1"/>
          </p:cNvSpPr>
          <p:nvPr/>
        </p:nvSpPr>
        <p:spPr>
          <a:xfrm xmlns:a="http://schemas.openxmlformats.org/drawingml/2006/main">
            <a:off x="1905000" y="5724525"/>
            <a:ext cx="96012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5C2230"/>
                </a:solidFill>
                <a:latin typeface="Arial"/>
                <a:ea typeface="Arial"/>
                <a:cs typeface="Arial"/>
              </a:defRPr>
            </a:defPPr>
          </a:lstStyle>
          <a:p xmlns:a="http://schemas.openxmlformats.org/drawingml/2006/main">
            <a:pPr algn="l">
              <a:lnSpc>
                <a:spcPct val="112000"/>
              </a:lnSpc>
              <a:buNone/>
              <a:defRPr sz="2700" b="1">
                <a:solidFill>
                  <a:srgbClr val="5C2230"/>
                </a:solidFill>
                <a:latin typeface="Arial"/>
                <a:ea typeface="Arial"/>
                <a:cs typeface="Arial"/>
              </a:defRPr>
            </a:pPr>
            <a:r>
              <a:rPr sz="2700" b="1">
                <a:solidFill>
                  <a:srgbClr val="5C2230"/>
                </a:solidFill>
                <a:latin typeface="Arial"/>
                <a:ea typeface="Arial"/>
                <a:cs typeface="Arial"/>
              </a:rPr>
              <a:t>Change roles after each round.</a:t>
            </a:r>
          </a:p>
        </p:txBody>
      </p:sp>
      <p:sp>
        <p:nvSpPr>
          <p:cNvPr id="15" name="template-capacity-guide">
            <a:extLst xmlns:a="http://schemas.openxmlformats.org/drawingml/2006/main">
              <a:ext uri="{FF2B5EF4-FFF2-40B4-BE49-F238E27FC236}">
                <a16:creationId xmlns:a16="http://schemas.microsoft.com/office/drawing/2014/main" id="{609FBB10-4C22-4BD3-A34E-AAAD8F195613}"/>
              </a:ext>
            </a:extLst>
          </p:cNvPr>
          <p:cNvSpPr>
            <a:spLocks xmlns:a="http://schemas.openxmlformats.org/drawingml/2006/main" noGrp="1"/>
          </p:cNvSpPr>
          <p:nvPr/>
        </p:nvSpPr>
        <p:spPr>
          <a:xfrm xmlns:a="http://schemas.openxmlformats.org/drawingml/2006/main">
            <a:off x="685800" y="6343650"/>
            <a:ext cx="108204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00" b="0">
                <a:solidFill>
                  <a:srgbClr val="5C2230"/>
                </a:solidFill>
                <a:latin typeface="Arial"/>
                <a:ea typeface="Arial"/>
                <a:cs typeface="Arial"/>
              </a:defRPr>
            </a:defPPr>
          </a:lstStyle>
          <a:p xmlns:a="http://schemas.openxmlformats.org/drawingml/2006/main">
            <a:pPr algn="l">
              <a:lnSpc>
                <a:spcPct val="112000"/>
              </a:lnSpc>
              <a:buNone/>
              <a:defRPr sz="1600" b="0">
                <a:solidFill>
                  <a:srgbClr val="5C2230"/>
                </a:solidFill>
                <a:latin typeface="Arial"/>
                <a:ea typeface="Arial"/>
                <a:cs typeface="Arial"/>
              </a:defRPr>
            </a:pPr>
            <a:r>
              <a:rPr sz="1600" b="0">
                <a:solidFill>
                  <a:srgbClr val="5C2230"/>
                </a:solidFill>
                <a:latin typeface="Arial"/>
                <a:ea typeface="Arial"/>
                <a:cs typeface="Arial"/>
              </a:rPr>
              <a:t>Example: three roles with one instruction of 8–10 words each</a:t>
            </a:r>
          </a:p>
        </p:txBody>
      </p:sp>
    </p:spTree>
    <p:extLst>
      <p:ext uri="{BB962C8B-B14F-4D97-AF65-F5344CB8AC3E}">
        <p14:creationId xmlns:p14="http://schemas.microsoft.com/office/powerpoint/2010/main" val="1763206661"/>
      </p:ext>
    </p:extLst>
  </p:cSld>
</p:sld>
</file>

<file path=ppt/slides/slide11.xml><?xml version="1.0" encoding="utf-8"?>
<p:sld xmlns:p="http://schemas.openxmlformats.org/presentationml/2006/main">
  <p:cSld>
    <p:bg>
      <p:bgPr>
        <a:solidFill xmlns:a="http://schemas.openxmlformats.org/drawingml/2006/main">
          <a:srgbClr val="211B16"/>
        </a:solidFill>
      </p:bgPr>
    </p:bg>
    <p:spTree>
      <p:nvGrpSpPr>
        <p:cNvPr id="1" name=""/>
        <p:cNvGrpSpPr/>
        <p:nvPr/>
      </p:nvGrpSpPr>
      <p:grpSpPr>
        <a:xfrm xmlns:a="http://schemas.openxmlformats.org/drawingml/2006/main"/>
      </p:grpSpPr>
      <p:sp>
        <p:nvSpPr>
          <p:cNvPr id="13" name="template-label">
            <a:extLst xmlns:a="http://schemas.openxmlformats.org/drawingml/2006/main">
              <a:ext uri="{FF2B5EF4-FFF2-40B4-BE49-F238E27FC236}">
                <a16:creationId xmlns:a16="http://schemas.microsoft.com/office/drawing/2014/main" id="{5B2985B3-F7D9-463E-9A0E-D981211A7C9A}"/>
              </a:ext>
            </a:extLst>
          </p:cNvPr>
          <p:cNvSpPr>
            <a:spLocks xmlns:a="http://schemas.openxmlformats.org/drawingml/2006/main" noGrp="1"/>
          </p:cNvSpPr>
          <p:nvPr/>
        </p:nvSpPr>
        <p:spPr>
          <a:xfrm xmlns:a="http://schemas.openxmlformats.org/drawingml/2006/main">
            <a:off x="685800" y="285750"/>
            <a:ext cx="10820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00" b="1">
                <a:solidFill>
                  <a:srgbClr val="B89B5E"/>
                </a:solidFill>
                <a:latin typeface="Arial"/>
                <a:ea typeface="Arial"/>
                <a:cs typeface="Arial"/>
              </a:defRPr>
            </a:defPPr>
          </a:lstStyle>
          <a:p xmlns:a="http://schemas.openxmlformats.org/drawingml/2006/main">
            <a:pPr algn="l">
              <a:lnSpc>
                <a:spcPct val="112000"/>
              </a:lnSpc>
              <a:buNone/>
              <a:defRPr sz="1700" b="1">
                <a:solidFill>
                  <a:srgbClr val="B89B5E"/>
                </a:solidFill>
                <a:latin typeface="Arial"/>
                <a:ea typeface="Arial"/>
                <a:cs typeface="Arial"/>
              </a:defRPr>
            </a:pPr>
            <a:r>
              <a:rPr sz="1700" b="1">
                <a:solidFill>
                  <a:srgbClr val="B89B5E"/>
                </a:solidFill>
                <a:latin typeface="Arial"/>
                <a:ea typeface="Arial"/>
                <a:cs typeface="Arial"/>
              </a:rPr>
              <a:t>11  BIOGRAPHY / PORTRAIT AND CONTEXT</a:t>
            </a:r>
          </a:p>
        </p:txBody>
      </p:sp>
      <p:sp>
        <p:nvSpPr>
          <p:cNvPr id="2" name="heading">
            <a:extLst xmlns:a="http://schemas.openxmlformats.org/drawingml/2006/main">
              <a:ext uri="{FF2B5EF4-FFF2-40B4-BE49-F238E27FC236}">
                <a16:creationId xmlns:a16="http://schemas.microsoft.com/office/drawing/2014/main" id="{B383D035-A167-41D9-89D3-6E7FBC63575C}"/>
              </a:ext>
            </a:extLst>
          </p:cNvPr>
          <p:cNvSpPr>
            <a:spLocks xmlns:a="http://schemas.openxmlformats.org/drawingml/2006/main" noGrp="1"/>
          </p:cNvSpPr>
          <p:nvPr/>
        </p:nvSpPr>
        <p:spPr>
          <a:xfrm xmlns:a="http://schemas.openxmlformats.org/drawingml/2006/main">
            <a:off x="685800" y="83820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800" b="1">
                <a:solidFill>
                  <a:srgbClr val="F2E8D5"/>
                </a:solidFill>
                <a:latin typeface="Georgia"/>
                <a:ea typeface="Georgia"/>
                <a:cs typeface="Georgia"/>
              </a:defRPr>
            </a:defPPr>
          </a:lstStyle>
          <a:p xmlns:a="http://schemas.openxmlformats.org/drawingml/2006/main">
            <a:pPr algn="l">
              <a:lnSpc>
                <a:spcPct val="112000"/>
              </a:lnSpc>
              <a:buNone/>
              <a:defRPr sz="3800" b="1">
                <a:solidFill>
                  <a:srgbClr val="F2E8D5"/>
                </a:solidFill>
                <a:latin typeface="Georgia"/>
                <a:ea typeface="Georgia"/>
                <a:cs typeface="Georgia"/>
              </a:defRPr>
            </a:pPr>
            <a:r>
              <a:rPr sz="3800" b="1">
                <a:solidFill>
                  <a:srgbClr val="F2E8D5"/>
                </a:solidFill>
                <a:latin typeface="Georgia"/>
                <a:ea typeface="Georgia"/>
                <a:cs typeface="Georgia"/>
              </a:rPr>
              <a:t>Nora Bell: a life in letters</a:t>
            </a:r>
          </a:p>
        </p:txBody>
      </p:sp>
      <p:pic>
        <p:nvPicPr>
          <p:cNvPr id="3" name="">
            <a:extLst xmlns:a="http://schemas.openxmlformats.org/drawingml/2006/main">
              <a:ext uri="{FF2B5EF4-FFF2-40B4-BE49-F238E27FC236}">
                <a16:creationId xmlns:a16="http://schemas.microsoft.com/office/drawing/2014/main" id="{3927B9B4-A953-41B0-B200-A1F36677C3E4}"/>
              </a:ext>
            </a:extLst>
          </p:cNvPr>
          <p:cNvPicPr>
            <a:picLocks xmlns:a="http://schemas.openxmlformats.org/drawingml/2006/main" noChangeAspect="1"/>
          </p:cNvPicPr>
          <p:nvPr/>
        </p:nvPicPr>
        <p:blipFill>
          <a:blip xmlns:r="http://schemas.openxmlformats.org/officeDocument/2006/relationships" xmlns:a="http://schemas.openxmlformats.org/drawingml/2006/main" r:embed="R76d42da87c864e18"/>
          <a:stretch xmlns:a="http://schemas.openxmlformats.org/drawingml/2006/main"/>
        </p:blipFill>
        <p:spPr>
          <a:xfrm xmlns:a="http://schemas.openxmlformats.org/drawingml/2006/main">
            <a:off x="1016000" y="2066925"/>
            <a:ext cx="2501900" cy="3752850"/>
          </a:xfrm>
          <a:prstGeom xmlns:a="http://schemas.openxmlformats.org/drawingml/2006/main" prst="rect">
            <a:avLst/>
          </a:prstGeom>
        </p:spPr>
      </p:pic>
      <p:sp>
        <p:nvSpPr>
          <p:cNvPr id="4" name="portrait-caption">
            <a:extLst xmlns:a="http://schemas.openxmlformats.org/drawingml/2006/main">
              <a:ext uri="{FF2B5EF4-FFF2-40B4-BE49-F238E27FC236}">
                <a16:creationId xmlns:a16="http://schemas.microsoft.com/office/drawing/2014/main" id="{F5F4C436-50B7-48F8-97DF-4CC6C6EDB0CB}"/>
              </a:ext>
            </a:extLst>
          </p:cNvPr>
          <p:cNvSpPr>
            <a:spLocks xmlns:a="http://schemas.openxmlformats.org/drawingml/2006/main" noGrp="1"/>
          </p:cNvSpPr>
          <p:nvPr/>
        </p:nvSpPr>
        <p:spPr>
          <a:xfrm xmlns:a="http://schemas.openxmlformats.org/drawingml/2006/main">
            <a:off x="790575" y="5819775"/>
            <a:ext cx="3143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00" b="0">
                <a:solidFill>
                  <a:srgbClr val="B89B5E"/>
                </a:solidFill>
                <a:latin typeface="Arial"/>
                <a:ea typeface="Arial"/>
                <a:cs typeface="Arial"/>
              </a:defRPr>
            </a:defPPr>
          </a:lstStyle>
          <a:p xmlns:a="http://schemas.openxmlformats.org/drawingml/2006/main">
            <a:pPr algn="l">
              <a:lnSpc>
                <a:spcPct val="112000"/>
              </a:lnSpc>
              <a:buNone/>
              <a:defRPr sz="1700" b="0">
                <a:solidFill>
                  <a:srgbClr val="B89B5E"/>
                </a:solidFill>
                <a:latin typeface="Arial"/>
                <a:ea typeface="Arial"/>
                <a:cs typeface="Arial"/>
              </a:defRPr>
            </a:pPr>
            <a:r>
              <a:rPr sz="1700" b="0">
                <a:solidFill>
                  <a:srgbClr val="B89B5E"/>
                </a:solidFill>
                <a:latin typeface="Arial"/>
                <a:ea typeface="Arial"/>
                <a:cs typeface="Arial"/>
              </a:rPr>
              <a:t>Symbolic illustration</a:t>
            </a:r>
          </a:p>
        </p:txBody>
      </p:sp>
      <p:sp>
        <p:nvSpPr>
          <p:cNvPr id="5" name="fiction-label">
            <a:extLst xmlns:a="http://schemas.openxmlformats.org/drawingml/2006/main">
              <a:ext uri="{FF2B5EF4-FFF2-40B4-BE49-F238E27FC236}">
                <a16:creationId xmlns:a16="http://schemas.microsoft.com/office/drawing/2014/main" id="{333AE12C-A9DD-4258-B399-A9FC4BCC8314}"/>
              </a:ext>
            </a:extLst>
          </p:cNvPr>
          <p:cNvSpPr>
            <a:spLocks xmlns:a="http://schemas.openxmlformats.org/drawingml/2006/main" noGrp="1"/>
          </p:cNvSpPr>
          <p:nvPr/>
        </p:nvSpPr>
        <p:spPr>
          <a:xfrm xmlns:a="http://schemas.openxmlformats.org/drawingml/2006/main">
            <a:off x="4619625" y="2019300"/>
            <a:ext cx="6858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1">
                <a:solidFill>
                  <a:srgbClr val="B89B5E"/>
                </a:solidFill>
                <a:latin typeface="Arial"/>
                <a:ea typeface="Arial"/>
                <a:cs typeface="Arial"/>
              </a:defRPr>
            </a:defPPr>
          </a:lstStyle>
          <a:p xmlns:a="http://schemas.openxmlformats.org/drawingml/2006/main">
            <a:pPr algn="l">
              <a:lnSpc>
                <a:spcPct val="112000"/>
              </a:lnSpc>
              <a:buNone/>
              <a:defRPr sz="1900" b="1">
                <a:solidFill>
                  <a:srgbClr val="B89B5E"/>
                </a:solidFill>
                <a:latin typeface="Arial"/>
                <a:ea typeface="Arial"/>
                <a:cs typeface="Arial"/>
              </a:defRPr>
            </a:pPr>
            <a:r>
              <a:rPr sz="1900" b="1">
                <a:solidFill>
                  <a:srgbClr val="B89B5E"/>
                </a:solidFill>
                <a:latin typeface="Arial"/>
                <a:ea typeface="Arial"/>
                <a:cs typeface="Arial"/>
              </a:rPr>
              <a:t>FICTIONAL PRACTICE PROFILE</a:t>
            </a:r>
          </a:p>
        </p:txBody>
      </p:sp>
      <p:sp>
        <p:nvSpPr>
          <p:cNvPr id="6" name="label-0">
            <a:extLst xmlns:a="http://schemas.openxmlformats.org/drawingml/2006/main">
              <a:ext uri="{FF2B5EF4-FFF2-40B4-BE49-F238E27FC236}">
                <a16:creationId xmlns:a16="http://schemas.microsoft.com/office/drawing/2014/main" id="{E8751B1C-684B-457C-9A5E-86FCA28F8546}"/>
              </a:ext>
            </a:extLst>
          </p:cNvPr>
          <p:cNvSpPr>
            <a:spLocks xmlns:a="http://schemas.openxmlformats.org/drawingml/2006/main" noGrp="1"/>
          </p:cNvSpPr>
          <p:nvPr/>
        </p:nvSpPr>
        <p:spPr>
          <a:xfrm xmlns:a="http://schemas.openxmlformats.org/drawingml/2006/main">
            <a:off x="4619625" y="2533650"/>
            <a:ext cx="68580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00" b="1">
                <a:solidFill>
                  <a:srgbClr val="B89B5E"/>
                </a:solidFill>
                <a:latin typeface="Arial"/>
                <a:ea typeface="Arial"/>
                <a:cs typeface="Arial"/>
              </a:defRPr>
            </a:defPPr>
          </a:lstStyle>
          <a:p xmlns:a="http://schemas.openxmlformats.org/drawingml/2006/main">
            <a:pPr algn="l">
              <a:lnSpc>
                <a:spcPct val="112000"/>
              </a:lnSpc>
              <a:buNone/>
              <a:defRPr sz="2200" b="1">
                <a:solidFill>
                  <a:srgbClr val="B89B5E"/>
                </a:solidFill>
                <a:latin typeface="Arial"/>
                <a:ea typeface="Arial"/>
                <a:cs typeface="Arial"/>
              </a:defRPr>
            </a:pPr>
            <a:r>
              <a:rPr sz="2200" b="1">
                <a:solidFill>
                  <a:srgbClr val="B89B5E"/>
                </a:solidFill>
                <a:latin typeface="Arial"/>
                <a:ea typeface="Arial"/>
                <a:cs typeface="Arial"/>
              </a:rPr>
              <a:t>Beginnings</a:t>
            </a:r>
          </a:p>
        </p:txBody>
      </p:sp>
      <p:sp>
        <p:nvSpPr>
          <p:cNvPr id="7" name="profile-0">
            <a:extLst xmlns:a="http://schemas.openxmlformats.org/drawingml/2006/main">
              <a:ext uri="{FF2B5EF4-FFF2-40B4-BE49-F238E27FC236}">
                <a16:creationId xmlns:a16="http://schemas.microsoft.com/office/drawing/2014/main" id="{D00E2387-584F-46D3-8A79-02FA5E4E4013}"/>
              </a:ext>
            </a:extLst>
          </p:cNvPr>
          <p:cNvSpPr>
            <a:spLocks xmlns:a="http://schemas.openxmlformats.org/drawingml/2006/main" noGrp="1"/>
          </p:cNvSpPr>
          <p:nvPr/>
        </p:nvSpPr>
        <p:spPr>
          <a:xfrm xmlns:a="http://schemas.openxmlformats.org/drawingml/2006/main">
            <a:off x="4619625" y="2914650"/>
            <a:ext cx="68580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00" b="0">
                <a:solidFill>
                  <a:srgbClr val="F2E8D5"/>
                </a:solidFill>
                <a:latin typeface="Arial"/>
                <a:ea typeface="Arial"/>
                <a:cs typeface="Arial"/>
              </a:defRPr>
            </a:defPPr>
          </a:lstStyle>
          <a:p xmlns:a="http://schemas.openxmlformats.org/drawingml/2006/main">
            <a:pPr algn="l">
              <a:lnSpc>
                <a:spcPct val="112000"/>
              </a:lnSpc>
              <a:buNone/>
              <a:defRPr sz="2500" b="0">
                <a:solidFill>
                  <a:srgbClr val="F2E8D5"/>
                </a:solidFill>
                <a:latin typeface="Arial"/>
                <a:ea typeface="Arial"/>
                <a:cs typeface="Arial"/>
              </a:defRPr>
            </a:pPr>
            <a:r>
              <a:rPr sz="2500" b="0">
                <a:solidFill>
                  <a:srgbClr val="F2E8D5"/>
                </a:solidFill>
                <a:latin typeface="Arial"/>
                <a:ea typeface="Arial"/>
                <a:cs typeface="Arial"/>
              </a:rPr>
              <a:t>Nora grew up above a railway station and listened to travellers’ stories.</a:t>
            </a:r>
          </a:p>
        </p:txBody>
      </p:sp>
      <p:sp>
        <p:nvSpPr>
          <p:cNvPr id="8" name="label-1">
            <a:extLst xmlns:a="http://schemas.openxmlformats.org/drawingml/2006/main">
              <a:ext uri="{FF2B5EF4-FFF2-40B4-BE49-F238E27FC236}">
                <a16:creationId xmlns:a16="http://schemas.microsoft.com/office/drawing/2014/main" id="{FF6F69C3-162B-460F-BFD7-F80C26DB6B6A}"/>
              </a:ext>
            </a:extLst>
          </p:cNvPr>
          <p:cNvSpPr>
            <a:spLocks xmlns:a="http://schemas.openxmlformats.org/drawingml/2006/main" noGrp="1"/>
          </p:cNvSpPr>
          <p:nvPr/>
        </p:nvSpPr>
        <p:spPr>
          <a:xfrm xmlns:a="http://schemas.openxmlformats.org/drawingml/2006/main">
            <a:off x="4619625" y="3962400"/>
            <a:ext cx="68580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00" b="1">
                <a:solidFill>
                  <a:srgbClr val="B89B5E"/>
                </a:solidFill>
                <a:latin typeface="Arial"/>
                <a:ea typeface="Arial"/>
                <a:cs typeface="Arial"/>
              </a:defRPr>
            </a:defPPr>
          </a:lstStyle>
          <a:p xmlns:a="http://schemas.openxmlformats.org/drawingml/2006/main">
            <a:pPr algn="l">
              <a:lnSpc>
                <a:spcPct val="112000"/>
              </a:lnSpc>
              <a:buNone/>
              <a:defRPr sz="2200" b="1">
                <a:solidFill>
                  <a:srgbClr val="B89B5E"/>
                </a:solidFill>
                <a:latin typeface="Arial"/>
                <a:ea typeface="Arial"/>
                <a:cs typeface="Arial"/>
              </a:defRPr>
            </a:pPr>
            <a:r>
              <a:rPr sz="2200" b="1">
                <a:solidFill>
                  <a:srgbClr val="B89B5E"/>
                </a:solidFill>
                <a:latin typeface="Arial"/>
                <a:ea typeface="Arial"/>
                <a:cs typeface="Arial"/>
              </a:rPr>
              <a:t>Work</a:t>
            </a:r>
          </a:p>
        </p:txBody>
      </p:sp>
      <p:sp>
        <p:nvSpPr>
          <p:cNvPr id="9" name="profile-1">
            <a:extLst xmlns:a="http://schemas.openxmlformats.org/drawingml/2006/main">
              <a:ext uri="{FF2B5EF4-FFF2-40B4-BE49-F238E27FC236}">
                <a16:creationId xmlns:a16="http://schemas.microsoft.com/office/drawing/2014/main" id="{1679746C-6142-4385-8740-127DC737C9DA}"/>
              </a:ext>
            </a:extLst>
          </p:cNvPr>
          <p:cNvSpPr>
            <a:spLocks xmlns:a="http://schemas.openxmlformats.org/drawingml/2006/main" noGrp="1"/>
          </p:cNvSpPr>
          <p:nvPr/>
        </p:nvSpPr>
        <p:spPr>
          <a:xfrm xmlns:a="http://schemas.openxmlformats.org/drawingml/2006/main">
            <a:off x="4619625" y="4343400"/>
            <a:ext cx="68580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00" b="0">
                <a:solidFill>
                  <a:srgbClr val="F2E8D5"/>
                </a:solidFill>
                <a:latin typeface="Arial"/>
                <a:ea typeface="Arial"/>
                <a:cs typeface="Arial"/>
              </a:defRPr>
            </a:defPPr>
          </a:lstStyle>
          <a:p xmlns:a="http://schemas.openxmlformats.org/drawingml/2006/main">
            <a:pPr algn="l">
              <a:lnSpc>
                <a:spcPct val="112000"/>
              </a:lnSpc>
              <a:buNone/>
              <a:defRPr sz="2500" b="0">
                <a:solidFill>
                  <a:srgbClr val="F2E8D5"/>
                </a:solidFill>
                <a:latin typeface="Arial"/>
                <a:ea typeface="Arial"/>
                <a:cs typeface="Arial"/>
              </a:defRPr>
            </a:pPr>
            <a:r>
              <a:rPr sz="2500" b="0">
                <a:solidFill>
                  <a:srgbClr val="F2E8D5"/>
                </a:solidFill>
                <a:latin typeface="Arial"/>
                <a:ea typeface="Arial"/>
                <a:cs typeface="Arial"/>
              </a:rPr>
              <a:t>She wrote short accounts of the people who passed through her town.</a:t>
            </a:r>
          </a:p>
        </p:txBody>
      </p:sp>
      <p:sp>
        <p:nvSpPr>
          <p:cNvPr id="10" name="label-2">
            <a:extLst xmlns:a="http://schemas.openxmlformats.org/drawingml/2006/main">
              <a:ext uri="{FF2B5EF4-FFF2-40B4-BE49-F238E27FC236}">
                <a16:creationId xmlns:a16="http://schemas.microsoft.com/office/drawing/2014/main" id="{ECE2F985-61F3-45CF-BA34-8A780E94CA20}"/>
              </a:ext>
            </a:extLst>
          </p:cNvPr>
          <p:cNvSpPr>
            <a:spLocks xmlns:a="http://schemas.openxmlformats.org/drawingml/2006/main" noGrp="1"/>
          </p:cNvSpPr>
          <p:nvPr/>
        </p:nvSpPr>
        <p:spPr>
          <a:xfrm xmlns:a="http://schemas.openxmlformats.org/drawingml/2006/main">
            <a:off x="4619625" y="5391150"/>
            <a:ext cx="68580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00" b="1">
                <a:solidFill>
                  <a:srgbClr val="B89B5E"/>
                </a:solidFill>
                <a:latin typeface="Arial"/>
                <a:ea typeface="Arial"/>
                <a:cs typeface="Arial"/>
              </a:defRPr>
            </a:defPPr>
          </a:lstStyle>
          <a:p xmlns:a="http://schemas.openxmlformats.org/drawingml/2006/main">
            <a:pPr algn="l">
              <a:lnSpc>
                <a:spcPct val="112000"/>
              </a:lnSpc>
              <a:buNone/>
              <a:defRPr sz="2200" b="1">
                <a:solidFill>
                  <a:srgbClr val="B89B5E"/>
                </a:solidFill>
                <a:latin typeface="Arial"/>
                <a:ea typeface="Arial"/>
                <a:cs typeface="Arial"/>
              </a:defRPr>
            </a:pPr>
            <a:r>
              <a:rPr sz="2200" b="1">
                <a:solidFill>
                  <a:srgbClr val="B89B5E"/>
                </a:solidFill>
                <a:latin typeface="Arial"/>
                <a:ea typeface="Arial"/>
                <a:cs typeface="Arial"/>
              </a:rPr>
              <a:t>Recurring question</a:t>
            </a:r>
          </a:p>
        </p:txBody>
      </p:sp>
      <p:sp>
        <p:nvSpPr>
          <p:cNvPr id="11" name="profile-2">
            <a:extLst xmlns:a="http://schemas.openxmlformats.org/drawingml/2006/main">
              <a:ext uri="{FF2B5EF4-FFF2-40B4-BE49-F238E27FC236}">
                <a16:creationId xmlns:a16="http://schemas.microsoft.com/office/drawing/2014/main" id="{192B1429-5A54-4876-A087-5B3481A0B1FE}"/>
              </a:ext>
            </a:extLst>
          </p:cNvPr>
          <p:cNvSpPr>
            <a:spLocks xmlns:a="http://schemas.openxmlformats.org/drawingml/2006/main" noGrp="1"/>
          </p:cNvSpPr>
          <p:nvPr/>
        </p:nvSpPr>
        <p:spPr>
          <a:xfrm xmlns:a="http://schemas.openxmlformats.org/drawingml/2006/main">
            <a:off x="4619625" y="5772150"/>
            <a:ext cx="68580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00" b="0">
                <a:solidFill>
                  <a:srgbClr val="F2E8D5"/>
                </a:solidFill>
                <a:latin typeface="Arial"/>
                <a:ea typeface="Arial"/>
                <a:cs typeface="Arial"/>
              </a:defRPr>
            </a:defPPr>
          </a:lstStyle>
          <a:p xmlns:a="http://schemas.openxmlformats.org/drawingml/2006/main">
            <a:pPr algn="l">
              <a:lnSpc>
                <a:spcPct val="112000"/>
              </a:lnSpc>
              <a:buNone/>
              <a:defRPr sz="2500" b="0">
                <a:solidFill>
                  <a:srgbClr val="F2E8D5"/>
                </a:solidFill>
                <a:latin typeface="Arial"/>
                <a:ea typeface="Arial"/>
                <a:cs typeface="Arial"/>
              </a:defRPr>
            </a:pPr>
            <a:r>
              <a:rPr sz="2500" b="0">
                <a:solidFill>
                  <a:srgbClr val="F2E8D5"/>
                </a:solidFill>
                <a:latin typeface="Arial"/>
                <a:ea typeface="Arial"/>
                <a:cs typeface="Arial"/>
              </a:rPr>
              <a:t>What makes a place feel like home?</a:t>
            </a:r>
          </a:p>
        </p:txBody>
      </p:sp>
      <p:sp>
        <p:nvSpPr>
          <p:cNvPr id="12" name="template-capacity-guide">
            <a:extLst xmlns:a="http://schemas.openxmlformats.org/drawingml/2006/main">
              <a:ext uri="{FF2B5EF4-FFF2-40B4-BE49-F238E27FC236}">
                <a16:creationId xmlns:a16="http://schemas.microsoft.com/office/drawing/2014/main" id="{96CCB6CD-F416-40B0-A5FD-368648470B70}"/>
              </a:ext>
            </a:extLst>
          </p:cNvPr>
          <p:cNvSpPr>
            <a:spLocks xmlns:a="http://schemas.openxmlformats.org/drawingml/2006/main" noGrp="1"/>
          </p:cNvSpPr>
          <p:nvPr/>
        </p:nvSpPr>
        <p:spPr>
          <a:xfrm xmlns:a="http://schemas.openxmlformats.org/drawingml/2006/main">
            <a:off x="685800" y="6343650"/>
            <a:ext cx="108204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00" b="0">
                <a:solidFill>
                  <a:srgbClr val="B89B5E"/>
                </a:solidFill>
                <a:latin typeface="Arial"/>
                <a:ea typeface="Arial"/>
                <a:cs typeface="Arial"/>
              </a:defRPr>
            </a:defPPr>
          </a:lstStyle>
          <a:p xmlns:a="http://schemas.openxmlformats.org/drawingml/2006/main">
            <a:pPr algn="l">
              <a:lnSpc>
                <a:spcPct val="112000"/>
              </a:lnSpc>
              <a:buNone/>
              <a:defRPr sz="1600" b="0">
                <a:solidFill>
                  <a:srgbClr val="B89B5E"/>
                </a:solidFill>
                <a:latin typeface="Arial"/>
                <a:ea typeface="Arial"/>
                <a:cs typeface="Arial"/>
              </a:defRPr>
            </a:pPr>
            <a:r>
              <a:rPr sz="1600" b="0">
                <a:solidFill>
                  <a:srgbClr val="B89B5E"/>
                </a:solidFill>
                <a:latin typeface="Arial"/>
                <a:ea typeface="Arial"/>
                <a:cs typeface="Arial"/>
              </a:rPr>
              <a:t>Example: one portrait region and three short text groups</a:t>
            </a:r>
          </a:p>
        </p:txBody>
      </p:sp>
    </p:spTree>
    <p:extLst>
      <p:ext uri="{BB962C8B-B14F-4D97-AF65-F5344CB8AC3E}">
        <p14:creationId xmlns:p14="http://schemas.microsoft.com/office/powerpoint/2010/main" val="532954999"/>
      </p:ext>
    </p:extLst>
  </p:cSld>
</p:sld>
</file>

<file path=ppt/slides/slide12.xml><?xml version="1.0" encoding="utf-8"?>
<p:sld xmlns:p="http://schemas.openxmlformats.org/presentationml/2006/main">
  <p:cSld>
    <p:bg>
      <p:bgPr>
        <a:solidFill xmlns:a="http://schemas.openxmlformats.org/drawingml/2006/main">
          <a:srgbClr val="E9D8B6"/>
        </a:solidFill>
      </p:bgPr>
    </p:bg>
    <p:spTree>
      <p:nvGrpSpPr>
        <p:cNvPr id="1" name=""/>
        <p:cNvGrpSpPr/>
        <p:nvPr/>
      </p:nvGrpSpPr>
      <p:grpSpPr>
        <a:xfrm xmlns:a="http://schemas.openxmlformats.org/drawingml/2006/main"/>
      </p:grpSpPr>
      <p:sp>
        <p:nvSpPr>
          <p:cNvPr id="10" name="template-label">
            <a:extLst xmlns:a="http://schemas.openxmlformats.org/drawingml/2006/main">
              <a:ext uri="{FF2B5EF4-FFF2-40B4-BE49-F238E27FC236}">
                <a16:creationId xmlns:a16="http://schemas.microsoft.com/office/drawing/2014/main" id="{BF242841-F27A-4240-84C1-54E8BA1E7524}"/>
              </a:ext>
            </a:extLst>
          </p:cNvPr>
          <p:cNvSpPr>
            <a:spLocks xmlns:a="http://schemas.openxmlformats.org/drawingml/2006/main" noGrp="1"/>
          </p:cNvSpPr>
          <p:nvPr/>
        </p:nvSpPr>
        <p:spPr>
          <a:xfrm xmlns:a="http://schemas.openxmlformats.org/drawingml/2006/main">
            <a:off x="685800" y="285750"/>
            <a:ext cx="10820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00" b="1">
                <a:solidFill>
                  <a:srgbClr val="5C2230"/>
                </a:solidFill>
                <a:latin typeface="Arial"/>
                <a:ea typeface="Arial"/>
                <a:cs typeface="Arial"/>
              </a:defRPr>
            </a:defPPr>
          </a:lstStyle>
          <a:p xmlns:a="http://schemas.openxmlformats.org/drawingml/2006/main">
            <a:pPr algn="l">
              <a:lnSpc>
                <a:spcPct val="112000"/>
              </a:lnSpc>
              <a:buNone/>
              <a:defRPr sz="1700" b="1">
                <a:solidFill>
                  <a:srgbClr val="5C2230"/>
                </a:solidFill>
                <a:latin typeface="Arial"/>
                <a:ea typeface="Arial"/>
                <a:cs typeface="Arial"/>
              </a:defRPr>
            </a:pPr>
            <a:r>
              <a:rPr sz="1700" b="1">
                <a:solidFill>
                  <a:srgbClr val="5C2230"/>
                </a:solidFill>
                <a:latin typeface="Arial"/>
                <a:ea typeface="Arial"/>
                <a:cs typeface="Arial"/>
              </a:rPr>
              <a:t>12  BIOGRAPHY / ONE TURNING POINT</a:t>
            </a:r>
          </a:p>
        </p:txBody>
      </p:sp>
      <p:sp>
        <p:nvSpPr>
          <p:cNvPr id="2" name="heading">
            <a:extLst xmlns:a="http://schemas.openxmlformats.org/drawingml/2006/main">
              <a:ext uri="{FF2B5EF4-FFF2-40B4-BE49-F238E27FC236}">
                <a16:creationId xmlns:a16="http://schemas.microsoft.com/office/drawing/2014/main" id="{C206A5DB-122A-4B47-A757-7245E04683A0}"/>
              </a:ext>
            </a:extLst>
          </p:cNvPr>
          <p:cNvSpPr>
            <a:spLocks xmlns:a="http://schemas.openxmlformats.org/drawingml/2006/main" noGrp="1"/>
          </p:cNvSpPr>
          <p:nvPr/>
        </p:nvSpPr>
        <p:spPr>
          <a:xfrm xmlns:a="http://schemas.openxmlformats.org/drawingml/2006/main">
            <a:off x="685800" y="83820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800" b="1">
                <a:solidFill>
                  <a:srgbClr val="211B16"/>
                </a:solidFill>
                <a:latin typeface="Georgia"/>
                <a:ea typeface="Georgia"/>
                <a:cs typeface="Georgia"/>
              </a:defRPr>
            </a:defPPr>
          </a:lstStyle>
          <a:p xmlns:a="http://schemas.openxmlformats.org/drawingml/2006/main">
            <a:pPr algn="l">
              <a:lnSpc>
                <a:spcPct val="112000"/>
              </a:lnSpc>
              <a:buNone/>
              <a:defRPr sz="3800" b="1">
                <a:solidFill>
                  <a:srgbClr val="211B16"/>
                </a:solidFill>
                <a:latin typeface="Georgia"/>
                <a:ea typeface="Georgia"/>
                <a:cs typeface="Georgia"/>
              </a:defRPr>
            </a:pPr>
            <a:r>
              <a:rPr sz="3800" b="1">
                <a:solidFill>
                  <a:srgbClr val="211B16"/>
                </a:solidFill>
                <a:latin typeface="Georgia"/>
                <a:ea typeface="Georgia"/>
                <a:cs typeface="Georgia"/>
              </a:rPr>
              <a:t>A writer changes direction</a:t>
            </a:r>
          </a:p>
        </p:txBody>
      </p:sp>
      <p:sp>
        <p:nvSpPr>
          <p:cNvPr id="3" name="fiction-label">
            <a:extLst xmlns:a="http://schemas.openxmlformats.org/drawingml/2006/main">
              <a:ext uri="{FF2B5EF4-FFF2-40B4-BE49-F238E27FC236}">
                <a16:creationId xmlns:a16="http://schemas.microsoft.com/office/drawing/2014/main" id="{4C55FE18-681A-4850-B1CB-31F97A8EF644}"/>
              </a:ext>
            </a:extLst>
          </p:cNvPr>
          <p:cNvSpPr>
            <a:spLocks xmlns:a="http://schemas.openxmlformats.org/drawingml/2006/main" noGrp="1"/>
          </p:cNvSpPr>
          <p:nvPr/>
        </p:nvSpPr>
        <p:spPr>
          <a:xfrm xmlns:a="http://schemas.openxmlformats.org/drawingml/2006/main">
            <a:off x="685800" y="1952625"/>
            <a:ext cx="10820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5C2230"/>
                </a:solidFill>
                <a:latin typeface="Arial"/>
                <a:ea typeface="Arial"/>
                <a:cs typeface="Arial"/>
              </a:defRPr>
            </a:defPPr>
          </a:lstStyle>
          <a:p xmlns:a="http://schemas.openxmlformats.org/drawingml/2006/main">
            <a:pPr algn="l">
              <a:lnSpc>
                <a:spcPct val="112000"/>
              </a:lnSpc>
              <a:buNone/>
              <a:defRPr sz="1800" b="1">
                <a:solidFill>
                  <a:srgbClr val="5C2230"/>
                </a:solidFill>
                <a:latin typeface="Arial"/>
                <a:ea typeface="Arial"/>
                <a:cs typeface="Arial"/>
              </a:defRPr>
            </a:pPr>
            <a:r>
              <a:rPr sz="1800" b="1">
                <a:solidFill>
                  <a:srgbClr val="5C2230"/>
                </a:solidFill>
                <a:latin typeface="Arial"/>
                <a:ea typeface="Arial"/>
                <a:cs typeface="Arial"/>
              </a:rPr>
              <a:t>FICTIONAL PRACTICE PROFILE</a:t>
            </a:r>
          </a:p>
        </p:txBody>
      </p:sp>
      <p:sp>
        <p:nvSpPr>
          <p:cNvPr id="4" name="year">
            <a:extLst xmlns:a="http://schemas.openxmlformats.org/drawingml/2006/main">
              <a:ext uri="{FF2B5EF4-FFF2-40B4-BE49-F238E27FC236}">
                <a16:creationId xmlns:a16="http://schemas.microsoft.com/office/drawing/2014/main" id="{0B580899-4C7F-4C83-A92B-6463CEA70041}"/>
              </a:ext>
            </a:extLst>
          </p:cNvPr>
          <p:cNvSpPr>
            <a:spLocks xmlns:a="http://schemas.openxmlformats.org/drawingml/2006/main" noGrp="1"/>
          </p:cNvSpPr>
          <p:nvPr/>
        </p:nvSpPr>
        <p:spPr>
          <a:xfrm xmlns:a="http://schemas.openxmlformats.org/drawingml/2006/main">
            <a:off x="685800" y="2571750"/>
            <a:ext cx="3905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7600" b="1">
                <a:solidFill>
                  <a:srgbClr val="5C2230"/>
                </a:solidFill>
                <a:latin typeface="Georgia"/>
                <a:ea typeface="Georgia"/>
                <a:cs typeface="Georgia"/>
              </a:defRPr>
            </a:defPPr>
          </a:lstStyle>
          <a:p xmlns:a="http://schemas.openxmlformats.org/drawingml/2006/main">
            <a:pPr algn="l">
              <a:lnSpc>
                <a:spcPct val="112000"/>
              </a:lnSpc>
              <a:buNone/>
              <a:defRPr sz="7600" b="1">
                <a:solidFill>
                  <a:srgbClr val="5C2230"/>
                </a:solidFill>
                <a:latin typeface="Georgia"/>
                <a:ea typeface="Georgia"/>
                <a:cs typeface="Georgia"/>
              </a:defRPr>
            </a:pPr>
            <a:r>
              <a:rPr sz="7600" b="1">
                <a:solidFill>
                  <a:srgbClr val="5C2230"/>
                </a:solidFill>
                <a:latin typeface="Georgia"/>
                <a:ea typeface="Georgia"/>
                <a:cs typeface="Georgia"/>
              </a:rPr>
              <a:t>1938</a:t>
            </a:r>
          </a:p>
        </p:txBody>
      </p:sp>
      <p:sp>
        <p:nvSpPr>
          <p:cNvPr id="5" name="event-label">
            <a:extLst xmlns:a="http://schemas.openxmlformats.org/drawingml/2006/main">
              <a:ext uri="{FF2B5EF4-FFF2-40B4-BE49-F238E27FC236}">
                <a16:creationId xmlns:a16="http://schemas.microsoft.com/office/drawing/2014/main" id="{69C12453-688B-453D-95E5-234750BF5781}"/>
              </a:ext>
            </a:extLst>
          </p:cNvPr>
          <p:cNvSpPr>
            <a:spLocks xmlns:a="http://schemas.openxmlformats.org/drawingml/2006/main" noGrp="1"/>
          </p:cNvSpPr>
          <p:nvPr/>
        </p:nvSpPr>
        <p:spPr>
          <a:xfrm xmlns:a="http://schemas.openxmlformats.org/drawingml/2006/main">
            <a:off x="714375" y="3905250"/>
            <a:ext cx="38576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900" b="1">
                <a:solidFill>
                  <a:srgbClr val="211B16"/>
                </a:solidFill>
                <a:latin typeface="Arial"/>
                <a:ea typeface="Arial"/>
                <a:cs typeface="Arial"/>
              </a:defRPr>
            </a:defPPr>
          </a:lstStyle>
          <a:p xmlns:a="http://schemas.openxmlformats.org/drawingml/2006/main">
            <a:pPr algn="l">
              <a:lnSpc>
                <a:spcPct val="112000"/>
              </a:lnSpc>
              <a:buNone/>
              <a:defRPr sz="2900" b="1">
                <a:solidFill>
                  <a:srgbClr val="211B16"/>
                </a:solidFill>
                <a:latin typeface="Arial"/>
                <a:ea typeface="Arial"/>
                <a:cs typeface="Arial"/>
              </a:defRPr>
            </a:pPr>
            <a:r>
              <a:rPr sz="2900" b="1">
                <a:solidFill>
                  <a:srgbClr val="211B16"/>
                </a:solidFill>
                <a:latin typeface="Arial"/>
                <a:ea typeface="Arial"/>
                <a:cs typeface="Arial"/>
              </a:rPr>
              <a:t>The return home</a:t>
            </a:r>
          </a:p>
        </p:txBody>
      </p:sp>
      <p:sp>
        <p:nvSpPr>
          <p:cNvPr id="6" name="turning-point">
            <a:extLst xmlns:a="http://schemas.openxmlformats.org/drawingml/2006/main">
              <a:ext uri="{FF2B5EF4-FFF2-40B4-BE49-F238E27FC236}">
                <a16:creationId xmlns:a16="http://schemas.microsoft.com/office/drawing/2014/main" id="{75DE0B8B-7AF9-481A-9598-5ECA988D623A}"/>
              </a:ext>
            </a:extLst>
          </p:cNvPr>
          <p:cNvSpPr>
            <a:spLocks xmlns:a="http://schemas.openxmlformats.org/drawingml/2006/main" noGrp="1"/>
          </p:cNvSpPr>
          <p:nvPr/>
        </p:nvSpPr>
        <p:spPr>
          <a:xfrm xmlns:a="http://schemas.openxmlformats.org/drawingml/2006/main">
            <a:off x="5238750" y="2476500"/>
            <a:ext cx="626745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0">
                <a:solidFill>
                  <a:srgbClr val="211B16"/>
                </a:solidFill>
                <a:latin typeface="Arial"/>
                <a:ea typeface="Arial"/>
                <a:cs typeface="Arial"/>
              </a:defRPr>
            </a:defPPr>
          </a:lstStyle>
          <a:p xmlns:a="http://schemas.openxmlformats.org/drawingml/2006/main">
            <a:pPr algn="l">
              <a:lnSpc>
                <a:spcPct val="112000"/>
              </a:lnSpc>
              <a:buNone/>
              <a:defRPr sz="2700" b="0">
                <a:solidFill>
                  <a:srgbClr val="211B16"/>
                </a:solidFill>
                <a:latin typeface="Arial"/>
                <a:ea typeface="Arial"/>
                <a:cs typeface="Arial"/>
              </a:defRPr>
            </a:pPr>
            <a:r>
              <a:rPr sz="2700" b="0">
                <a:solidFill>
                  <a:srgbClr val="211B16"/>
                </a:solidFill>
                <a:latin typeface="Arial"/>
                <a:ea typeface="Arial"/>
                <a:cs typeface="Arial"/>
              </a:rPr>
              <a:t>After years of writing about distant cities, Nora returned to her home town. She began recording the stories of people she had once hurried past. Her next collection placed ordinary neighbours at the centre of each story.</a:t>
            </a:r>
          </a:p>
        </p:txBody>
      </p:sp>
      <p:sp>
        <p:nvSpPr>
          <p:cNvPr id="7" name="rule">
            <a:extLst xmlns:a="http://schemas.openxmlformats.org/drawingml/2006/main">
              <a:ext uri="{FF2B5EF4-FFF2-40B4-BE49-F238E27FC236}">
                <a16:creationId xmlns:a16="http://schemas.microsoft.com/office/drawing/2014/main" id="{8DC93EE9-93B5-44F8-AC82-214CCAEBB032}"/>
              </a:ext>
            </a:extLst>
          </p:cNvPr>
          <p:cNvSpPr>
            <a:spLocks xmlns:a="http://schemas.openxmlformats.org/drawingml/2006/main" noGrp="1"/>
          </p:cNvSpPr>
          <p:nvPr/>
        </p:nvSpPr>
        <p:spPr>
          <a:xfrm xmlns:a="http://schemas.openxmlformats.org/drawingml/2006/main">
            <a:off x="685800" y="5505450"/>
            <a:ext cx="10820400" cy="19050"/>
          </a:xfrm>
          <a:prstGeom xmlns:a="http://schemas.openxmlformats.org/drawingml/2006/main" prst="rect">
            <a:avLst/>
          </a:prstGeom>
          <a:solidFill xmlns:a="http://schemas.openxmlformats.org/drawingml/2006/main">
            <a:srgbClr val="5C2230"/>
          </a:solidFill>
          <a:ln xmlns:a="http://schemas.openxmlformats.org/drawingml/2006/main" w="0">
            <a:noFill/>
          </a:ln>
        </p:spPr>
      </p:sp>
      <p:sp>
        <p:nvSpPr>
          <p:cNvPr id="8" name="question">
            <a:extLst xmlns:a="http://schemas.openxmlformats.org/drawingml/2006/main">
              <a:ext uri="{FF2B5EF4-FFF2-40B4-BE49-F238E27FC236}">
                <a16:creationId xmlns:a16="http://schemas.microsoft.com/office/drawing/2014/main" id="{B1429EDB-11E9-406C-B4D1-B3ADE2BA511F}"/>
              </a:ext>
            </a:extLst>
          </p:cNvPr>
          <p:cNvSpPr>
            <a:spLocks xmlns:a="http://schemas.openxmlformats.org/drawingml/2006/main" noGrp="1"/>
          </p:cNvSpPr>
          <p:nvPr/>
        </p:nvSpPr>
        <p:spPr>
          <a:xfrm xmlns:a="http://schemas.openxmlformats.org/drawingml/2006/main">
            <a:off x="685800" y="5762625"/>
            <a:ext cx="10820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600" b="1">
                <a:solidFill>
                  <a:srgbClr val="5C2230"/>
                </a:solidFill>
                <a:latin typeface="Arial"/>
                <a:ea typeface="Arial"/>
                <a:cs typeface="Arial"/>
              </a:defRPr>
            </a:defPPr>
          </a:lstStyle>
          <a:p xmlns:a="http://schemas.openxmlformats.org/drawingml/2006/main">
            <a:pPr algn="l">
              <a:lnSpc>
                <a:spcPct val="112000"/>
              </a:lnSpc>
              <a:buNone/>
              <a:defRPr sz="2600" b="1">
                <a:solidFill>
                  <a:srgbClr val="5C2230"/>
                </a:solidFill>
                <a:latin typeface="Arial"/>
                <a:ea typeface="Arial"/>
                <a:cs typeface="Arial"/>
              </a:defRPr>
            </a:pPr>
            <a:r>
              <a:rPr sz="2600" b="1">
                <a:solidFill>
                  <a:srgbClr val="5C2230"/>
                </a:solidFill>
                <a:latin typeface="Arial"/>
                <a:ea typeface="Arial"/>
                <a:cs typeface="Arial"/>
              </a:rPr>
              <a:t>How did the change of place become a change of subject?</a:t>
            </a:r>
          </a:p>
        </p:txBody>
      </p:sp>
      <p:sp>
        <p:nvSpPr>
          <p:cNvPr id="9" name="template-capacity-guide">
            <a:extLst xmlns:a="http://schemas.openxmlformats.org/drawingml/2006/main">
              <a:ext uri="{FF2B5EF4-FFF2-40B4-BE49-F238E27FC236}">
                <a16:creationId xmlns:a16="http://schemas.microsoft.com/office/drawing/2014/main" id="{1A9868F3-7288-4D6E-B048-814D92B62B27}"/>
              </a:ext>
            </a:extLst>
          </p:cNvPr>
          <p:cNvSpPr>
            <a:spLocks xmlns:a="http://schemas.openxmlformats.org/drawingml/2006/main" noGrp="1"/>
          </p:cNvSpPr>
          <p:nvPr/>
        </p:nvSpPr>
        <p:spPr>
          <a:xfrm xmlns:a="http://schemas.openxmlformats.org/drawingml/2006/main">
            <a:off x="685800" y="6343650"/>
            <a:ext cx="108204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00" b="0">
                <a:solidFill>
                  <a:srgbClr val="5C2230"/>
                </a:solidFill>
                <a:latin typeface="Arial"/>
                <a:ea typeface="Arial"/>
                <a:cs typeface="Arial"/>
              </a:defRPr>
            </a:defPPr>
          </a:lstStyle>
          <a:p xmlns:a="http://schemas.openxmlformats.org/drawingml/2006/main">
            <a:pPr algn="l">
              <a:lnSpc>
                <a:spcPct val="112000"/>
              </a:lnSpc>
              <a:buNone/>
              <a:defRPr sz="1600" b="0">
                <a:solidFill>
                  <a:srgbClr val="5C2230"/>
                </a:solidFill>
                <a:latin typeface="Arial"/>
                <a:ea typeface="Arial"/>
                <a:cs typeface="Arial"/>
              </a:defRPr>
            </a:pPr>
            <a:r>
              <a:rPr sz="1600" b="0">
                <a:solidFill>
                  <a:srgbClr val="5C2230"/>
                </a:solidFill>
                <a:latin typeface="Arial"/>
                <a:ea typeface="Arial"/>
                <a:cs typeface="Arial"/>
              </a:rPr>
              <a:t>Example: one year and a 37-word explanation at 27 pt</a:t>
            </a:r>
          </a:p>
        </p:txBody>
      </p:sp>
    </p:spTree>
    <p:extLst>
      <p:ext uri="{BB962C8B-B14F-4D97-AF65-F5344CB8AC3E}">
        <p14:creationId xmlns:p14="http://schemas.microsoft.com/office/powerpoint/2010/main" val="193810682"/>
      </p:ext>
    </p:extLst>
  </p:cSld>
</p:sld>
</file>

<file path=ppt/slides/slide13.xml><?xml version="1.0" encoding="utf-8"?>
<p:sld xmlns:p="http://schemas.openxmlformats.org/presentationml/2006/main">
  <p:cSld>
    <p:bg>
      <p:bgPr>
        <a:solidFill xmlns:a="http://schemas.openxmlformats.org/drawingml/2006/main">
          <a:srgbClr val="E9D8B6"/>
        </a:solidFill>
      </p:bgPr>
    </p:bg>
    <p:spTree>
      <p:nvGrpSpPr>
        <p:cNvPr id="1" name=""/>
        <p:cNvGrpSpPr/>
        <p:nvPr/>
      </p:nvGrpSpPr>
      <p:grpSpPr>
        <a:xfrm xmlns:a="http://schemas.openxmlformats.org/drawingml/2006/main"/>
      </p:grpSpPr>
      <p:sp>
        <p:nvSpPr>
          <p:cNvPr id="22" name="template-label">
            <a:extLst xmlns:a="http://schemas.openxmlformats.org/drawingml/2006/main">
              <a:ext uri="{FF2B5EF4-FFF2-40B4-BE49-F238E27FC236}">
                <a16:creationId xmlns:a16="http://schemas.microsoft.com/office/drawing/2014/main" id="{51DBC56B-40C2-48BB-9046-A688587D7761}"/>
              </a:ext>
            </a:extLst>
          </p:cNvPr>
          <p:cNvSpPr>
            <a:spLocks xmlns:a="http://schemas.openxmlformats.org/drawingml/2006/main" noGrp="1"/>
          </p:cNvSpPr>
          <p:nvPr/>
        </p:nvSpPr>
        <p:spPr>
          <a:xfrm xmlns:a="http://schemas.openxmlformats.org/drawingml/2006/main">
            <a:off x="685800" y="285750"/>
            <a:ext cx="10820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00" b="1">
                <a:solidFill>
                  <a:srgbClr val="5C2230"/>
                </a:solidFill>
                <a:latin typeface="Arial"/>
                <a:ea typeface="Arial"/>
                <a:cs typeface="Arial"/>
              </a:defRPr>
            </a:defPPr>
          </a:lstStyle>
          <a:p xmlns:a="http://schemas.openxmlformats.org/drawingml/2006/main">
            <a:pPr algn="l">
              <a:lnSpc>
                <a:spcPct val="112000"/>
              </a:lnSpc>
              <a:buNone/>
              <a:defRPr sz="1700" b="1">
                <a:solidFill>
                  <a:srgbClr val="5C2230"/>
                </a:solidFill>
                <a:latin typeface="Arial"/>
                <a:ea typeface="Arial"/>
                <a:cs typeface="Arial"/>
              </a:defRPr>
            </a:pPr>
            <a:r>
              <a:rPr sz="1700" b="1">
                <a:solidFill>
                  <a:srgbClr val="5C2230"/>
                </a:solidFill>
                <a:latin typeface="Arial"/>
                <a:ea typeface="Arial"/>
                <a:cs typeface="Arial"/>
              </a:rPr>
              <a:t>13  TIMELINE / FOUR HORIZONTAL STAGES</a:t>
            </a:r>
          </a:p>
        </p:txBody>
      </p:sp>
      <p:sp>
        <p:nvSpPr>
          <p:cNvPr id="2" name="heading">
            <a:extLst xmlns:a="http://schemas.openxmlformats.org/drawingml/2006/main">
              <a:ext uri="{FF2B5EF4-FFF2-40B4-BE49-F238E27FC236}">
                <a16:creationId xmlns:a16="http://schemas.microsoft.com/office/drawing/2014/main" id="{DED645DC-542B-4B97-987D-A6D72768293F}"/>
              </a:ext>
            </a:extLst>
          </p:cNvPr>
          <p:cNvSpPr>
            <a:spLocks xmlns:a="http://schemas.openxmlformats.org/drawingml/2006/main" noGrp="1"/>
          </p:cNvSpPr>
          <p:nvPr/>
        </p:nvSpPr>
        <p:spPr>
          <a:xfrm xmlns:a="http://schemas.openxmlformats.org/drawingml/2006/main">
            <a:off x="685800" y="83820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800" b="1">
                <a:solidFill>
                  <a:srgbClr val="211B16"/>
                </a:solidFill>
                <a:latin typeface="Georgia"/>
                <a:ea typeface="Georgia"/>
                <a:cs typeface="Georgia"/>
              </a:defRPr>
            </a:defPPr>
          </a:lstStyle>
          <a:p xmlns:a="http://schemas.openxmlformats.org/drawingml/2006/main">
            <a:pPr algn="l">
              <a:lnSpc>
                <a:spcPct val="112000"/>
              </a:lnSpc>
              <a:buNone/>
              <a:defRPr sz="3800" b="1">
                <a:solidFill>
                  <a:srgbClr val="211B16"/>
                </a:solidFill>
                <a:latin typeface="Georgia"/>
                <a:ea typeface="Georgia"/>
                <a:cs typeface="Georgia"/>
              </a:defRPr>
            </a:pPr>
            <a:r>
              <a:rPr sz="3800" b="1">
                <a:solidFill>
                  <a:srgbClr val="211B16"/>
                </a:solidFill>
                <a:latin typeface="Georgia"/>
                <a:ea typeface="Georgia"/>
                <a:cs typeface="Georgia"/>
              </a:rPr>
              <a:t>A community archive takes shape</a:t>
            </a:r>
          </a:p>
        </p:txBody>
      </p:sp>
      <p:sp>
        <p:nvSpPr>
          <p:cNvPr id="3" name="fiction-label">
            <a:extLst xmlns:a="http://schemas.openxmlformats.org/drawingml/2006/main">
              <a:ext uri="{FF2B5EF4-FFF2-40B4-BE49-F238E27FC236}">
                <a16:creationId xmlns:a16="http://schemas.microsoft.com/office/drawing/2014/main" id="{B4F9B015-12F5-492E-BBFA-9AF74F772C09}"/>
              </a:ext>
            </a:extLst>
          </p:cNvPr>
          <p:cNvSpPr>
            <a:spLocks xmlns:a="http://schemas.openxmlformats.org/drawingml/2006/main" noGrp="1"/>
          </p:cNvSpPr>
          <p:nvPr/>
        </p:nvSpPr>
        <p:spPr>
          <a:xfrm xmlns:a="http://schemas.openxmlformats.org/drawingml/2006/main">
            <a:off x="685800" y="1943100"/>
            <a:ext cx="1082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5C2230"/>
                </a:solidFill>
                <a:latin typeface="Arial"/>
                <a:ea typeface="Arial"/>
                <a:cs typeface="Arial"/>
              </a:defRPr>
            </a:defPPr>
          </a:lstStyle>
          <a:p xmlns:a="http://schemas.openxmlformats.org/drawingml/2006/main">
            <a:pPr algn="l">
              <a:lnSpc>
                <a:spcPct val="112000"/>
              </a:lnSpc>
              <a:buNone/>
              <a:defRPr sz="1800" b="1">
                <a:solidFill>
                  <a:srgbClr val="5C2230"/>
                </a:solidFill>
                <a:latin typeface="Arial"/>
                <a:ea typeface="Arial"/>
                <a:cs typeface="Arial"/>
              </a:defRPr>
            </a:pPr>
            <a:r>
              <a:rPr sz="1800" b="1">
                <a:solidFill>
                  <a:srgbClr val="5C2230"/>
                </a:solidFill>
                <a:latin typeface="Arial"/>
                <a:ea typeface="Arial"/>
                <a:cs typeface="Arial"/>
              </a:rPr>
              <a:t>FICTIONAL PROJECT EXAMPLE</a:t>
            </a:r>
          </a:p>
        </p:txBody>
      </p:sp>
      <p:sp>
        <p:nvSpPr>
          <p:cNvPr id="4" name="rule">
            <a:extLst xmlns:a="http://schemas.openxmlformats.org/drawingml/2006/main">
              <a:ext uri="{FF2B5EF4-FFF2-40B4-BE49-F238E27FC236}">
                <a16:creationId xmlns:a16="http://schemas.microsoft.com/office/drawing/2014/main" id="{A23C5F68-EC5B-4F7C-B1D8-9BE686BC8CFE}"/>
              </a:ext>
            </a:extLst>
          </p:cNvPr>
          <p:cNvSpPr>
            <a:spLocks xmlns:a="http://schemas.openxmlformats.org/drawingml/2006/main" noGrp="1"/>
          </p:cNvSpPr>
          <p:nvPr/>
        </p:nvSpPr>
        <p:spPr>
          <a:xfrm xmlns:a="http://schemas.openxmlformats.org/drawingml/2006/main">
            <a:off x="1028700" y="3295650"/>
            <a:ext cx="8401050" cy="19050"/>
          </a:xfrm>
          <a:prstGeom xmlns:a="http://schemas.openxmlformats.org/drawingml/2006/main" prst="rect">
            <a:avLst/>
          </a:prstGeom>
          <a:solidFill xmlns:a="http://schemas.openxmlformats.org/drawingml/2006/main">
            <a:srgbClr val="5C2230"/>
          </a:solidFill>
          <a:ln xmlns:a="http://schemas.openxmlformats.org/drawingml/2006/main" w="0">
            <a:noFill/>
          </a:ln>
        </p:spPr>
      </p:sp>
      <p:sp>
        <p:nvSpPr>
          <p:cNvPr id="5" name="timeline-node">
            <a:extLst xmlns:a="http://schemas.openxmlformats.org/drawingml/2006/main">
              <a:ext uri="{FF2B5EF4-FFF2-40B4-BE49-F238E27FC236}">
                <a16:creationId xmlns:a16="http://schemas.microsoft.com/office/drawing/2014/main" id="{10DFD97A-B389-4823-B934-56C8B341DB1A}"/>
              </a:ext>
            </a:extLst>
          </p:cNvPr>
          <p:cNvSpPr>
            <a:spLocks xmlns:a="http://schemas.openxmlformats.org/drawingml/2006/main" noGrp="1"/>
          </p:cNvSpPr>
          <p:nvPr/>
        </p:nvSpPr>
        <p:spPr>
          <a:xfrm xmlns:a="http://schemas.openxmlformats.org/drawingml/2006/main">
            <a:off x="962025" y="3238500"/>
            <a:ext cx="133350" cy="133350"/>
          </a:xfrm>
          <a:prstGeom xmlns:a="http://schemas.openxmlformats.org/drawingml/2006/main" prst="ellipse">
            <a:avLst/>
          </a:prstGeom>
          <a:solidFill xmlns:a="http://schemas.openxmlformats.org/drawingml/2006/main">
            <a:srgbClr val="5C2230"/>
          </a:solidFill>
          <a:ln xmlns:a="http://schemas.openxmlformats.org/drawingml/2006/main" w="0">
            <a:noFill/>
          </a:ln>
        </p:spPr>
      </p:sp>
      <p:sp>
        <p:nvSpPr>
          <p:cNvPr id="6" name="date-0">
            <a:extLst xmlns:a="http://schemas.openxmlformats.org/drawingml/2006/main">
              <a:ext uri="{FF2B5EF4-FFF2-40B4-BE49-F238E27FC236}">
                <a16:creationId xmlns:a16="http://schemas.microsoft.com/office/drawing/2014/main" id="{AAD379E2-1B68-4615-91EA-832908D4AFFB}"/>
              </a:ext>
            </a:extLst>
          </p:cNvPr>
          <p:cNvSpPr>
            <a:spLocks xmlns:a="http://schemas.openxmlformats.org/drawingml/2006/main" noGrp="1"/>
          </p:cNvSpPr>
          <p:nvPr/>
        </p:nvSpPr>
        <p:spPr>
          <a:xfrm xmlns:a="http://schemas.openxmlformats.org/drawingml/2006/main">
            <a:off x="685800" y="2600325"/>
            <a:ext cx="2381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00" b="1">
                <a:solidFill>
                  <a:srgbClr val="5C2230"/>
                </a:solidFill>
                <a:latin typeface="Arial"/>
                <a:ea typeface="Arial"/>
                <a:cs typeface="Arial"/>
              </a:defRPr>
            </a:defPPr>
          </a:lstStyle>
          <a:p xmlns:a="http://schemas.openxmlformats.org/drawingml/2006/main">
            <a:pPr algn="l">
              <a:lnSpc>
                <a:spcPct val="112000"/>
              </a:lnSpc>
              <a:buNone/>
              <a:defRPr sz="2300" b="1">
                <a:solidFill>
                  <a:srgbClr val="5C2230"/>
                </a:solidFill>
                <a:latin typeface="Arial"/>
                <a:ea typeface="Arial"/>
                <a:cs typeface="Arial"/>
              </a:defRPr>
            </a:pPr>
            <a:r>
              <a:rPr sz="2300" b="1">
                <a:solidFill>
                  <a:srgbClr val="5C2230"/>
                </a:solidFill>
                <a:latin typeface="Arial"/>
                <a:ea typeface="Arial"/>
                <a:cs typeface="Arial"/>
              </a:rPr>
              <a:t>MARCH</a:t>
            </a:r>
          </a:p>
        </p:txBody>
      </p:sp>
      <p:sp>
        <p:nvSpPr>
          <p:cNvPr id="7" name="event-0">
            <a:extLst xmlns:a="http://schemas.openxmlformats.org/drawingml/2006/main">
              <a:ext uri="{FF2B5EF4-FFF2-40B4-BE49-F238E27FC236}">
                <a16:creationId xmlns:a16="http://schemas.microsoft.com/office/drawing/2014/main" id="{69C81E64-8E8C-4536-94AB-DF4F1E8BCBAB}"/>
              </a:ext>
            </a:extLst>
          </p:cNvPr>
          <p:cNvSpPr>
            <a:spLocks xmlns:a="http://schemas.openxmlformats.org/drawingml/2006/main" noGrp="1"/>
          </p:cNvSpPr>
          <p:nvPr/>
        </p:nvSpPr>
        <p:spPr>
          <a:xfrm xmlns:a="http://schemas.openxmlformats.org/drawingml/2006/main">
            <a:off x="685800" y="3714750"/>
            <a:ext cx="2381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00" b="1">
                <a:solidFill>
                  <a:srgbClr val="211B16"/>
                </a:solidFill>
                <a:latin typeface="Arial"/>
                <a:ea typeface="Arial"/>
                <a:cs typeface="Arial"/>
              </a:defRPr>
            </a:defPPr>
          </a:lstStyle>
          <a:p xmlns:a="http://schemas.openxmlformats.org/drawingml/2006/main">
            <a:pPr algn="l">
              <a:lnSpc>
                <a:spcPct val="112000"/>
              </a:lnSpc>
              <a:buNone/>
              <a:defRPr sz="2800" b="1">
                <a:solidFill>
                  <a:srgbClr val="211B16"/>
                </a:solidFill>
                <a:latin typeface="Arial"/>
                <a:ea typeface="Arial"/>
                <a:cs typeface="Arial"/>
              </a:defRPr>
            </a:pPr>
            <a:r>
              <a:rPr sz="2800" b="1">
                <a:solidFill>
                  <a:srgbClr val="211B16"/>
                </a:solidFill>
                <a:latin typeface="Arial"/>
                <a:ea typeface="Arial"/>
                <a:cs typeface="Arial"/>
              </a:rPr>
              <a:t>Listen</a:t>
            </a:r>
          </a:p>
        </p:txBody>
      </p:sp>
      <p:sp>
        <p:nvSpPr>
          <p:cNvPr id="8" name="detail-0">
            <a:extLst xmlns:a="http://schemas.openxmlformats.org/drawingml/2006/main">
              <a:ext uri="{FF2B5EF4-FFF2-40B4-BE49-F238E27FC236}">
                <a16:creationId xmlns:a16="http://schemas.microsoft.com/office/drawing/2014/main" id="{46CEB0C5-7476-442F-9E76-B6C877FC20D5}"/>
              </a:ext>
            </a:extLst>
          </p:cNvPr>
          <p:cNvSpPr>
            <a:spLocks xmlns:a="http://schemas.openxmlformats.org/drawingml/2006/main" noGrp="1"/>
          </p:cNvSpPr>
          <p:nvPr/>
        </p:nvSpPr>
        <p:spPr>
          <a:xfrm xmlns:a="http://schemas.openxmlformats.org/drawingml/2006/main">
            <a:off x="685800" y="4333875"/>
            <a:ext cx="23812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00" b="0">
                <a:solidFill>
                  <a:srgbClr val="211B16"/>
                </a:solidFill>
                <a:latin typeface="Arial"/>
                <a:ea typeface="Arial"/>
                <a:cs typeface="Arial"/>
              </a:defRPr>
            </a:defPPr>
          </a:lstStyle>
          <a:p xmlns:a="http://schemas.openxmlformats.org/drawingml/2006/main">
            <a:pPr algn="l">
              <a:lnSpc>
                <a:spcPct val="112000"/>
              </a:lnSpc>
              <a:buNone/>
              <a:defRPr sz="2500" b="0">
                <a:solidFill>
                  <a:srgbClr val="211B16"/>
                </a:solidFill>
                <a:latin typeface="Arial"/>
                <a:ea typeface="Arial"/>
                <a:cs typeface="Arial"/>
              </a:defRPr>
            </a:pPr>
            <a:r>
              <a:rPr sz="2500" b="0">
                <a:solidFill>
                  <a:srgbClr val="211B16"/>
                </a:solidFill>
                <a:latin typeface="Arial"/>
                <a:ea typeface="Arial"/>
                <a:cs typeface="Arial"/>
              </a:rPr>
              <a:t>Residents share memories.</a:t>
            </a:r>
          </a:p>
        </p:txBody>
      </p:sp>
      <p:sp>
        <p:nvSpPr>
          <p:cNvPr id="9" name="timeline-node">
            <a:extLst xmlns:a="http://schemas.openxmlformats.org/drawingml/2006/main">
              <a:ext uri="{FF2B5EF4-FFF2-40B4-BE49-F238E27FC236}">
                <a16:creationId xmlns:a16="http://schemas.microsoft.com/office/drawing/2014/main" id="{85B30246-BBE5-4FCB-B839-A8944CA7DAFB}"/>
              </a:ext>
            </a:extLst>
          </p:cNvPr>
          <p:cNvSpPr>
            <a:spLocks xmlns:a="http://schemas.openxmlformats.org/drawingml/2006/main" noGrp="1"/>
          </p:cNvSpPr>
          <p:nvPr/>
        </p:nvSpPr>
        <p:spPr>
          <a:xfrm xmlns:a="http://schemas.openxmlformats.org/drawingml/2006/main">
            <a:off x="3762375" y="3238500"/>
            <a:ext cx="133350" cy="133350"/>
          </a:xfrm>
          <a:prstGeom xmlns:a="http://schemas.openxmlformats.org/drawingml/2006/main" prst="ellipse">
            <a:avLst/>
          </a:prstGeom>
          <a:solidFill xmlns:a="http://schemas.openxmlformats.org/drawingml/2006/main">
            <a:srgbClr val="5C2230"/>
          </a:solidFill>
          <a:ln xmlns:a="http://schemas.openxmlformats.org/drawingml/2006/main" w="0">
            <a:noFill/>
          </a:ln>
        </p:spPr>
      </p:sp>
      <p:sp>
        <p:nvSpPr>
          <p:cNvPr id="10" name="date-1">
            <a:extLst xmlns:a="http://schemas.openxmlformats.org/drawingml/2006/main">
              <a:ext uri="{FF2B5EF4-FFF2-40B4-BE49-F238E27FC236}">
                <a16:creationId xmlns:a16="http://schemas.microsoft.com/office/drawing/2014/main" id="{10B71F2B-5DEF-4C0D-B5FD-D7CC24B53A29}"/>
              </a:ext>
            </a:extLst>
          </p:cNvPr>
          <p:cNvSpPr>
            <a:spLocks xmlns:a="http://schemas.openxmlformats.org/drawingml/2006/main" noGrp="1"/>
          </p:cNvSpPr>
          <p:nvPr/>
        </p:nvSpPr>
        <p:spPr>
          <a:xfrm xmlns:a="http://schemas.openxmlformats.org/drawingml/2006/main">
            <a:off x="3486150" y="2600325"/>
            <a:ext cx="2381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00" b="1">
                <a:solidFill>
                  <a:srgbClr val="5C2230"/>
                </a:solidFill>
                <a:latin typeface="Arial"/>
                <a:ea typeface="Arial"/>
                <a:cs typeface="Arial"/>
              </a:defRPr>
            </a:defPPr>
          </a:lstStyle>
          <a:p xmlns:a="http://schemas.openxmlformats.org/drawingml/2006/main">
            <a:pPr algn="l">
              <a:lnSpc>
                <a:spcPct val="112000"/>
              </a:lnSpc>
              <a:buNone/>
              <a:defRPr sz="2300" b="1">
                <a:solidFill>
                  <a:srgbClr val="5C2230"/>
                </a:solidFill>
                <a:latin typeface="Arial"/>
                <a:ea typeface="Arial"/>
                <a:cs typeface="Arial"/>
              </a:defRPr>
            </a:pPr>
            <a:r>
              <a:rPr sz="2300" b="1">
                <a:solidFill>
                  <a:srgbClr val="5C2230"/>
                </a:solidFill>
                <a:latin typeface="Arial"/>
                <a:ea typeface="Arial"/>
                <a:cs typeface="Arial"/>
              </a:rPr>
              <a:t>JUNE</a:t>
            </a:r>
          </a:p>
        </p:txBody>
      </p:sp>
      <p:sp>
        <p:nvSpPr>
          <p:cNvPr id="11" name="event-1">
            <a:extLst xmlns:a="http://schemas.openxmlformats.org/drawingml/2006/main">
              <a:ext uri="{FF2B5EF4-FFF2-40B4-BE49-F238E27FC236}">
                <a16:creationId xmlns:a16="http://schemas.microsoft.com/office/drawing/2014/main" id="{10E7040A-5919-4EE9-990C-0AB2B0430146}"/>
              </a:ext>
            </a:extLst>
          </p:cNvPr>
          <p:cNvSpPr>
            <a:spLocks xmlns:a="http://schemas.openxmlformats.org/drawingml/2006/main" noGrp="1"/>
          </p:cNvSpPr>
          <p:nvPr/>
        </p:nvSpPr>
        <p:spPr>
          <a:xfrm xmlns:a="http://schemas.openxmlformats.org/drawingml/2006/main">
            <a:off x="3486150" y="3714750"/>
            <a:ext cx="2381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00" b="1">
                <a:solidFill>
                  <a:srgbClr val="211B16"/>
                </a:solidFill>
                <a:latin typeface="Arial"/>
                <a:ea typeface="Arial"/>
                <a:cs typeface="Arial"/>
              </a:defRPr>
            </a:defPPr>
          </a:lstStyle>
          <a:p xmlns:a="http://schemas.openxmlformats.org/drawingml/2006/main">
            <a:pPr algn="l">
              <a:lnSpc>
                <a:spcPct val="112000"/>
              </a:lnSpc>
              <a:buNone/>
              <a:defRPr sz="2800" b="1">
                <a:solidFill>
                  <a:srgbClr val="211B16"/>
                </a:solidFill>
                <a:latin typeface="Arial"/>
                <a:ea typeface="Arial"/>
                <a:cs typeface="Arial"/>
              </a:defRPr>
            </a:pPr>
            <a:r>
              <a:rPr sz="2800" b="1">
                <a:solidFill>
                  <a:srgbClr val="211B16"/>
                </a:solidFill>
                <a:latin typeface="Arial"/>
                <a:ea typeface="Arial"/>
                <a:cs typeface="Arial"/>
              </a:rPr>
              <a:t>Collect</a:t>
            </a:r>
          </a:p>
        </p:txBody>
      </p:sp>
      <p:sp>
        <p:nvSpPr>
          <p:cNvPr id="12" name="detail-1">
            <a:extLst xmlns:a="http://schemas.openxmlformats.org/drawingml/2006/main">
              <a:ext uri="{FF2B5EF4-FFF2-40B4-BE49-F238E27FC236}">
                <a16:creationId xmlns:a16="http://schemas.microsoft.com/office/drawing/2014/main" id="{8437D40D-3B4A-4D91-9072-A129791A2480}"/>
              </a:ext>
            </a:extLst>
          </p:cNvPr>
          <p:cNvSpPr>
            <a:spLocks xmlns:a="http://schemas.openxmlformats.org/drawingml/2006/main" noGrp="1"/>
          </p:cNvSpPr>
          <p:nvPr/>
        </p:nvSpPr>
        <p:spPr>
          <a:xfrm xmlns:a="http://schemas.openxmlformats.org/drawingml/2006/main">
            <a:off x="3486150" y="4333875"/>
            <a:ext cx="23812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00" b="0">
                <a:solidFill>
                  <a:srgbClr val="211B16"/>
                </a:solidFill>
                <a:latin typeface="Arial"/>
                <a:ea typeface="Arial"/>
                <a:cs typeface="Arial"/>
              </a:defRPr>
            </a:defPPr>
          </a:lstStyle>
          <a:p xmlns:a="http://schemas.openxmlformats.org/drawingml/2006/main">
            <a:pPr algn="l">
              <a:lnSpc>
                <a:spcPct val="112000"/>
              </a:lnSpc>
              <a:buNone/>
              <a:defRPr sz="2500" b="0">
                <a:solidFill>
                  <a:srgbClr val="211B16"/>
                </a:solidFill>
                <a:latin typeface="Arial"/>
                <a:ea typeface="Arial"/>
                <a:cs typeface="Arial"/>
              </a:defRPr>
            </a:pPr>
            <a:r>
              <a:rPr sz="2500" b="0">
                <a:solidFill>
                  <a:srgbClr val="211B16"/>
                </a:solidFill>
                <a:latin typeface="Arial"/>
                <a:ea typeface="Arial"/>
                <a:cs typeface="Arial"/>
              </a:rPr>
              <a:t>Families lend photographs.</a:t>
            </a:r>
          </a:p>
        </p:txBody>
      </p:sp>
      <p:sp>
        <p:nvSpPr>
          <p:cNvPr id="13" name="timeline-node">
            <a:extLst xmlns:a="http://schemas.openxmlformats.org/drawingml/2006/main">
              <a:ext uri="{FF2B5EF4-FFF2-40B4-BE49-F238E27FC236}">
                <a16:creationId xmlns:a16="http://schemas.microsoft.com/office/drawing/2014/main" id="{27412F98-8B0B-41EB-8E1C-309C14CB67A3}"/>
              </a:ext>
            </a:extLst>
          </p:cNvPr>
          <p:cNvSpPr>
            <a:spLocks xmlns:a="http://schemas.openxmlformats.org/drawingml/2006/main" noGrp="1"/>
          </p:cNvSpPr>
          <p:nvPr/>
        </p:nvSpPr>
        <p:spPr>
          <a:xfrm xmlns:a="http://schemas.openxmlformats.org/drawingml/2006/main">
            <a:off x="6562725" y="3238500"/>
            <a:ext cx="133350" cy="133350"/>
          </a:xfrm>
          <a:prstGeom xmlns:a="http://schemas.openxmlformats.org/drawingml/2006/main" prst="ellipse">
            <a:avLst/>
          </a:prstGeom>
          <a:solidFill xmlns:a="http://schemas.openxmlformats.org/drawingml/2006/main">
            <a:srgbClr val="5C2230"/>
          </a:solidFill>
          <a:ln xmlns:a="http://schemas.openxmlformats.org/drawingml/2006/main" w="0">
            <a:noFill/>
          </a:ln>
        </p:spPr>
      </p:sp>
      <p:sp>
        <p:nvSpPr>
          <p:cNvPr id="14" name="date-2">
            <a:extLst xmlns:a="http://schemas.openxmlformats.org/drawingml/2006/main">
              <a:ext uri="{FF2B5EF4-FFF2-40B4-BE49-F238E27FC236}">
                <a16:creationId xmlns:a16="http://schemas.microsoft.com/office/drawing/2014/main" id="{F888AB0B-7296-434E-A91F-C29AB0E2F208}"/>
              </a:ext>
            </a:extLst>
          </p:cNvPr>
          <p:cNvSpPr>
            <a:spLocks xmlns:a="http://schemas.openxmlformats.org/drawingml/2006/main" noGrp="1"/>
          </p:cNvSpPr>
          <p:nvPr/>
        </p:nvSpPr>
        <p:spPr>
          <a:xfrm xmlns:a="http://schemas.openxmlformats.org/drawingml/2006/main">
            <a:off x="6286500" y="2600325"/>
            <a:ext cx="2381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00" b="1">
                <a:solidFill>
                  <a:srgbClr val="5C2230"/>
                </a:solidFill>
                <a:latin typeface="Arial"/>
                <a:ea typeface="Arial"/>
                <a:cs typeface="Arial"/>
              </a:defRPr>
            </a:defPPr>
          </a:lstStyle>
          <a:p xmlns:a="http://schemas.openxmlformats.org/drawingml/2006/main">
            <a:pPr algn="l">
              <a:lnSpc>
                <a:spcPct val="112000"/>
              </a:lnSpc>
              <a:buNone/>
              <a:defRPr sz="2300" b="1">
                <a:solidFill>
                  <a:srgbClr val="5C2230"/>
                </a:solidFill>
                <a:latin typeface="Arial"/>
                <a:ea typeface="Arial"/>
                <a:cs typeface="Arial"/>
              </a:defRPr>
            </a:pPr>
            <a:r>
              <a:rPr sz="2300" b="1">
                <a:solidFill>
                  <a:srgbClr val="5C2230"/>
                </a:solidFill>
                <a:latin typeface="Arial"/>
                <a:ea typeface="Arial"/>
                <a:cs typeface="Arial"/>
              </a:rPr>
              <a:t>SEPTEMBER</a:t>
            </a:r>
          </a:p>
        </p:txBody>
      </p:sp>
      <p:sp>
        <p:nvSpPr>
          <p:cNvPr id="15" name="event-2">
            <a:extLst xmlns:a="http://schemas.openxmlformats.org/drawingml/2006/main">
              <a:ext uri="{FF2B5EF4-FFF2-40B4-BE49-F238E27FC236}">
                <a16:creationId xmlns:a16="http://schemas.microsoft.com/office/drawing/2014/main" id="{D0FB03A8-26CF-4442-8EFA-24244E6A4929}"/>
              </a:ext>
            </a:extLst>
          </p:cNvPr>
          <p:cNvSpPr>
            <a:spLocks xmlns:a="http://schemas.openxmlformats.org/drawingml/2006/main" noGrp="1"/>
          </p:cNvSpPr>
          <p:nvPr/>
        </p:nvSpPr>
        <p:spPr>
          <a:xfrm xmlns:a="http://schemas.openxmlformats.org/drawingml/2006/main">
            <a:off x="6286500" y="3714750"/>
            <a:ext cx="2381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00" b="1">
                <a:solidFill>
                  <a:srgbClr val="211B16"/>
                </a:solidFill>
                <a:latin typeface="Arial"/>
                <a:ea typeface="Arial"/>
                <a:cs typeface="Arial"/>
              </a:defRPr>
            </a:defPPr>
          </a:lstStyle>
          <a:p xmlns:a="http://schemas.openxmlformats.org/drawingml/2006/main">
            <a:pPr algn="l">
              <a:lnSpc>
                <a:spcPct val="112000"/>
              </a:lnSpc>
              <a:buNone/>
              <a:defRPr sz="2800" b="1">
                <a:solidFill>
                  <a:srgbClr val="211B16"/>
                </a:solidFill>
                <a:latin typeface="Arial"/>
                <a:ea typeface="Arial"/>
                <a:cs typeface="Arial"/>
              </a:defRPr>
            </a:pPr>
            <a:r>
              <a:rPr sz="2800" b="1">
                <a:solidFill>
                  <a:srgbClr val="211B16"/>
                </a:solidFill>
                <a:latin typeface="Arial"/>
                <a:ea typeface="Arial"/>
                <a:cs typeface="Arial"/>
              </a:rPr>
              <a:t>Check</a:t>
            </a:r>
          </a:p>
        </p:txBody>
      </p:sp>
      <p:sp>
        <p:nvSpPr>
          <p:cNvPr id="16" name="detail-2">
            <a:extLst xmlns:a="http://schemas.openxmlformats.org/drawingml/2006/main">
              <a:ext uri="{FF2B5EF4-FFF2-40B4-BE49-F238E27FC236}">
                <a16:creationId xmlns:a16="http://schemas.microsoft.com/office/drawing/2014/main" id="{71192249-CD2C-4250-873E-F43F8C040688}"/>
              </a:ext>
            </a:extLst>
          </p:cNvPr>
          <p:cNvSpPr>
            <a:spLocks xmlns:a="http://schemas.openxmlformats.org/drawingml/2006/main" noGrp="1"/>
          </p:cNvSpPr>
          <p:nvPr/>
        </p:nvSpPr>
        <p:spPr>
          <a:xfrm xmlns:a="http://schemas.openxmlformats.org/drawingml/2006/main">
            <a:off x="6286500" y="4333875"/>
            <a:ext cx="23812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00" b="0">
                <a:solidFill>
                  <a:srgbClr val="211B16"/>
                </a:solidFill>
                <a:latin typeface="Arial"/>
                <a:ea typeface="Arial"/>
                <a:cs typeface="Arial"/>
              </a:defRPr>
            </a:defPPr>
          </a:lstStyle>
          <a:p xmlns:a="http://schemas.openxmlformats.org/drawingml/2006/main">
            <a:pPr algn="l">
              <a:lnSpc>
                <a:spcPct val="112000"/>
              </a:lnSpc>
              <a:buNone/>
              <a:defRPr sz="2500" b="0">
                <a:solidFill>
                  <a:srgbClr val="211B16"/>
                </a:solidFill>
                <a:latin typeface="Arial"/>
                <a:ea typeface="Arial"/>
                <a:cs typeface="Arial"/>
              </a:defRPr>
            </a:pPr>
            <a:r>
              <a:rPr sz="2500" b="0">
                <a:solidFill>
                  <a:srgbClr val="211B16"/>
                </a:solidFill>
                <a:latin typeface="Arial"/>
                <a:ea typeface="Arial"/>
                <a:cs typeface="Arial"/>
              </a:rPr>
              <a:t>Volunteers confirm names and dates.</a:t>
            </a:r>
          </a:p>
        </p:txBody>
      </p:sp>
      <p:sp>
        <p:nvSpPr>
          <p:cNvPr id="17" name="timeline-node">
            <a:extLst xmlns:a="http://schemas.openxmlformats.org/drawingml/2006/main">
              <a:ext uri="{FF2B5EF4-FFF2-40B4-BE49-F238E27FC236}">
                <a16:creationId xmlns:a16="http://schemas.microsoft.com/office/drawing/2014/main" id="{BBBC7B1B-A5EA-416E-A1D1-0AFC66D91C53}"/>
              </a:ext>
            </a:extLst>
          </p:cNvPr>
          <p:cNvSpPr>
            <a:spLocks xmlns:a="http://schemas.openxmlformats.org/drawingml/2006/main" noGrp="1"/>
          </p:cNvSpPr>
          <p:nvPr/>
        </p:nvSpPr>
        <p:spPr>
          <a:xfrm xmlns:a="http://schemas.openxmlformats.org/drawingml/2006/main">
            <a:off x="9363075" y="3238500"/>
            <a:ext cx="133350" cy="133350"/>
          </a:xfrm>
          <a:prstGeom xmlns:a="http://schemas.openxmlformats.org/drawingml/2006/main" prst="ellipse">
            <a:avLst/>
          </a:prstGeom>
          <a:solidFill xmlns:a="http://schemas.openxmlformats.org/drawingml/2006/main">
            <a:srgbClr val="5C2230"/>
          </a:solidFill>
          <a:ln xmlns:a="http://schemas.openxmlformats.org/drawingml/2006/main" w="0">
            <a:noFill/>
          </a:ln>
        </p:spPr>
      </p:sp>
      <p:sp>
        <p:nvSpPr>
          <p:cNvPr id="18" name="date-3">
            <a:extLst xmlns:a="http://schemas.openxmlformats.org/drawingml/2006/main">
              <a:ext uri="{FF2B5EF4-FFF2-40B4-BE49-F238E27FC236}">
                <a16:creationId xmlns:a16="http://schemas.microsoft.com/office/drawing/2014/main" id="{BD1637BA-2F0A-461C-B399-B4BA16DE58A7}"/>
              </a:ext>
            </a:extLst>
          </p:cNvPr>
          <p:cNvSpPr>
            <a:spLocks xmlns:a="http://schemas.openxmlformats.org/drawingml/2006/main" noGrp="1"/>
          </p:cNvSpPr>
          <p:nvPr/>
        </p:nvSpPr>
        <p:spPr>
          <a:xfrm xmlns:a="http://schemas.openxmlformats.org/drawingml/2006/main">
            <a:off x="9086850" y="2600325"/>
            <a:ext cx="2381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00" b="1">
                <a:solidFill>
                  <a:srgbClr val="5C2230"/>
                </a:solidFill>
                <a:latin typeface="Arial"/>
                <a:ea typeface="Arial"/>
                <a:cs typeface="Arial"/>
              </a:defRPr>
            </a:defPPr>
          </a:lstStyle>
          <a:p xmlns:a="http://schemas.openxmlformats.org/drawingml/2006/main">
            <a:pPr algn="l">
              <a:lnSpc>
                <a:spcPct val="112000"/>
              </a:lnSpc>
              <a:buNone/>
              <a:defRPr sz="2300" b="1">
                <a:solidFill>
                  <a:srgbClr val="5C2230"/>
                </a:solidFill>
                <a:latin typeface="Arial"/>
                <a:ea typeface="Arial"/>
                <a:cs typeface="Arial"/>
              </a:defRPr>
            </a:pPr>
            <a:r>
              <a:rPr sz="2300" b="1">
                <a:solidFill>
                  <a:srgbClr val="5C2230"/>
                </a:solidFill>
                <a:latin typeface="Arial"/>
                <a:ea typeface="Arial"/>
                <a:cs typeface="Arial"/>
              </a:rPr>
              <a:t>NOVEMBER</a:t>
            </a:r>
          </a:p>
        </p:txBody>
      </p:sp>
      <p:sp>
        <p:nvSpPr>
          <p:cNvPr id="19" name="event-3">
            <a:extLst xmlns:a="http://schemas.openxmlformats.org/drawingml/2006/main">
              <a:ext uri="{FF2B5EF4-FFF2-40B4-BE49-F238E27FC236}">
                <a16:creationId xmlns:a16="http://schemas.microsoft.com/office/drawing/2014/main" id="{ABC4EBC0-709A-4B77-B0BE-E51CCD2E2216}"/>
              </a:ext>
            </a:extLst>
          </p:cNvPr>
          <p:cNvSpPr>
            <a:spLocks xmlns:a="http://schemas.openxmlformats.org/drawingml/2006/main" noGrp="1"/>
          </p:cNvSpPr>
          <p:nvPr/>
        </p:nvSpPr>
        <p:spPr>
          <a:xfrm xmlns:a="http://schemas.openxmlformats.org/drawingml/2006/main">
            <a:off x="9086850" y="3714750"/>
            <a:ext cx="2381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00" b="1">
                <a:solidFill>
                  <a:srgbClr val="211B16"/>
                </a:solidFill>
                <a:latin typeface="Arial"/>
                <a:ea typeface="Arial"/>
                <a:cs typeface="Arial"/>
              </a:defRPr>
            </a:defPPr>
          </a:lstStyle>
          <a:p xmlns:a="http://schemas.openxmlformats.org/drawingml/2006/main">
            <a:pPr algn="l">
              <a:lnSpc>
                <a:spcPct val="112000"/>
              </a:lnSpc>
              <a:buNone/>
              <a:defRPr sz="2800" b="1">
                <a:solidFill>
                  <a:srgbClr val="211B16"/>
                </a:solidFill>
                <a:latin typeface="Arial"/>
                <a:ea typeface="Arial"/>
                <a:cs typeface="Arial"/>
              </a:defRPr>
            </a:pPr>
            <a:r>
              <a:rPr sz="2800" b="1">
                <a:solidFill>
                  <a:srgbClr val="211B16"/>
                </a:solidFill>
                <a:latin typeface="Arial"/>
                <a:ea typeface="Arial"/>
                <a:cs typeface="Arial"/>
              </a:rPr>
              <a:t>Share</a:t>
            </a:r>
          </a:p>
        </p:txBody>
      </p:sp>
      <p:sp>
        <p:nvSpPr>
          <p:cNvPr id="20" name="detail-3">
            <a:extLst xmlns:a="http://schemas.openxmlformats.org/drawingml/2006/main">
              <a:ext uri="{FF2B5EF4-FFF2-40B4-BE49-F238E27FC236}">
                <a16:creationId xmlns:a16="http://schemas.microsoft.com/office/drawing/2014/main" id="{6CC477D6-FA8A-4ED2-B6EC-030DB179A320}"/>
              </a:ext>
            </a:extLst>
          </p:cNvPr>
          <p:cNvSpPr>
            <a:spLocks xmlns:a="http://schemas.openxmlformats.org/drawingml/2006/main" noGrp="1"/>
          </p:cNvSpPr>
          <p:nvPr/>
        </p:nvSpPr>
        <p:spPr>
          <a:xfrm xmlns:a="http://schemas.openxmlformats.org/drawingml/2006/main">
            <a:off x="9086850" y="4333875"/>
            <a:ext cx="23812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00" b="0">
                <a:solidFill>
                  <a:srgbClr val="211B16"/>
                </a:solidFill>
                <a:latin typeface="Arial"/>
                <a:ea typeface="Arial"/>
                <a:cs typeface="Arial"/>
              </a:defRPr>
            </a:defPPr>
          </a:lstStyle>
          <a:p xmlns:a="http://schemas.openxmlformats.org/drawingml/2006/main">
            <a:pPr algn="l">
              <a:lnSpc>
                <a:spcPct val="112000"/>
              </a:lnSpc>
              <a:buNone/>
              <a:defRPr sz="2500" b="0">
                <a:solidFill>
                  <a:srgbClr val="211B16"/>
                </a:solidFill>
                <a:latin typeface="Arial"/>
                <a:ea typeface="Arial"/>
                <a:cs typeface="Arial"/>
              </a:defRPr>
            </a:pPr>
            <a:r>
              <a:rPr sz="2500" b="0">
                <a:solidFill>
                  <a:srgbClr val="211B16"/>
                </a:solidFill>
                <a:latin typeface="Arial"/>
                <a:ea typeface="Arial"/>
                <a:cs typeface="Arial"/>
              </a:rPr>
              <a:t>The town opens an exhibition.</a:t>
            </a:r>
          </a:p>
        </p:txBody>
      </p:sp>
      <p:sp>
        <p:nvSpPr>
          <p:cNvPr id="21" name="template-capacity-guide">
            <a:extLst xmlns:a="http://schemas.openxmlformats.org/drawingml/2006/main">
              <a:ext uri="{FF2B5EF4-FFF2-40B4-BE49-F238E27FC236}">
                <a16:creationId xmlns:a16="http://schemas.microsoft.com/office/drawing/2014/main" id="{CDD7A16B-40D6-42D8-91A3-D16ADAD50027}"/>
              </a:ext>
            </a:extLst>
          </p:cNvPr>
          <p:cNvSpPr>
            <a:spLocks xmlns:a="http://schemas.openxmlformats.org/drawingml/2006/main" noGrp="1"/>
          </p:cNvSpPr>
          <p:nvPr/>
        </p:nvSpPr>
        <p:spPr>
          <a:xfrm xmlns:a="http://schemas.openxmlformats.org/drawingml/2006/main">
            <a:off x="685800" y="6343650"/>
            <a:ext cx="108204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00" b="0">
                <a:solidFill>
                  <a:srgbClr val="5C2230"/>
                </a:solidFill>
                <a:latin typeface="Arial"/>
                <a:ea typeface="Arial"/>
                <a:cs typeface="Arial"/>
              </a:defRPr>
            </a:defPPr>
          </a:lstStyle>
          <a:p xmlns:a="http://schemas.openxmlformats.org/drawingml/2006/main">
            <a:pPr algn="l">
              <a:lnSpc>
                <a:spcPct val="112000"/>
              </a:lnSpc>
              <a:buNone/>
              <a:defRPr sz="1600" b="0">
                <a:solidFill>
                  <a:srgbClr val="5C2230"/>
                </a:solidFill>
                <a:latin typeface="Arial"/>
                <a:ea typeface="Arial"/>
                <a:cs typeface="Arial"/>
              </a:defRPr>
            </a:pPr>
            <a:r>
              <a:rPr sz="1600" b="0">
                <a:solidFill>
                  <a:srgbClr val="5C2230"/>
                </a:solidFill>
                <a:latin typeface="Arial"/>
                <a:ea typeface="Arial"/>
                <a:cs typeface="Arial"/>
              </a:rPr>
              <a:t>Example: four stages with one title and 3–6 words of detail</a:t>
            </a:r>
          </a:p>
        </p:txBody>
      </p:sp>
    </p:spTree>
    <p:extLst>
      <p:ext uri="{BB962C8B-B14F-4D97-AF65-F5344CB8AC3E}">
        <p14:creationId xmlns:p14="http://schemas.microsoft.com/office/powerpoint/2010/main" val="1227814586"/>
      </p:ext>
    </p:extLst>
  </p:cSld>
</p:sld>
</file>

<file path=ppt/slides/slide14.xml><?xml version="1.0" encoding="utf-8"?>
<p:sld xmlns:p="http://schemas.openxmlformats.org/presentationml/2006/main">
  <p:cSld>
    <p:bg>
      <p:bgPr>
        <a:solidFill xmlns:a="http://schemas.openxmlformats.org/drawingml/2006/main">
          <a:srgbClr val="211B16"/>
        </a:solidFill>
      </p:bgPr>
    </p:bg>
    <p:spTree>
      <p:nvGrpSpPr>
        <p:cNvPr id="1" name=""/>
        <p:cNvGrpSpPr/>
        <p:nvPr/>
      </p:nvGrpSpPr>
      <p:grpSpPr>
        <a:xfrm xmlns:a="http://schemas.openxmlformats.org/drawingml/2006/main"/>
      </p:grpSpPr>
      <p:sp>
        <p:nvSpPr>
          <p:cNvPr id="22" name="template-label">
            <a:extLst xmlns:a="http://schemas.openxmlformats.org/drawingml/2006/main">
              <a:ext uri="{FF2B5EF4-FFF2-40B4-BE49-F238E27FC236}">
                <a16:creationId xmlns:a16="http://schemas.microsoft.com/office/drawing/2014/main" id="{C910CEB1-AC3E-4D04-92A6-9EF8206B7038}"/>
              </a:ext>
            </a:extLst>
          </p:cNvPr>
          <p:cNvSpPr>
            <a:spLocks xmlns:a="http://schemas.openxmlformats.org/drawingml/2006/main" noGrp="1"/>
          </p:cNvSpPr>
          <p:nvPr/>
        </p:nvSpPr>
        <p:spPr>
          <a:xfrm xmlns:a="http://schemas.openxmlformats.org/drawingml/2006/main">
            <a:off x="685800" y="285750"/>
            <a:ext cx="10820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00" b="1">
                <a:solidFill>
                  <a:srgbClr val="B89B5E"/>
                </a:solidFill>
                <a:latin typeface="Arial"/>
                <a:ea typeface="Arial"/>
                <a:cs typeface="Arial"/>
              </a:defRPr>
            </a:defPPr>
          </a:lstStyle>
          <a:p xmlns:a="http://schemas.openxmlformats.org/drawingml/2006/main">
            <a:pPr algn="l">
              <a:lnSpc>
                <a:spcPct val="112000"/>
              </a:lnSpc>
              <a:buNone/>
              <a:defRPr sz="1700" b="1">
                <a:solidFill>
                  <a:srgbClr val="B89B5E"/>
                </a:solidFill>
                <a:latin typeface="Arial"/>
                <a:ea typeface="Arial"/>
                <a:cs typeface="Arial"/>
              </a:defRPr>
            </a:pPr>
            <a:r>
              <a:rPr sz="1700" b="1">
                <a:solidFill>
                  <a:srgbClr val="B89B5E"/>
                </a:solidFill>
                <a:latin typeface="Arial"/>
                <a:ea typeface="Arial"/>
                <a:cs typeface="Arial"/>
              </a:rPr>
              <a:t>14  TIMELINE / VERTICAL NARRATIVE</a:t>
            </a:r>
          </a:p>
        </p:txBody>
      </p:sp>
      <p:sp>
        <p:nvSpPr>
          <p:cNvPr id="2" name="heading">
            <a:extLst xmlns:a="http://schemas.openxmlformats.org/drawingml/2006/main">
              <a:ext uri="{FF2B5EF4-FFF2-40B4-BE49-F238E27FC236}">
                <a16:creationId xmlns:a16="http://schemas.microsoft.com/office/drawing/2014/main" id="{F76BF3ED-DF84-4A38-A5F2-46D7D4DEB515}"/>
              </a:ext>
            </a:extLst>
          </p:cNvPr>
          <p:cNvSpPr>
            <a:spLocks xmlns:a="http://schemas.openxmlformats.org/drawingml/2006/main" noGrp="1"/>
          </p:cNvSpPr>
          <p:nvPr/>
        </p:nvSpPr>
        <p:spPr>
          <a:xfrm xmlns:a="http://schemas.openxmlformats.org/drawingml/2006/main">
            <a:off x="685800" y="83820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800" b="1">
                <a:solidFill>
                  <a:srgbClr val="F2E8D5"/>
                </a:solidFill>
                <a:latin typeface="Georgia"/>
                <a:ea typeface="Georgia"/>
                <a:cs typeface="Georgia"/>
              </a:defRPr>
            </a:defPPr>
          </a:lstStyle>
          <a:p xmlns:a="http://schemas.openxmlformats.org/drawingml/2006/main">
            <a:pPr algn="l">
              <a:lnSpc>
                <a:spcPct val="112000"/>
              </a:lnSpc>
              <a:buNone/>
              <a:defRPr sz="3800" b="1">
                <a:solidFill>
                  <a:srgbClr val="F2E8D5"/>
                </a:solidFill>
                <a:latin typeface="Georgia"/>
                <a:ea typeface="Georgia"/>
                <a:cs typeface="Georgia"/>
              </a:defRPr>
            </a:pPr>
            <a:r>
              <a:rPr sz="3800" b="1">
                <a:solidFill>
                  <a:srgbClr val="F2E8D5"/>
                </a:solidFill>
                <a:latin typeface="Georgia"/>
                <a:ea typeface="Georgia"/>
                <a:cs typeface="Georgia"/>
              </a:rPr>
              <a:t>A letter crosses generations</a:t>
            </a:r>
          </a:p>
        </p:txBody>
      </p:sp>
      <p:sp>
        <p:nvSpPr>
          <p:cNvPr id="3" name="fiction-label">
            <a:extLst xmlns:a="http://schemas.openxmlformats.org/drawingml/2006/main">
              <a:ext uri="{FF2B5EF4-FFF2-40B4-BE49-F238E27FC236}">
                <a16:creationId xmlns:a16="http://schemas.microsoft.com/office/drawing/2014/main" id="{E4917D51-8FC8-49AE-8258-9148351EC023}"/>
              </a:ext>
            </a:extLst>
          </p:cNvPr>
          <p:cNvSpPr>
            <a:spLocks xmlns:a="http://schemas.openxmlformats.org/drawingml/2006/main" noGrp="1"/>
          </p:cNvSpPr>
          <p:nvPr/>
        </p:nvSpPr>
        <p:spPr>
          <a:xfrm xmlns:a="http://schemas.openxmlformats.org/drawingml/2006/main">
            <a:off x="685800" y="1952625"/>
            <a:ext cx="10820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B89B5E"/>
                </a:solidFill>
                <a:latin typeface="Arial"/>
                <a:ea typeface="Arial"/>
                <a:cs typeface="Arial"/>
              </a:defRPr>
            </a:defPPr>
          </a:lstStyle>
          <a:p xmlns:a="http://schemas.openxmlformats.org/drawingml/2006/main">
            <a:pPr algn="l">
              <a:lnSpc>
                <a:spcPct val="112000"/>
              </a:lnSpc>
              <a:buNone/>
              <a:defRPr sz="1800" b="1">
                <a:solidFill>
                  <a:srgbClr val="B89B5E"/>
                </a:solidFill>
                <a:latin typeface="Arial"/>
                <a:ea typeface="Arial"/>
                <a:cs typeface="Arial"/>
              </a:defRPr>
            </a:pPr>
            <a:r>
              <a:rPr sz="1800" b="1">
                <a:solidFill>
                  <a:srgbClr val="B89B5E"/>
                </a:solidFill>
                <a:latin typeface="Arial"/>
                <a:ea typeface="Arial"/>
                <a:cs typeface="Arial"/>
              </a:rPr>
              <a:t>FICTIONAL STORY SEQUENCE</a:t>
            </a:r>
          </a:p>
        </p:txBody>
      </p:sp>
      <p:sp>
        <p:nvSpPr>
          <p:cNvPr id="4" name="rule">
            <a:extLst xmlns:a="http://schemas.openxmlformats.org/drawingml/2006/main">
              <a:ext uri="{FF2B5EF4-FFF2-40B4-BE49-F238E27FC236}">
                <a16:creationId xmlns:a16="http://schemas.microsoft.com/office/drawing/2014/main" id="{A42A51DD-6C3D-46DE-BEC4-7360EA45CBE7}"/>
              </a:ext>
            </a:extLst>
          </p:cNvPr>
          <p:cNvSpPr>
            <a:spLocks xmlns:a="http://schemas.openxmlformats.org/drawingml/2006/main" noGrp="1"/>
          </p:cNvSpPr>
          <p:nvPr/>
        </p:nvSpPr>
        <p:spPr>
          <a:xfrm xmlns:a="http://schemas.openxmlformats.org/drawingml/2006/main">
            <a:off x="3267075" y="2695575"/>
            <a:ext cx="19050" cy="2828925"/>
          </a:xfrm>
          <a:prstGeom xmlns:a="http://schemas.openxmlformats.org/drawingml/2006/main" prst="rect">
            <a:avLst/>
          </a:prstGeom>
          <a:solidFill xmlns:a="http://schemas.openxmlformats.org/drawingml/2006/main">
            <a:srgbClr val="B89B5E"/>
          </a:solidFill>
          <a:ln xmlns:a="http://schemas.openxmlformats.org/drawingml/2006/main" w="0">
            <a:noFill/>
          </a:ln>
        </p:spPr>
      </p:sp>
      <p:sp>
        <p:nvSpPr>
          <p:cNvPr id="5" name="timeline-node">
            <a:extLst xmlns:a="http://schemas.openxmlformats.org/drawingml/2006/main">
              <a:ext uri="{FF2B5EF4-FFF2-40B4-BE49-F238E27FC236}">
                <a16:creationId xmlns:a16="http://schemas.microsoft.com/office/drawing/2014/main" id="{9F50790B-88A0-4B25-8433-4FA7E47E90E1}"/>
              </a:ext>
            </a:extLst>
          </p:cNvPr>
          <p:cNvSpPr>
            <a:spLocks xmlns:a="http://schemas.openxmlformats.org/drawingml/2006/main" noGrp="1"/>
          </p:cNvSpPr>
          <p:nvPr/>
        </p:nvSpPr>
        <p:spPr>
          <a:xfrm xmlns:a="http://schemas.openxmlformats.org/drawingml/2006/main">
            <a:off x="3209925" y="2628900"/>
            <a:ext cx="133350" cy="133350"/>
          </a:xfrm>
          <a:prstGeom xmlns:a="http://schemas.openxmlformats.org/drawingml/2006/main" prst="ellipse">
            <a:avLst/>
          </a:prstGeom>
          <a:solidFill xmlns:a="http://schemas.openxmlformats.org/drawingml/2006/main">
            <a:srgbClr val="B89B5E"/>
          </a:solidFill>
          <a:ln xmlns:a="http://schemas.openxmlformats.org/drawingml/2006/main" w="0">
            <a:noFill/>
          </a:ln>
        </p:spPr>
      </p:sp>
      <p:sp>
        <p:nvSpPr>
          <p:cNvPr id="6" name="date-0">
            <a:extLst xmlns:a="http://schemas.openxmlformats.org/drawingml/2006/main">
              <a:ext uri="{FF2B5EF4-FFF2-40B4-BE49-F238E27FC236}">
                <a16:creationId xmlns:a16="http://schemas.microsoft.com/office/drawing/2014/main" id="{1DD5045B-9671-4857-8DA8-F6AB574A615D}"/>
              </a:ext>
            </a:extLst>
          </p:cNvPr>
          <p:cNvSpPr>
            <a:spLocks xmlns:a="http://schemas.openxmlformats.org/drawingml/2006/main" noGrp="1"/>
          </p:cNvSpPr>
          <p:nvPr/>
        </p:nvSpPr>
        <p:spPr>
          <a:xfrm xmlns:a="http://schemas.openxmlformats.org/drawingml/2006/main">
            <a:off x="685800" y="2428875"/>
            <a:ext cx="21717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B89B5E"/>
                </a:solidFill>
                <a:latin typeface="Georgia"/>
                <a:ea typeface="Georgia"/>
                <a:cs typeface="Georgia"/>
              </a:defRPr>
            </a:defPPr>
          </a:lstStyle>
          <a:p xmlns:a="http://schemas.openxmlformats.org/drawingml/2006/main">
            <a:pPr algn="l">
              <a:lnSpc>
                <a:spcPct val="112000"/>
              </a:lnSpc>
              <a:buNone/>
              <a:defRPr sz="3300" b="1">
                <a:solidFill>
                  <a:srgbClr val="B89B5E"/>
                </a:solidFill>
                <a:latin typeface="Georgia"/>
                <a:ea typeface="Georgia"/>
                <a:cs typeface="Georgia"/>
              </a:defRPr>
            </a:pPr>
            <a:r>
              <a:rPr sz="3300" b="1">
                <a:solidFill>
                  <a:srgbClr val="B89B5E"/>
                </a:solidFill>
                <a:latin typeface="Georgia"/>
                <a:ea typeface="Georgia"/>
                <a:cs typeface="Georgia"/>
              </a:rPr>
              <a:t>1946</a:t>
            </a:r>
          </a:p>
        </p:txBody>
      </p:sp>
      <p:sp>
        <p:nvSpPr>
          <p:cNvPr id="7" name="event-0">
            <a:extLst xmlns:a="http://schemas.openxmlformats.org/drawingml/2006/main">
              <a:ext uri="{FF2B5EF4-FFF2-40B4-BE49-F238E27FC236}">
                <a16:creationId xmlns:a16="http://schemas.microsoft.com/office/drawing/2014/main" id="{3A6779FB-E00E-4024-88F7-C11AC89E0C7D}"/>
              </a:ext>
            </a:extLst>
          </p:cNvPr>
          <p:cNvSpPr>
            <a:spLocks xmlns:a="http://schemas.openxmlformats.org/drawingml/2006/main" noGrp="1"/>
          </p:cNvSpPr>
          <p:nvPr/>
        </p:nvSpPr>
        <p:spPr>
          <a:xfrm xmlns:a="http://schemas.openxmlformats.org/drawingml/2006/main">
            <a:off x="3838575" y="2409825"/>
            <a:ext cx="7620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00" b="1">
                <a:solidFill>
                  <a:srgbClr val="F2E8D5"/>
                </a:solidFill>
                <a:latin typeface="Arial"/>
                <a:ea typeface="Arial"/>
                <a:cs typeface="Arial"/>
              </a:defRPr>
            </a:defPPr>
          </a:lstStyle>
          <a:p xmlns:a="http://schemas.openxmlformats.org/drawingml/2006/main">
            <a:pPr algn="l">
              <a:lnSpc>
                <a:spcPct val="112000"/>
              </a:lnSpc>
              <a:buNone/>
              <a:defRPr sz="2500" b="1">
                <a:solidFill>
                  <a:srgbClr val="F2E8D5"/>
                </a:solidFill>
                <a:latin typeface="Arial"/>
                <a:ea typeface="Arial"/>
                <a:cs typeface="Arial"/>
              </a:defRPr>
            </a:pPr>
            <a:r>
              <a:rPr sz="2500" b="1">
                <a:solidFill>
                  <a:srgbClr val="F2E8D5"/>
                </a:solidFill>
                <a:latin typeface="Arial"/>
                <a:ea typeface="Arial"/>
                <a:cs typeface="Arial"/>
              </a:rPr>
              <a:t>A letter is written</a:t>
            </a:r>
          </a:p>
        </p:txBody>
      </p:sp>
      <p:sp>
        <p:nvSpPr>
          <p:cNvPr id="8" name="detail-0">
            <a:extLst xmlns:a="http://schemas.openxmlformats.org/drawingml/2006/main">
              <a:ext uri="{FF2B5EF4-FFF2-40B4-BE49-F238E27FC236}">
                <a16:creationId xmlns:a16="http://schemas.microsoft.com/office/drawing/2014/main" id="{591254E7-E262-4F4F-8487-BAA36916C593}"/>
              </a:ext>
            </a:extLst>
          </p:cNvPr>
          <p:cNvSpPr>
            <a:spLocks xmlns:a="http://schemas.openxmlformats.org/drawingml/2006/main" noGrp="1"/>
          </p:cNvSpPr>
          <p:nvPr/>
        </p:nvSpPr>
        <p:spPr>
          <a:xfrm xmlns:a="http://schemas.openxmlformats.org/drawingml/2006/main">
            <a:off x="3838575" y="2838450"/>
            <a:ext cx="76200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F2E8D5"/>
                </a:solidFill>
                <a:latin typeface="Arial"/>
                <a:ea typeface="Arial"/>
                <a:cs typeface="Arial"/>
              </a:defRPr>
            </a:defPPr>
          </a:lstStyle>
          <a:p xmlns:a="http://schemas.openxmlformats.org/drawingml/2006/main">
            <a:pPr algn="l">
              <a:lnSpc>
                <a:spcPct val="112000"/>
              </a:lnSpc>
              <a:buNone/>
              <a:defRPr sz="2400" b="0">
                <a:solidFill>
                  <a:srgbClr val="F2E8D5"/>
                </a:solidFill>
                <a:latin typeface="Arial"/>
                <a:ea typeface="Arial"/>
                <a:cs typeface="Arial"/>
              </a:defRPr>
            </a:pPr>
            <a:r>
              <a:rPr sz="2400" b="0">
                <a:solidFill>
                  <a:srgbClr val="F2E8D5"/>
                </a:solidFill>
                <a:latin typeface="Arial"/>
                <a:ea typeface="Arial"/>
                <a:cs typeface="Arial"/>
              </a:rPr>
              <a:t>A sister describes the home she has left.</a:t>
            </a:r>
          </a:p>
        </p:txBody>
      </p:sp>
      <p:sp>
        <p:nvSpPr>
          <p:cNvPr id="9" name="timeline-node">
            <a:extLst xmlns:a="http://schemas.openxmlformats.org/drawingml/2006/main">
              <a:ext uri="{FF2B5EF4-FFF2-40B4-BE49-F238E27FC236}">
                <a16:creationId xmlns:a16="http://schemas.microsoft.com/office/drawing/2014/main" id="{CD1D1300-6FD3-40EB-9DB4-70B0A7AD16B5}"/>
              </a:ext>
            </a:extLst>
          </p:cNvPr>
          <p:cNvSpPr>
            <a:spLocks xmlns:a="http://schemas.openxmlformats.org/drawingml/2006/main" noGrp="1"/>
          </p:cNvSpPr>
          <p:nvPr/>
        </p:nvSpPr>
        <p:spPr>
          <a:xfrm xmlns:a="http://schemas.openxmlformats.org/drawingml/2006/main">
            <a:off x="3209925" y="3571875"/>
            <a:ext cx="133350" cy="133350"/>
          </a:xfrm>
          <a:prstGeom xmlns:a="http://schemas.openxmlformats.org/drawingml/2006/main" prst="ellipse">
            <a:avLst/>
          </a:prstGeom>
          <a:solidFill xmlns:a="http://schemas.openxmlformats.org/drawingml/2006/main">
            <a:srgbClr val="B89B5E"/>
          </a:solidFill>
          <a:ln xmlns:a="http://schemas.openxmlformats.org/drawingml/2006/main" w="0">
            <a:noFill/>
          </a:ln>
        </p:spPr>
      </p:sp>
      <p:sp>
        <p:nvSpPr>
          <p:cNvPr id="10" name="date-1">
            <a:extLst xmlns:a="http://schemas.openxmlformats.org/drawingml/2006/main">
              <a:ext uri="{FF2B5EF4-FFF2-40B4-BE49-F238E27FC236}">
                <a16:creationId xmlns:a16="http://schemas.microsoft.com/office/drawing/2014/main" id="{FD7D2CB1-0124-4102-9687-5AC51B15DF54}"/>
              </a:ext>
            </a:extLst>
          </p:cNvPr>
          <p:cNvSpPr>
            <a:spLocks xmlns:a="http://schemas.openxmlformats.org/drawingml/2006/main" noGrp="1"/>
          </p:cNvSpPr>
          <p:nvPr/>
        </p:nvSpPr>
        <p:spPr>
          <a:xfrm xmlns:a="http://schemas.openxmlformats.org/drawingml/2006/main">
            <a:off x="685800" y="3371850"/>
            <a:ext cx="21717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B89B5E"/>
                </a:solidFill>
                <a:latin typeface="Georgia"/>
                <a:ea typeface="Georgia"/>
                <a:cs typeface="Georgia"/>
              </a:defRPr>
            </a:defPPr>
          </a:lstStyle>
          <a:p xmlns:a="http://schemas.openxmlformats.org/drawingml/2006/main">
            <a:pPr algn="l">
              <a:lnSpc>
                <a:spcPct val="112000"/>
              </a:lnSpc>
              <a:buNone/>
              <a:defRPr sz="3300" b="1">
                <a:solidFill>
                  <a:srgbClr val="B89B5E"/>
                </a:solidFill>
                <a:latin typeface="Georgia"/>
                <a:ea typeface="Georgia"/>
                <a:cs typeface="Georgia"/>
              </a:defRPr>
            </a:pPr>
            <a:r>
              <a:rPr sz="3300" b="1">
                <a:solidFill>
                  <a:srgbClr val="B89B5E"/>
                </a:solidFill>
                <a:latin typeface="Georgia"/>
                <a:ea typeface="Georgia"/>
                <a:cs typeface="Georgia"/>
              </a:rPr>
              <a:t>1978</a:t>
            </a:r>
          </a:p>
        </p:txBody>
      </p:sp>
      <p:sp>
        <p:nvSpPr>
          <p:cNvPr id="11" name="event-1">
            <a:extLst xmlns:a="http://schemas.openxmlformats.org/drawingml/2006/main">
              <a:ext uri="{FF2B5EF4-FFF2-40B4-BE49-F238E27FC236}">
                <a16:creationId xmlns:a16="http://schemas.microsoft.com/office/drawing/2014/main" id="{E1B4CB78-FFBD-4F99-8A46-99E5D291EFFD}"/>
              </a:ext>
            </a:extLst>
          </p:cNvPr>
          <p:cNvSpPr>
            <a:spLocks xmlns:a="http://schemas.openxmlformats.org/drawingml/2006/main" noGrp="1"/>
          </p:cNvSpPr>
          <p:nvPr/>
        </p:nvSpPr>
        <p:spPr>
          <a:xfrm xmlns:a="http://schemas.openxmlformats.org/drawingml/2006/main">
            <a:off x="3838575" y="3352800"/>
            <a:ext cx="7620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00" b="1">
                <a:solidFill>
                  <a:srgbClr val="F2E8D5"/>
                </a:solidFill>
                <a:latin typeface="Arial"/>
                <a:ea typeface="Arial"/>
                <a:cs typeface="Arial"/>
              </a:defRPr>
            </a:defPPr>
          </a:lstStyle>
          <a:p xmlns:a="http://schemas.openxmlformats.org/drawingml/2006/main">
            <a:pPr algn="l">
              <a:lnSpc>
                <a:spcPct val="112000"/>
              </a:lnSpc>
              <a:buNone/>
              <a:defRPr sz="2500" b="1">
                <a:solidFill>
                  <a:srgbClr val="F2E8D5"/>
                </a:solidFill>
                <a:latin typeface="Arial"/>
                <a:ea typeface="Arial"/>
                <a:cs typeface="Arial"/>
              </a:defRPr>
            </a:pPr>
            <a:r>
              <a:rPr sz="2500" b="1">
                <a:solidFill>
                  <a:srgbClr val="F2E8D5"/>
                </a:solidFill>
                <a:latin typeface="Arial"/>
                <a:ea typeface="Arial"/>
                <a:cs typeface="Arial"/>
              </a:rPr>
              <a:t>The letter is found</a:t>
            </a:r>
          </a:p>
        </p:txBody>
      </p:sp>
      <p:sp>
        <p:nvSpPr>
          <p:cNvPr id="12" name="detail-1">
            <a:extLst xmlns:a="http://schemas.openxmlformats.org/drawingml/2006/main">
              <a:ext uri="{FF2B5EF4-FFF2-40B4-BE49-F238E27FC236}">
                <a16:creationId xmlns:a16="http://schemas.microsoft.com/office/drawing/2014/main" id="{0E73F17A-3E6E-4DB5-B9C1-D1EB5C56416F}"/>
              </a:ext>
            </a:extLst>
          </p:cNvPr>
          <p:cNvSpPr>
            <a:spLocks xmlns:a="http://schemas.openxmlformats.org/drawingml/2006/main" noGrp="1"/>
          </p:cNvSpPr>
          <p:nvPr/>
        </p:nvSpPr>
        <p:spPr>
          <a:xfrm xmlns:a="http://schemas.openxmlformats.org/drawingml/2006/main">
            <a:off x="3838575" y="3781425"/>
            <a:ext cx="76200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F2E8D5"/>
                </a:solidFill>
                <a:latin typeface="Arial"/>
                <a:ea typeface="Arial"/>
                <a:cs typeface="Arial"/>
              </a:defRPr>
            </a:defPPr>
          </a:lstStyle>
          <a:p xmlns:a="http://schemas.openxmlformats.org/drawingml/2006/main">
            <a:pPr algn="l">
              <a:lnSpc>
                <a:spcPct val="112000"/>
              </a:lnSpc>
              <a:buNone/>
              <a:defRPr sz="2400" b="0">
                <a:solidFill>
                  <a:srgbClr val="F2E8D5"/>
                </a:solidFill>
                <a:latin typeface="Arial"/>
                <a:ea typeface="Arial"/>
                <a:cs typeface="Arial"/>
              </a:defRPr>
            </a:pPr>
            <a:r>
              <a:rPr sz="2400" b="0">
                <a:solidFill>
                  <a:srgbClr val="F2E8D5"/>
                </a:solidFill>
                <a:latin typeface="Arial"/>
                <a:ea typeface="Arial"/>
                <a:cs typeface="Arial"/>
              </a:rPr>
              <a:t>Her daughter discovers it inside a cookbook.</a:t>
            </a:r>
          </a:p>
        </p:txBody>
      </p:sp>
      <p:sp>
        <p:nvSpPr>
          <p:cNvPr id="13" name="timeline-node">
            <a:extLst xmlns:a="http://schemas.openxmlformats.org/drawingml/2006/main">
              <a:ext uri="{FF2B5EF4-FFF2-40B4-BE49-F238E27FC236}">
                <a16:creationId xmlns:a16="http://schemas.microsoft.com/office/drawing/2014/main" id="{1AA213C7-2F57-4F71-90D7-41AA0567C032}"/>
              </a:ext>
            </a:extLst>
          </p:cNvPr>
          <p:cNvSpPr>
            <a:spLocks xmlns:a="http://schemas.openxmlformats.org/drawingml/2006/main" noGrp="1"/>
          </p:cNvSpPr>
          <p:nvPr/>
        </p:nvSpPr>
        <p:spPr>
          <a:xfrm xmlns:a="http://schemas.openxmlformats.org/drawingml/2006/main">
            <a:off x="3209925" y="4514850"/>
            <a:ext cx="133350" cy="133350"/>
          </a:xfrm>
          <a:prstGeom xmlns:a="http://schemas.openxmlformats.org/drawingml/2006/main" prst="ellipse">
            <a:avLst/>
          </a:prstGeom>
          <a:solidFill xmlns:a="http://schemas.openxmlformats.org/drawingml/2006/main">
            <a:srgbClr val="B89B5E"/>
          </a:solidFill>
          <a:ln xmlns:a="http://schemas.openxmlformats.org/drawingml/2006/main" w="0">
            <a:noFill/>
          </a:ln>
        </p:spPr>
      </p:sp>
      <p:sp>
        <p:nvSpPr>
          <p:cNvPr id="14" name="date-2">
            <a:extLst xmlns:a="http://schemas.openxmlformats.org/drawingml/2006/main">
              <a:ext uri="{FF2B5EF4-FFF2-40B4-BE49-F238E27FC236}">
                <a16:creationId xmlns:a16="http://schemas.microsoft.com/office/drawing/2014/main" id="{332D8EE8-A989-4707-BAE7-A1C4019F369E}"/>
              </a:ext>
            </a:extLst>
          </p:cNvPr>
          <p:cNvSpPr>
            <a:spLocks xmlns:a="http://schemas.openxmlformats.org/drawingml/2006/main" noGrp="1"/>
          </p:cNvSpPr>
          <p:nvPr/>
        </p:nvSpPr>
        <p:spPr>
          <a:xfrm xmlns:a="http://schemas.openxmlformats.org/drawingml/2006/main">
            <a:off x="685800" y="4314825"/>
            <a:ext cx="21717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B89B5E"/>
                </a:solidFill>
                <a:latin typeface="Georgia"/>
                <a:ea typeface="Georgia"/>
                <a:cs typeface="Georgia"/>
              </a:defRPr>
            </a:defPPr>
          </a:lstStyle>
          <a:p xmlns:a="http://schemas.openxmlformats.org/drawingml/2006/main">
            <a:pPr algn="l">
              <a:lnSpc>
                <a:spcPct val="112000"/>
              </a:lnSpc>
              <a:buNone/>
              <a:defRPr sz="3300" b="1">
                <a:solidFill>
                  <a:srgbClr val="B89B5E"/>
                </a:solidFill>
                <a:latin typeface="Georgia"/>
                <a:ea typeface="Georgia"/>
                <a:cs typeface="Georgia"/>
              </a:defRPr>
            </a:pPr>
            <a:r>
              <a:rPr sz="3300" b="1">
                <a:solidFill>
                  <a:srgbClr val="B89B5E"/>
                </a:solidFill>
                <a:latin typeface="Georgia"/>
                <a:ea typeface="Georgia"/>
                <a:cs typeface="Georgia"/>
              </a:rPr>
              <a:t>2004</a:t>
            </a:r>
          </a:p>
        </p:txBody>
      </p:sp>
      <p:sp>
        <p:nvSpPr>
          <p:cNvPr id="15" name="event-2">
            <a:extLst xmlns:a="http://schemas.openxmlformats.org/drawingml/2006/main">
              <a:ext uri="{FF2B5EF4-FFF2-40B4-BE49-F238E27FC236}">
                <a16:creationId xmlns:a16="http://schemas.microsoft.com/office/drawing/2014/main" id="{B798B873-660D-468C-8E94-CC253F6CCE5A}"/>
              </a:ext>
            </a:extLst>
          </p:cNvPr>
          <p:cNvSpPr>
            <a:spLocks xmlns:a="http://schemas.openxmlformats.org/drawingml/2006/main" noGrp="1"/>
          </p:cNvSpPr>
          <p:nvPr/>
        </p:nvSpPr>
        <p:spPr>
          <a:xfrm xmlns:a="http://schemas.openxmlformats.org/drawingml/2006/main">
            <a:off x="3838575" y="4295775"/>
            <a:ext cx="7620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00" b="1">
                <a:solidFill>
                  <a:srgbClr val="F2E8D5"/>
                </a:solidFill>
                <a:latin typeface="Arial"/>
                <a:ea typeface="Arial"/>
                <a:cs typeface="Arial"/>
              </a:defRPr>
            </a:defPPr>
          </a:lstStyle>
          <a:p xmlns:a="http://schemas.openxmlformats.org/drawingml/2006/main">
            <a:pPr algn="l">
              <a:lnSpc>
                <a:spcPct val="112000"/>
              </a:lnSpc>
              <a:buNone/>
              <a:defRPr sz="2500" b="1">
                <a:solidFill>
                  <a:srgbClr val="F2E8D5"/>
                </a:solidFill>
                <a:latin typeface="Arial"/>
                <a:ea typeface="Arial"/>
                <a:cs typeface="Arial"/>
              </a:defRPr>
            </a:pPr>
            <a:r>
              <a:rPr sz="2500" b="1">
                <a:solidFill>
                  <a:srgbClr val="F2E8D5"/>
                </a:solidFill>
                <a:latin typeface="Arial"/>
                <a:ea typeface="Arial"/>
                <a:cs typeface="Arial"/>
              </a:rPr>
              <a:t>The letter is translated</a:t>
            </a:r>
          </a:p>
        </p:txBody>
      </p:sp>
      <p:sp>
        <p:nvSpPr>
          <p:cNvPr id="16" name="detail-2">
            <a:extLst xmlns:a="http://schemas.openxmlformats.org/drawingml/2006/main">
              <a:ext uri="{FF2B5EF4-FFF2-40B4-BE49-F238E27FC236}">
                <a16:creationId xmlns:a16="http://schemas.microsoft.com/office/drawing/2014/main" id="{58779A5E-30D1-4A85-A027-F7CA57406591}"/>
              </a:ext>
            </a:extLst>
          </p:cNvPr>
          <p:cNvSpPr>
            <a:spLocks xmlns:a="http://schemas.openxmlformats.org/drawingml/2006/main" noGrp="1"/>
          </p:cNvSpPr>
          <p:nvPr/>
        </p:nvSpPr>
        <p:spPr>
          <a:xfrm xmlns:a="http://schemas.openxmlformats.org/drawingml/2006/main">
            <a:off x="3838575" y="4724400"/>
            <a:ext cx="76200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F2E8D5"/>
                </a:solidFill>
                <a:latin typeface="Arial"/>
                <a:ea typeface="Arial"/>
                <a:cs typeface="Arial"/>
              </a:defRPr>
            </a:defPPr>
          </a:lstStyle>
          <a:p xmlns:a="http://schemas.openxmlformats.org/drawingml/2006/main">
            <a:pPr algn="l">
              <a:lnSpc>
                <a:spcPct val="112000"/>
              </a:lnSpc>
              <a:buNone/>
              <a:defRPr sz="2400" b="0">
                <a:solidFill>
                  <a:srgbClr val="F2E8D5"/>
                </a:solidFill>
                <a:latin typeface="Arial"/>
                <a:ea typeface="Arial"/>
                <a:cs typeface="Arial"/>
              </a:defRPr>
            </a:pPr>
            <a:r>
              <a:rPr sz="2400" b="0">
                <a:solidFill>
                  <a:srgbClr val="F2E8D5"/>
                </a:solidFill>
                <a:latin typeface="Arial"/>
                <a:ea typeface="Arial"/>
                <a:cs typeface="Arial"/>
              </a:rPr>
              <a:t>A grandson adds notes in another language.</a:t>
            </a:r>
          </a:p>
        </p:txBody>
      </p:sp>
      <p:sp>
        <p:nvSpPr>
          <p:cNvPr id="17" name="timeline-node">
            <a:extLst xmlns:a="http://schemas.openxmlformats.org/drawingml/2006/main">
              <a:ext uri="{FF2B5EF4-FFF2-40B4-BE49-F238E27FC236}">
                <a16:creationId xmlns:a16="http://schemas.microsoft.com/office/drawing/2014/main" id="{AF6A715E-2FCA-4953-A70E-8B8951B06844}"/>
              </a:ext>
            </a:extLst>
          </p:cNvPr>
          <p:cNvSpPr>
            <a:spLocks xmlns:a="http://schemas.openxmlformats.org/drawingml/2006/main" noGrp="1"/>
          </p:cNvSpPr>
          <p:nvPr/>
        </p:nvSpPr>
        <p:spPr>
          <a:xfrm xmlns:a="http://schemas.openxmlformats.org/drawingml/2006/main">
            <a:off x="3209925" y="5457825"/>
            <a:ext cx="133350" cy="133350"/>
          </a:xfrm>
          <a:prstGeom xmlns:a="http://schemas.openxmlformats.org/drawingml/2006/main" prst="ellipse">
            <a:avLst/>
          </a:prstGeom>
          <a:solidFill xmlns:a="http://schemas.openxmlformats.org/drawingml/2006/main">
            <a:srgbClr val="B89B5E"/>
          </a:solidFill>
          <a:ln xmlns:a="http://schemas.openxmlformats.org/drawingml/2006/main" w="0">
            <a:noFill/>
          </a:ln>
        </p:spPr>
      </p:sp>
      <p:sp>
        <p:nvSpPr>
          <p:cNvPr id="18" name="date-3">
            <a:extLst xmlns:a="http://schemas.openxmlformats.org/drawingml/2006/main">
              <a:ext uri="{FF2B5EF4-FFF2-40B4-BE49-F238E27FC236}">
                <a16:creationId xmlns:a16="http://schemas.microsoft.com/office/drawing/2014/main" id="{116F857D-06D4-4DF2-8BA1-3E226CC8F1CB}"/>
              </a:ext>
            </a:extLst>
          </p:cNvPr>
          <p:cNvSpPr>
            <a:spLocks xmlns:a="http://schemas.openxmlformats.org/drawingml/2006/main" noGrp="1"/>
          </p:cNvSpPr>
          <p:nvPr/>
        </p:nvSpPr>
        <p:spPr>
          <a:xfrm xmlns:a="http://schemas.openxmlformats.org/drawingml/2006/main">
            <a:off x="685800" y="5257800"/>
            <a:ext cx="21717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B89B5E"/>
                </a:solidFill>
                <a:latin typeface="Georgia"/>
                <a:ea typeface="Georgia"/>
                <a:cs typeface="Georgia"/>
              </a:defRPr>
            </a:defPPr>
          </a:lstStyle>
          <a:p xmlns:a="http://schemas.openxmlformats.org/drawingml/2006/main">
            <a:pPr algn="l">
              <a:lnSpc>
                <a:spcPct val="112000"/>
              </a:lnSpc>
              <a:buNone/>
              <a:defRPr sz="3300" b="1">
                <a:solidFill>
                  <a:srgbClr val="B89B5E"/>
                </a:solidFill>
                <a:latin typeface="Georgia"/>
                <a:ea typeface="Georgia"/>
                <a:cs typeface="Georgia"/>
              </a:defRPr>
            </a:pPr>
            <a:r>
              <a:rPr sz="3300" b="1">
                <a:solidFill>
                  <a:srgbClr val="B89B5E"/>
                </a:solidFill>
                <a:latin typeface="Georgia"/>
                <a:ea typeface="Georgia"/>
                <a:cs typeface="Georgia"/>
              </a:rPr>
              <a:t>2026</a:t>
            </a:r>
          </a:p>
        </p:txBody>
      </p:sp>
      <p:sp>
        <p:nvSpPr>
          <p:cNvPr id="19" name="event-3">
            <a:extLst xmlns:a="http://schemas.openxmlformats.org/drawingml/2006/main">
              <a:ext uri="{FF2B5EF4-FFF2-40B4-BE49-F238E27FC236}">
                <a16:creationId xmlns:a16="http://schemas.microsoft.com/office/drawing/2014/main" id="{02406E40-727A-42C5-A3F4-7CA8CFCED242}"/>
              </a:ext>
            </a:extLst>
          </p:cNvPr>
          <p:cNvSpPr>
            <a:spLocks xmlns:a="http://schemas.openxmlformats.org/drawingml/2006/main" noGrp="1"/>
          </p:cNvSpPr>
          <p:nvPr/>
        </p:nvSpPr>
        <p:spPr>
          <a:xfrm xmlns:a="http://schemas.openxmlformats.org/drawingml/2006/main">
            <a:off x="3838575" y="5238750"/>
            <a:ext cx="7620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00" b="1">
                <a:solidFill>
                  <a:srgbClr val="F2E8D5"/>
                </a:solidFill>
                <a:latin typeface="Arial"/>
                <a:ea typeface="Arial"/>
                <a:cs typeface="Arial"/>
              </a:defRPr>
            </a:defPPr>
          </a:lstStyle>
          <a:p xmlns:a="http://schemas.openxmlformats.org/drawingml/2006/main">
            <a:pPr algn="l">
              <a:lnSpc>
                <a:spcPct val="112000"/>
              </a:lnSpc>
              <a:buNone/>
              <a:defRPr sz="2500" b="1">
                <a:solidFill>
                  <a:srgbClr val="F2E8D5"/>
                </a:solidFill>
                <a:latin typeface="Arial"/>
                <a:ea typeface="Arial"/>
                <a:cs typeface="Arial"/>
              </a:defRPr>
            </a:pPr>
            <a:r>
              <a:rPr sz="2500" b="1">
                <a:solidFill>
                  <a:srgbClr val="F2E8D5"/>
                </a:solidFill>
                <a:latin typeface="Arial"/>
                <a:ea typeface="Arial"/>
                <a:cs typeface="Arial"/>
              </a:rPr>
              <a:t>The letter is read aloud</a:t>
            </a:r>
          </a:p>
        </p:txBody>
      </p:sp>
      <p:sp>
        <p:nvSpPr>
          <p:cNvPr id="20" name="detail-3">
            <a:extLst xmlns:a="http://schemas.openxmlformats.org/drawingml/2006/main">
              <a:ext uri="{FF2B5EF4-FFF2-40B4-BE49-F238E27FC236}">
                <a16:creationId xmlns:a16="http://schemas.microsoft.com/office/drawing/2014/main" id="{B6052D0D-FB38-4A58-ACED-ADB8A2DAEADC}"/>
              </a:ext>
            </a:extLst>
          </p:cNvPr>
          <p:cNvSpPr>
            <a:spLocks xmlns:a="http://schemas.openxmlformats.org/drawingml/2006/main" noGrp="1"/>
          </p:cNvSpPr>
          <p:nvPr/>
        </p:nvSpPr>
        <p:spPr>
          <a:xfrm xmlns:a="http://schemas.openxmlformats.org/drawingml/2006/main">
            <a:off x="3838575" y="5667375"/>
            <a:ext cx="76200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F2E8D5"/>
                </a:solidFill>
                <a:latin typeface="Arial"/>
                <a:ea typeface="Arial"/>
                <a:cs typeface="Arial"/>
              </a:defRPr>
            </a:defPPr>
          </a:lstStyle>
          <a:p xmlns:a="http://schemas.openxmlformats.org/drawingml/2006/main">
            <a:pPr algn="l">
              <a:lnSpc>
                <a:spcPct val="112000"/>
              </a:lnSpc>
              <a:buNone/>
              <a:defRPr sz="2400" b="0">
                <a:solidFill>
                  <a:srgbClr val="F2E8D5"/>
                </a:solidFill>
                <a:latin typeface="Arial"/>
                <a:ea typeface="Arial"/>
                <a:cs typeface="Arial"/>
              </a:defRPr>
            </a:pPr>
            <a:r>
              <a:rPr sz="2400" b="0">
                <a:solidFill>
                  <a:srgbClr val="F2E8D5"/>
                </a:solidFill>
                <a:latin typeface="Arial"/>
                <a:ea typeface="Arial"/>
                <a:cs typeface="Arial"/>
              </a:rPr>
              <a:t>A family hears the same words together.</a:t>
            </a:r>
          </a:p>
        </p:txBody>
      </p:sp>
      <p:sp>
        <p:nvSpPr>
          <p:cNvPr id="21" name="template-capacity-guide">
            <a:extLst xmlns:a="http://schemas.openxmlformats.org/drawingml/2006/main">
              <a:ext uri="{FF2B5EF4-FFF2-40B4-BE49-F238E27FC236}">
                <a16:creationId xmlns:a16="http://schemas.microsoft.com/office/drawing/2014/main" id="{87A4A815-77FB-4CEB-84CB-0648708A849C}"/>
              </a:ext>
            </a:extLst>
          </p:cNvPr>
          <p:cNvSpPr>
            <a:spLocks xmlns:a="http://schemas.openxmlformats.org/drawingml/2006/main" noGrp="1"/>
          </p:cNvSpPr>
          <p:nvPr/>
        </p:nvSpPr>
        <p:spPr>
          <a:xfrm xmlns:a="http://schemas.openxmlformats.org/drawingml/2006/main">
            <a:off x="685800" y="6343650"/>
            <a:ext cx="108204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00" b="0">
                <a:solidFill>
                  <a:srgbClr val="B89B5E"/>
                </a:solidFill>
                <a:latin typeface="Arial"/>
                <a:ea typeface="Arial"/>
                <a:cs typeface="Arial"/>
              </a:defRPr>
            </a:defPPr>
          </a:lstStyle>
          <a:p xmlns:a="http://schemas.openxmlformats.org/drawingml/2006/main">
            <a:pPr algn="l">
              <a:lnSpc>
                <a:spcPct val="112000"/>
              </a:lnSpc>
              <a:buNone/>
              <a:defRPr sz="1600" b="0">
                <a:solidFill>
                  <a:srgbClr val="B89B5E"/>
                </a:solidFill>
                <a:latin typeface="Arial"/>
                <a:ea typeface="Arial"/>
                <a:cs typeface="Arial"/>
              </a:defRPr>
            </a:pPr>
            <a:r>
              <a:rPr sz="1600" b="0">
                <a:solidFill>
                  <a:srgbClr val="B89B5E"/>
                </a:solidFill>
                <a:latin typeface="Arial"/>
                <a:ea typeface="Arial"/>
                <a:cs typeface="Arial"/>
              </a:rPr>
              <a:t>Example: four dates with a short event and one sentence each</a:t>
            </a:r>
          </a:p>
        </p:txBody>
      </p:sp>
    </p:spTree>
    <p:extLst>
      <p:ext uri="{BB962C8B-B14F-4D97-AF65-F5344CB8AC3E}">
        <p14:creationId xmlns:p14="http://schemas.microsoft.com/office/powerpoint/2010/main" val="771471582"/>
      </p:ext>
    </p:extLst>
  </p:cSld>
</p:sld>
</file>

<file path=ppt/slides/slide15.xml><?xml version="1.0" encoding="utf-8"?>
<p:sld xmlns:p="http://schemas.openxmlformats.org/presentationml/2006/main">
  <p:cSld>
    <p:bg>
      <p:bgPr>
        <a:solidFill xmlns:a="http://schemas.openxmlformats.org/drawingml/2006/main">
          <a:srgbClr val="E9D8B6"/>
        </a:solidFill>
      </p:bgPr>
    </p:bg>
    <p:spTree>
      <p:nvGrpSpPr>
        <p:cNvPr id="1" name=""/>
        <p:cNvGrpSpPr/>
        <p:nvPr/>
      </p:nvGrpSpPr>
      <p:grpSpPr>
        <a:xfrm xmlns:a="http://schemas.openxmlformats.org/drawingml/2006/main"/>
      </p:grpSpPr>
      <p:sp>
        <p:nvSpPr>
          <p:cNvPr id="12" name="template-label">
            <a:extLst xmlns:a="http://schemas.openxmlformats.org/drawingml/2006/main">
              <a:ext uri="{FF2B5EF4-FFF2-40B4-BE49-F238E27FC236}">
                <a16:creationId xmlns:a16="http://schemas.microsoft.com/office/drawing/2014/main" id="{620EC91E-6504-43AC-871C-93169A48CEBA}"/>
              </a:ext>
            </a:extLst>
          </p:cNvPr>
          <p:cNvSpPr>
            <a:spLocks xmlns:a="http://schemas.openxmlformats.org/drawingml/2006/main" noGrp="1"/>
          </p:cNvSpPr>
          <p:nvPr/>
        </p:nvSpPr>
        <p:spPr>
          <a:xfrm xmlns:a="http://schemas.openxmlformats.org/drawingml/2006/main">
            <a:off x="685800" y="285750"/>
            <a:ext cx="10820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00" b="1">
                <a:solidFill>
                  <a:srgbClr val="5C2230"/>
                </a:solidFill>
                <a:latin typeface="Arial"/>
                <a:ea typeface="Arial"/>
                <a:cs typeface="Arial"/>
              </a:defRPr>
            </a:defPPr>
          </a:lstStyle>
          <a:p xmlns:a="http://schemas.openxmlformats.org/drawingml/2006/main">
            <a:pPr algn="l">
              <a:lnSpc>
                <a:spcPct val="112000"/>
              </a:lnSpc>
              <a:buNone/>
              <a:defRPr sz="1700" b="1">
                <a:solidFill>
                  <a:srgbClr val="5C2230"/>
                </a:solidFill>
                <a:latin typeface="Arial"/>
                <a:ea typeface="Arial"/>
                <a:cs typeface="Arial"/>
              </a:defRPr>
            </a:pPr>
            <a:r>
              <a:rPr sz="1700" b="1">
                <a:solidFill>
                  <a:srgbClr val="5C2230"/>
                </a:solidFill>
                <a:latin typeface="Arial"/>
                <a:ea typeface="Arial"/>
                <a:cs typeface="Arial"/>
              </a:rPr>
              <a:t>15  MODEL AND PRACTICE / WORKED REVISION</a:t>
            </a:r>
          </a:p>
        </p:txBody>
      </p:sp>
      <p:sp>
        <p:nvSpPr>
          <p:cNvPr id="2" name="heading">
            <a:extLst xmlns:a="http://schemas.openxmlformats.org/drawingml/2006/main">
              <a:ext uri="{FF2B5EF4-FFF2-40B4-BE49-F238E27FC236}">
                <a16:creationId xmlns:a16="http://schemas.microsoft.com/office/drawing/2014/main" id="{61B07D98-E0AA-43FA-8486-8407919FC338}"/>
              </a:ext>
            </a:extLst>
          </p:cNvPr>
          <p:cNvSpPr>
            <a:spLocks xmlns:a="http://schemas.openxmlformats.org/drawingml/2006/main" noGrp="1"/>
          </p:cNvSpPr>
          <p:nvPr/>
        </p:nvSpPr>
        <p:spPr>
          <a:xfrm xmlns:a="http://schemas.openxmlformats.org/drawingml/2006/main">
            <a:off x="685800" y="83820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800" b="1">
                <a:solidFill>
                  <a:srgbClr val="211B16"/>
                </a:solidFill>
                <a:latin typeface="Georgia"/>
                <a:ea typeface="Georgia"/>
                <a:cs typeface="Georgia"/>
              </a:defRPr>
            </a:defPPr>
          </a:lstStyle>
          <a:p xmlns:a="http://schemas.openxmlformats.org/drawingml/2006/main">
            <a:pPr algn="l">
              <a:lnSpc>
                <a:spcPct val="112000"/>
              </a:lnSpc>
              <a:buNone/>
              <a:defRPr sz="3800" b="1">
                <a:solidFill>
                  <a:srgbClr val="211B16"/>
                </a:solidFill>
                <a:latin typeface="Georgia"/>
                <a:ea typeface="Georgia"/>
                <a:cs typeface="Georgia"/>
              </a:defRPr>
            </a:pPr>
            <a:r>
              <a:rPr sz="3800" b="1">
                <a:solidFill>
                  <a:srgbClr val="211B16"/>
                </a:solidFill>
                <a:latin typeface="Georgia"/>
                <a:ea typeface="Georgia"/>
                <a:cs typeface="Georgia"/>
              </a:rPr>
              <a:t>A detail that suggests emotion</a:t>
            </a:r>
          </a:p>
        </p:txBody>
      </p:sp>
      <p:sp>
        <p:nvSpPr>
          <p:cNvPr id="3" name="draft-label">
            <a:extLst xmlns:a="http://schemas.openxmlformats.org/drawingml/2006/main">
              <a:ext uri="{FF2B5EF4-FFF2-40B4-BE49-F238E27FC236}">
                <a16:creationId xmlns:a16="http://schemas.microsoft.com/office/drawing/2014/main" id="{5E3CC1C7-E564-4C99-85AC-CBB2E0940769}"/>
              </a:ext>
            </a:extLst>
          </p:cNvPr>
          <p:cNvSpPr>
            <a:spLocks xmlns:a="http://schemas.openxmlformats.org/drawingml/2006/main" noGrp="1"/>
          </p:cNvSpPr>
          <p:nvPr/>
        </p:nvSpPr>
        <p:spPr>
          <a:xfrm xmlns:a="http://schemas.openxmlformats.org/drawingml/2006/main">
            <a:off x="685800" y="2057400"/>
            <a:ext cx="4714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00" b="1">
                <a:solidFill>
                  <a:srgbClr val="5C2230"/>
                </a:solidFill>
                <a:latin typeface="Arial"/>
                <a:ea typeface="Arial"/>
                <a:cs typeface="Arial"/>
              </a:defRPr>
            </a:defPPr>
          </a:lstStyle>
          <a:p xmlns:a="http://schemas.openxmlformats.org/drawingml/2006/main">
            <a:pPr algn="l">
              <a:lnSpc>
                <a:spcPct val="112000"/>
              </a:lnSpc>
              <a:buNone/>
              <a:defRPr sz="2200" b="1">
                <a:solidFill>
                  <a:srgbClr val="5C2230"/>
                </a:solidFill>
                <a:latin typeface="Arial"/>
                <a:ea typeface="Arial"/>
                <a:cs typeface="Arial"/>
              </a:defRPr>
            </a:pPr>
            <a:r>
              <a:rPr sz="2200" b="1">
                <a:solidFill>
                  <a:srgbClr val="5C2230"/>
                </a:solidFill>
                <a:latin typeface="Arial"/>
                <a:ea typeface="Arial"/>
                <a:cs typeface="Arial"/>
              </a:rPr>
              <a:t>FIRST DRAFT</a:t>
            </a:r>
          </a:p>
        </p:txBody>
      </p:sp>
      <p:sp>
        <p:nvSpPr>
          <p:cNvPr id="4" name="model-label">
            <a:extLst xmlns:a="http://schemas.openxmlformats.org/drawingml/2006/main">
              <a:ext uri="{FF2B5EF4-FFF2-40B4-BE49-F238E27FC236}">
                <a16:creationId xmlns:a16="http://schemas.microsoft.com/office/drawing/2014/main" id="{0FA1A883-521F-4E24-8C77-2D5572DA9F86}"/>
              </a:ext>
            </a:extLst>
          </p:cNvPr>
          <p:cNvSpPr>
            <a:spLocks xmlns:a="http://schemas.openxmlformats.org/drawingml/2006/main" noGrp="1"/>
          </p:cNvSpPr>
          <p:nvPr/>
        </p:nvSpPr>
        <p:spPr>
          <a:xfrm xmlns:a="http://schemas.openxmlformats.org/drawingml/2006/main">
            <a:off x="6524625" y="2057400"/>
            <a:ext cx="49815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00" b="1">
                <a:solidFill>
                  <a:srgbClr val="5C2230"/>
                </a:solidFill>
                <a:latin typeface="Arial"/>
                <a:ea typeface="Arial"/>
                <a:cs typeface="Arial"/>
              </a:defRPr>
            </a:defPPr>
          </a:lstStyle>
          <a:p xmlns:a="http://schemas.openxmlformats.org/drawingml/2006/main">
            <a:pPr algn="l">
              <a:lnSpc>
                <a:spcPct val="112000"/>
              </a:lnSpc>
              <a:buNone/>
              <a:defRPr sz="2200" b="1">
                <a:solidFill>
                  <a:srgbClr val="5C2230"/>
                </a:solidFill>
                <a:latin typeface="Arial"/>
                <a:ea typeface="Arial"/>
                <a:cs typeface="Arial"/>
              </a:defRPr>
            </a:pPr>
            <a:r>
              <a:rPr sz="2200" b="1">
                <a:solidFill>
                  <a:srgbClr val="5C2230"/>
                </a:solidFill>
                <a:latin typeface="Arial"/>
                <a:ea typeface="Arial"/>
                <a:cs typeface="Arial"/>
              </a:rPr>
              <a:t>REVISED EXAMPLE</a:t>
            </a:r>
          </a:p>
        </p:txBody>
      </p:sp>
      <p:sp>
        <p:nvSpPr>
          <p:cNvPr id="5" name="draft">
            <a:extLst xmlns:a="http://schemas.openxmlformats.org/drawingml/2006/main">
              <a:ext uri="{FF2B5EF4-FFF2-40B4-BE49-F238E27FC236}">
                <a16:creationId xmlns:a16="http://schemas.microsoft.com/office/drawing/2014/main" id="{96AEDD5F-D87A-462F-ACD4-19B99D689FC8}"/>
              </a:ext>
            </a:extLst>
          </p:cNvPr>
          <p:cNvSpPr>
            <a:spLocks xmlns:a="http://schemas.openxmlformats.org/drawingml/2006/main" noGrp="1"/>
          </p:cNvSpPr>
          <p:nvPr/>
        </p:nvSpPr>
        <p:spPr>
          <a:xfrm xmlns:a="http://schemas.openxmlformats.org/drawingml/2006/main">
            <a:off x="685800" y="2676525"/>
            <a:ext cx="4714875"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0">
                <a:solidFill>
                  <a:srgbClr val="211B16"/>
                </a:solidFill>
                <a:latin typeface="Arial"/>
                <a:ea typeface="Arial"/>
                <a:cs typeface="Arial"/>
              </a:defRPr>
            </a:defPPr>
          </a:lstStyle>
          <a:p xmlns:a="http://schemas.openxmlformats.org/drawingml/2006/main">
            <a:pPr algn="l">
              <a:lnSpc>
                <a:spcPct val="112000"/>
              </a:lnSpc>
              <a:buNone/>
              <a:defRPr sz="3000" b="0">
                <a:solidFill>
                  <a:srgbClr val="211B16"/>
                </a:solidFill>
                <a:latin typeface="Arial"/>
                <a:ea typeface="Arial"/>
                <a:cs typeface="Arial"/>
              </a:defRPr>
            </a:pPr>
            <a:r>
              <a:rPr sz="3000" b="0">
                <a:solidFill>
                  <a:srgbClr val="211B16"/>
                </a:solidFill>
                <a:latin typeface="Arial"/>
                <a:ea typeface="Arial"/>
                <a:cs typeface="Arial"/>
              </a:rPr>
              <a:t>“She was very nervous</a:t>
            </a:r>
          </a:p>
          <a:p xmlns:a="http://schemas.openxmlformats.org/drawingml/2006/main">
            <a:pPr algn="l">
              <a:lnSpc>
                <a:spcPct val="112000"/>
              </a:lnSpc>
              <a:buNone/>
              <a:defRPr sz="3000" b="0">
                <a:solidFill>
                  <a:srgbClr val="211B16"/>
                </a:solidFill>
                <a:latin typeface="Arial"/>
                <a:ea typeface="Arial"/>
                <a:cs typeface="Arial"/>
              </a:defRPr>
            </a:pPr>
            <a:r>
              <a:rPr sz="3000" b="0">
                <a:solidFill>
                  <a:srgbClr val="211B16"/>
                </a:solidFill>
                <a:latin typeface="Arial"/>
                <a:ea typeface="Arial"/>
                <a:cs typeface="Arial"/>
              </a:rPr>
              <a:t>about opening the letter.”</a:t>
            </a:r>
          </a:p>
        </p:txBody>
      </p:sp>
      <p:sp>
        <p:nvSpPr>
          <p:cNvPr id="6" name="model-response">
            <a:extLst xmlns:a="http://schemas.openxmlformats.org/drawingml/2006/main">
              <a:ext uri="{FF2B5EF4-FFF2-40B4-BE49-F238E27FC236}">
                <a16:creationId xmlns:a16="http://schemas.microsoft.com/office/drawing/2014/main" id="{FC516E46-9F40-4291-8557-BB6F851C8F87}"/>
              </a:ext>
            </a:extLst>
          </p:cNvPr>
          <p:cNvSpPr>
            <a:spLocks xmlns:a="http://schemas.openxmlformats.org/drawingml/2006/main" noGrp="1"/>
          </p:cNvSpPr>
          <p:nvPr/>
        </p:nvSpPr>
        <p:spPr>
          <a:xfrm xmlns:a="http://schemas.openxmlformats.org/drawingml/2006/main">
            <a:off x="6524625" y="2676525"/>
            <a:ext cx="4981575"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0">
                <a:solidFill>
                  <a:srgbClr val="211B16"/>
                </a:solidFill>
                <a:latin typeface="Arial"/>
                <a:ea typeface="Arial"/>
                <a:cs typeface="Arial"/>
              </a:defRPr>
            </a:defPPr>
          </a:lstStyle>
          <a:p xmlns:a="http://schemas.openxmlformats.org/drawingml/2006/main">
            <a:pPr algn="l">
              <a:lnSpc>
                <a:spcPct val="112000"/>
              </a:lnSpc>
              <a:buNone/>
              <a:defRPr sz="3000" b="0">
                <a:solidFill>
                  <a:srgbClr val="211B16"/>
                </a:solidFill>
                <a:latin typeface="Arial"/>
                <a:ea typeface="Arial"/>
                <a:cs typeface="Arial"/>
              </a:defRPr>
            </a:pPr>
            <a:r>
              <a:rPr sz="3000" b="0">
                <a:solidFill>
                  <a:srgbClr val="211B16"/>
                </a:solidFill>
                <a:latin typeface="Arial"/>
                <a:ea typeface="Arial"/>
                <a:cs typeface="Arial"/>
              </a:rPr>
              <a:t>“She slid a finger under</a:t>
            </a:r>
          </a:p>
          <a:p xmlns:a="http://schemas.openxmlformats.org/drawingml/2006/main">
            <a:pPr algn="l">
              <a:lnSpc>
                <a:spcPct val="112000"/>
              </a:lnSpc>
              <a:buNone/>
              <a:defRPr sz="3000" b="0">
                <a:solidFill>
                  <a:srgbClr val="211B16"/>
                </a:solidFill>
                <a:latin typeface="Arial"/>
                <a:ea typeface="Arial"/>
                <a:cs typeface="Arial"/>
              </a:defRPr>
            </a:pPr>
            <a:r>
              <a:rPr sz="3000" b="0">
                <a:solidFill>
                  <a:srgbClr val="211B16"/>
                </a:solidFill>
                <a:latin typeface="Arial"/>
                <a:ea typeface="Arial"/>
                <a:cs typeface="Arial"/>
              </a:rPr>
              <a:t>the seal, then stopped.”</a:t>
            </a:r>
          </a:p>
        </p:txBody>
      </p:sp>
      <p:sp>
        <p:nvSpPr>
          <p:cNvPr id="7" name="rule">
            <a:extLst xmlns:a="http://schemas.openxmlformats.org/drawingml/2006/main">
              <a:ext uri="{FF2B5EF4-FFF2-40B4-BE49-F238E27FC236}">
                <a16:creationId xmlns:a16="http://schemas.microsoft.com/office/drawing/2014/main" id="{95675F4C-42E0-45EE-A602-871B723FE6FD}"/>
              </a:ext>
            </a:extLst>
          </p:cNvPr>
          <p:cNvSpPr>
            <a:spLocks xmlns:a="http://schemas.openxmlformats.org/drawingml/2006/main" noGrp="1"/>
          </p:cNvSpPr>
          <p:nvPr/>
        </p:nvSpPr>
        <p:spPr>
          <a:xfrm xmlns:a="http://schemas.openxmlformats.org/drawingml/2006/main">
            <a:off x="6048375" y="2057400"/>
            <a:ext cx="19050" cy="2476500"/>
          </a:xfrm>
          <a:prstGeom xmlns:a="http://schemas.openxmlformats.org/drawingml/2006/main" prst="rect">
            <a:avLst/>
          </a:prstGeom>
          <a:solidFill xmlns:a="http://schemas.openxmlformats.org/drawingml/2006/main">
            <a:srgbClr val="5C2230"/>
          </a:solidFill>
          <a:ln xmlns:a="http://schemas.openxmlformats.org/drawingml/2006/main" w="0">
            <a:noFill/>
          </a:ln>
        </p:spPr>
      </p:sp>
      <p:sp>
        <p:nvSpPr>
          <p:cNvPr id="8" name="rule">
            <a:extLst xmlns:a="http://schemas.openxmlformats.org/drawingml/2006/main">
              <a:ext uri="{FF2B5EF4-FFF2-40B4-BE49-F238E27FC236}">
                <a16:creationId xmlns:a16="http://schemas.microsoft.com/office/drawing/2014/main" id="{B1BDACB5-6E50-4453-A7D6-1A4F573F11D0}"/>
              </a:ext>
            </a:extLst>
          </p:cNvPr>
          <p:cNvSpPr>
            <a:spLocks xmlns:a="http://schemas.openxmlformats.org/drawingml/2006/main" noGrp="1"/>
          </p:cNvSpPr>
          <p:nvPr/>
        </p:nvSpPr>
        <p:spPr>
          <a:xfrm xmlns:a="http://schemas.openxmlformats.org/drawingml/2006/main">
            <a:off x="685800" y="4800600"/>
            <a:ext cx="10820400" cy="19050"/>
          </a:xfrm>
          <a:prstGeom xmlns:a="http://schemas.openxmlformats.org/drawingml/2006/main" prst="rect">
            <a:avLst/>
          </a:prstGeom>
          <a:solidFill xmlns:a="http://schemas.openxmlformats.org/drawingml/2006/main">
            <a:srgbClr val="5C2230"/>
          </a:solidFill>
          <a:ln xmlns:a="http://schemas.openxmlformats.org/drawingml/2006/main" w="0">
            <a:noFill/>
          </a:ln>
        </p:spPr>
      </p:sp>
      <p:sp>
        <p:nvSpPr>
          <p:cNvPr id="9" name="reason">
            <a:extLst xmlns:a="http://schemas.openxmlformats.org/drawingml/2006/main">
              <a:ext uri="{FF2B5EF4-FFF2-40B4-BE49-F238E27FC236}">
                <a16:creationId xmlns:a16="http://schemas.microsoft.com/office/drawing/2014/main" id="{AAD2804B-7EF1-4934-8378-97712CDE1F88}"/>
              </a:ext>
            </a:extLst>
          </p:cNvPr>
          <p:cNvSpPr>
            <a:spLocks xmlns:a="http://schemas.openxmlformats.org/drawingml/2006/main" noGrp="1"/>
          </p:cNvSpPr>
          <p:nvPr/>
        </p:nvSpPr>
        <p:spPr>
          <a:xfrm xmlns:a="http://schemas.openxmlformats.org/drawingml/2006/main">
            <a:off x="685800" y="5114925"/>
            <a:ext cx="108204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00" b="1">
                <a:solidFill>
                  <a:srgbClr val="5C2230"/>
                </a:solidFill>
                <a:latin typeface="Arial"/>
                <a:ea typeface="Arial"/>
                <a:cs typeface="Arial"/>
              </a:defRPr>
            </a:defPPr>
          </a:lstStyle>
          <a:p xmlns:a="http://schemas.openxmlformats.org/drawingml/2006/main">
            <a:pPr algn="l">
              <a:lnSpc>
                <a:spcPct val="112000"/>
              </a:lnSpc>
              <a:buNone/>
              <a:defRPr sz="2800" b="1">
                <a:solidFill>
                  <a:srgbClr val="5C2230"/>
                </a:solidFill>
                <a:latin typeface="Arial"/>
                <a:ea typeface="Arial"/>
                <a:cs typeface="Arial"/>
              </a:defRPr>
            </a:pPr>
            <a:r>
              <a:rPr sz="2800" b="1">
                <a:solidFill>
                  <a:srgbClr val="5C2230"/>
                </a:solidFill>
                <a:latin typeface="Arial"/>
                <a:ea typeface="Arial"/>
                <a:cs typeface="Arial"/>
              </a:rPr>
              <a:t>The movement lets the reader infer the feeling.</a:t>
            </a:r>
          </a:p>
        </p:txBody>
      </p:sp>
      <p:sp>
        <p:nvSpPr>
          <p:cNvPr id="10" name="practice">
            <a:extLst xmlns:a="http://schemas.openxmlformats.org/drawingml/2006/main">
              <a:ext uri="{FF2B5EF4-FFF2-40B4-BE49-F238E27FC236}">
                <a16:creationId xmlns:a16="http://schemas.microsoft.com/office/drawing/2014/main" id="{A4F2152D-4772-4E13-B560-B26C4A2FFDD6}"/>
              </a:ext>
            </a:extLst>
          </p:cNvPr>
          <p:cNvSpPr>
            <a:spLocks xmlns:a="http://schemas.openxmlformats.org/drawingml/2006/main" noGrp="1"/>
          </p:cNvSpPr>
          <p:nvPr/>
        </p:nvSpPr>
        <p:spPr>
          <a:xfrm xmlns:a="http://schemas.openxmlformats.org/drawingml/2006/main">
            <a:off x="685800" y="5810250"/>
            <a:ext cx="108204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211B16"/>
                </a:solidFill>
                <a:latin typeface="Arial"/>
                <a:ea typeface="Arial"/>
                <a:cs typeface="Arial"/>
              </a:defRPr>
            </a:defPPr>
          </a:lstStyle>
          <a:p xmlns:a="http://schemas.openxmlformats.org/drawingml/2006/main">
            <a:pPr algn="l">
              <a:lnSpc>
                <a:spcPct val="112000"/>
              </a:lnSpc>
              <a:buNone/>
              <a:defRPr sz="2400" b="0">
                <a:solidFill>
                  <a:srgbClr val="211B16"/>
                </a:solidFill>
                <a:latin typeface="Arial"/>
                <a:ea typeface="Arial"/>
                <a:cs typeface="Arial"/>
              </a:defRPr>
            </a:pPr>
            <a:r>
              <a:rPr sz="2400" b="0">
                <a:solidFill>
                  <a:srgbClr val="211B16"/>
                </a:solidFill>
                <a:latin typeface="Arial"/>
                <a:ea typeface="Arial"/>
                <a:cs typeface="Arial"/>
              </a:rPr>
              <a:t>Try another action that could suggest the same feeling.</a:t>
            </a:r>
          </a:p>
        </p:txBody>
      </p:sp>
      <p:sp>
        <p:nvSpPr>
          <p:cNvPr id="11" name="template-capacity-guide">
            <a:extLst xmlns:a="http://schemas.openxmlformats.org/drawingml/2006/main">
              <a:ext uri="{FF2B5EF4-FFF2-40B4-BE49-F238E27FC236}">
                <a16:creationId xmlns:a16="http://schemas.microsoft.com/office/drawing/2014/main" id="{ACEC6B9C-0263-4517-BE37-7E0339CD9A21}"/>
              </a:ext>
            </a:extLst>
          </p:cNvPr>
          <p:cNvSpPr>
            <a:spLocks xmlns:a="http://schemas.openxmlformats.org/drawingml/2006/main" noGrp="1"/>
          </p:cNvSpPr>
          <p:nvPr/>
        </p:nvSpPr>
        <p:spPr>
          <a:xfrm xmlns:a="http://schemas.openxmlformats.org/drawingml/2006/main">
            <a:off x="685800" y="6343650"/>
            <a:ext cx="108204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00" b="0">
                <a:solidFill>
                  <a:srgbClr val="5C2230"/>
                </a:solidFill>
                <a:latin typeface="Arial"/>
                <a:ea typeface="Arial"/>
                <a:cs typeface="Arial"/>
              </a:defRPr>
            </a:defPPr>
          </a:lstStyle>
          <a:p xmlns:a="http://schemas.openxmlformats.org/drawingml/2006/main">
            <a:pPr algn="l">
              <a:lnSpc>
                <a:spcPct val="112000"/>
              </a:lnSpc>
              <a:buNone/>
              <a:defRPr sz="1600" b="0">
                <a:solidFill>
                  <a:srgbClr val="5C2230"/>
                </a:solidFill>
                <a:latin typeface="Arial"/>
                <a:ea typeface="Arial"/>
                <a:cs typeface="Arial"/>
              </a:defRPr>
            </a:pPr>
            <a:r>
              <a:rPr sz="1600" b="0">
                <a:solidFill>
                  <a:srgbClr val="5C2230"/>
                </a:solidFill>
                <a:latin typeface="Arial"/>
                <a:ea typeface="Arial"/>
                <a:cs typeface="Arial"/>
              </a:rPr>
              <a:t>Example: two short sentences at 30 pt with a reason and a prompt</a:t>
            </a:r>
          </a:p>
        </p:txBody>
      </p:sp>
    </p:spTree>
    <p:extLst>
      <p:ext uri="{BB962C8B-B14F-4D97-AF65-F5344CB8AC3E}">
        <p14:creationId xmlns:p14="http://schemas.microsoft.com/office/powerpoint/2010/main" val="1034569394"/>
      </p:ext>
    </p:extLst>
  </p:cSld>
</p:sld>
</file>

<file path=ppt/slides/slide16.xml><?xml version="1.0" encoding="utf-8"?>
<p:sld xmlns:p="http://schemas.openxmlformats.org/presentationml/2006/main">
  <p:cSld>
    <p:bg>
      <p:bgPr>
        <a:solidFill xmlns:a="http://schemas.openxmlformats.org/drawingml/2006/main">
          <a:srgbClr val="211B16"/>
        </a:solidFill>
      </p:bgPr>
    </p:bg>
    <p:spTree>
      <p:nvGrpSpPr>
        <p:cNvPr id="1" name=""/>
        <p:cNvGrpSpPr/>
        <p:nvPr/>
      </p:nvGrpSpPr>
      <p:grpSpPr>
        <a:xfrm xmlns:a="http://schemas.openxmlformats.org/drawingml/2006/main"/>
      </p:grpSpPr>
      <p:sp>
        <p:nvSpPr>
          <p:cNvPr id="11" name="template-label">
            <a:extLst xmlns:a="http://schemas.openxmlformats.org/drawingml/2006/main">
              <a:ext uri="{FF2B5EF4-FFF2-40B4-BE49-F238E27FC236}">
                <a16:creationId xmlns:a16="http://schemas.microsoft.com/office/drawing/2014/main" id="{6468385D-4DE6-4A40-8D14-4B2CA5DE3D2B}"/>
              </a:ext>
            </a:extLst>
          </p:cNvPr>
          <p:cNvSpPr>
            <a:spLocks xmlns:a="http://schemas.openxmlformats.org/drawingml/2006/main" noGrp="1"/>
          </p:cNvSpPr>
          <p:nvPr/>
        </p:nvSpPr>
        <p:spPr>
          <a:xfrm xmlns:a="http://schemas.openxmlformats.org/drawingml/2006/main">
            <a:off x="685800" y="285750"/>
            <a:ext cx="10820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00" b="1">
                <a:solidFill>
                  <a:srgbClr val="B89B5E"/>
                </a:solidFill>
                <a:latin typeface="Arial"/>
                <a:ea typeface="Arial"/>
                <a:cs typeface="Arial"/>
              </a:defRPr>
            </a:defPPr>
          </a:lstStyle>
          <a:p xmlns:a="http://schemas.openxmlformats.org/drawingml/2006/main">
            <a:pPr algn="l">
              <a:lnSpc>
                <a:spcPct val="112000"/>
              </a:lnSpc>
              <a:buNone/>
              <a:defRPr sz="1700" b="1">
                <a:solidFill>
                  <a:srgbClr val="B89B5E"/>
                </a:solidFill>
                <a:latin typeface="Arial"/>
                <a:ea typeface="Arial"/>
                <a:cs typeface="Arial"/>
              </a:defRPr>
            </a:pPr>
            <a:r>
              <a:rPr sz="1700" b="1">
                <a:solidFill>
                  <a:srgbClr val="B89B5E"/>
                </a:solidFill>
                <a:latin typeface="Arial"/>
                <a:ea typeface="Arial"/>
                <a:cs typeface="Arial"/>
              </a:rPr>
              <a:t>16  MODEL AND PRACTICE / MODEL THEN TRANSFER</a:t>
            </a:r>
          </a:p>
        </p:txBody>
      </p:sp>
      <p:sp>
        <p:nvSpPr>
          <p:cNvPr id="2" name="heading">
            <a:extLst xmlns:a="http://schemas.openxmlformats.org/drawingml/2006/main">
              <a:ext uri="{FF2B5EF4-FFF2-40B4-BE49-F238E27FC236}">
                <a16:creationId xmlns:a16="http://schemas.microsoft.com/office/drawing/2014/main" id="{58F153AE-7BDF-47DF-92D0-5154E817B4FD}"/>
              </a:ext>
            </a:extLst>
          </p:cNvPr>
          <p:cNvSpPr>
            <a:spLocks xmlns:a="http://schemas.openxmlformats.org/drawingml/2006/main" noGrp="1"/>
          </p:cNvSpPr>
          <p:nvPr/>
        </p:nvSpPr>
        <p:spPr>
          <a:xfrm xmlns:a="http://schemas.openxmlformats.org/drawingml/2006/main">
            <a:off x="685800" y="83820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800" b="1">
                <a:solidFill>
                  <a:srgbClr val="F2E8D5"/>
                </a:solidFill>
                <a:latin typeface="Georgia"/>
                <a:ea typeface="Georgia"/>
                <a:cs typeface="Georgia"/>
              </a:defRPr>
            </a:defPPr>
          </a:lstStyle>
          <a:p xmlns:a="http://schemas.openxmlformats.org/drawingml/2006/main">
            <a:pPr algn="l">
              <a:lnSpc>
                <a:spcPct val="112000"/>
              </a:lnSpc>
              <a:buNone/>
              <a:defRPr sz="3800" b="1">
                <a:solidFill>
                  <a:srgbClr val="F2E8D5"/>
                </a:solidFill>
                <a:latin typeface="Georgia"/>
                <a:ea typeface="Georgia"/>
                <a:cs typeface="Georgia"/>
              </a:defRPr>
            </a:pPr>
            <a:r>
              <a:rPr sz="3800" b="1">
                <a:solidFill>
                  <a:srgbClr val="F2E8D5"/>
                </a:solidFill>
                <a:latin typeface="Georgia"/>
                <a:ea typeface="Georgia"/>
                <a:cs typeface="Georgia"/>
              </a:rPr>
              <a:t>From observation to interpretation</a:t>
            </a:r>
          </a:p>
        </p:txBody>
      </p:sp>
      <p:sp>
        <p:nvSpPr>
          <p:cNvPr id="3" name="model-label">
            <a:extLst xmlns:a="http://schemas.openxmlformats.org/drawingml/2006/main">
              <a:ext uri="{FF2B5EF4-FFF2-40B4-BE49-F238E27FC236}">
                <a16:creationId xmlns:a16="http://schemas.microsoft.com/office/drawing/2014/main" id="{1C0AFDA3-1FF7-4090-97DC-2AA87F1613EC}"/>
              </a:ext>
            </a:extLst>
          </p:cNvPr>
          <p:cNvSpPr>
            <a:spLocks xmlns:a="http://schemas.openxmlformats.org/drawingml/2006/main" noGrp="1"/>
          </p:cNvSpPr>
          <p:nvPr/>
        </p:nvSpPr>
        <p:spPr>
          <a:xfrm xmlns:a="http://schemas.openxmlformats.org/drawingml/2006/main">
            <a:off x="685800" y="2019300"/>
            <a:ext cx="2095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00" b="1">
                <a:solidFill>
                  <a:srgbClr val="B89B5E"/>
                </a:solidFill>
                <a:latin typeface="Arial"/>
                <a:ea typeface="Arial"/>
                <a:cs typeface="Arial"/>
              </a:defRPr>
            </a:defPPr>
          </a:lstStyle>
          <a:p xmlns:a="http://schemas.openxmlformats.org/drawingml/2006/main">
            <a:pPr algn="l">
              <a:lnSpc>
                <a:spcPct val="112000"/>
              </a:lnSpc>
              <a:buNone/>
              <a:defRPr sz="2200" b="1">
                <a:solidFill>
                  <a:srgbClr val="B89B5E"/>
                </a:solidFill>
                <a:latin typeface="Arial"/>
                <a:ea typeface="Arial"/>
                <a:cs typeface="Arial"/>
              </a:defRPr>
            </a:pPr>
            <a:r>
              <a:rPr sz="2200" b="1">
                <a:solidFill>
                  <a:srgbClr val="B89B5E"/>
                </a:solidFill>
                <a:latin typeface="Arial"/>
                <a:ea typeface="Arial"/>
                <a:cs typeface="Arial"/>
              </a:rPr>
              <a:t>MODEL</a:t>
            </a:r>
          </a:p>
        </p:txBody>
      </p:sp>
      <p:sp>
        <p:nvSpPr>
          <p:cNvPr id="4" name="model-response">
            <a:extLst xmlns:a="http://schemas.openxmlformats.org/drawingml/2006/main">
              <a:ext uri="{FF2B5EF4-FFF2-40B4-BE49-F238E27FC236}">
                <a16:creationId xmlns:a16="http://schemas.microsoft.com/office/drawing/2014/main" id="{D2651C6F-78B8-4989-9480-18832257B9E1}"/>
              </a:ext>
            </a:extLst>
          </p:cNvPr>
          <p:cNvSpPr>
            <a:spLocks xmlns:a="http://schemas.openxmlformats.org/drawingml/2006/main" noGrp="1"/>
          </p:cNvSpPr>
          <p:nvPr/>
        </p:nvSpPr>
        <p:spPr>
          <a:xfrm xmlns:a="http://schemas.openxmlformats.org/drawingml/2006/main">
            <a:off x="3048000" y="2009775"/>
            <a:ext cx="8458200" cy="1228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900" b="0">
                <a:solidFill>
                  <a:srgbClr val="F2E8D5"/>
                </a:solidFill>
                <a:latin typeface="Arial"/>
                <a:ea typeface="Arial"/>
                <a:cs typeface="Arial"/>
              </a:defRPr>
            </a:defPPr>
          </a:lstStyle>
          <a:p xmlns:a="http://schemas.openxmlformats.org/drawingml/2006/main">
            <a:pPr algn="l">
              <a:lnSpc>
                <a:spcPct val="112000"/>
              </a:lnSpc>
              <a:buNone/>
              <a:defRPr sz="2900" b="0">
                <a:solidFill>
                  <a:srgbClr val="F2E8D5"/>
                </a:solidFill>
                <a:latin typeface="Arial"/>
                <a:ea typeface="Arial"/>
                <a:cs typeface="Arial"/>
              </a:defRPr>
            </a:pPr>
            <a:r>
              <a:rPr sz="2900" b="0">
                <a:solidFill>
                  <a:srgbClr val="F2E8D5"/>
                </a:solidFill>
                <a:latin typeface="Arial"/>
                <a:ea typeface="Arial"/>
                <a:cs typeface="Arial"/>
              </a:rPr>
              <a:t>The bag remains by the door. This suggests the visitor may leave soon.</a:t>
            </a:r>
          </a:p>
        </p:txBody>
      </p:sp>
      <p:sp>
        <p:nvSpPr>
          <p:cNvPr id="5" name="rule">
            <a:extLst xmlns:a="http://schemas.openxmlformats.org/drawingml/2006/main">
              <a:ext uri="{FF2B5EF4-FFF2-40B4-BE49-F238E27FC236}">
                <a16:creationId xmlns:a16="http://schemas.microsoft.com/office/drawing/2014/main" id="{06B66B4B-BB6C-48CF-A26A-A4B96AB116F7}"/>
              </a:ext>
            </a:extLst>
          </p:cNvPr>
          <p:cNvSpPr>
            <a:spLocks xmlns:a="http://schemas.openxmlformats.org/drawingml/2006/main" noGrp="1"/>
          </p:cNvSpPr>
          <p:nvPr/>
        </p:nvSpPr>
        <p:spPr>
          <a:xfrm xmlns:a="http://schemas.openxmlformats.org/drawingml/2006/main">
            <a:off x="685800" y="3590925"/>
            <a:ext cx="10820400" cy="19050"/>
          </a:xfrm>
          <a:prstGeom xmlns:a="http://schemas.openxmlformats.org/drawingml/2006/main" prst="rect">
            <a:avLst/>
          </a:prstGeom>
          <a:solidFill xmlns:a="http://schemas.openxmlformats.org/drawingml/2006/main">
            <a:srgbClr val="B89B5E"/>
          </a:solidFill>
          <a:ln xmlns:a="http://schemas.openxmlformats.org/drawingml/2006/main" w="0">
            <a:noFill/>
          </a:ln>
        </p:spPr>
      </p:sp>
      <p:sp>
        <p:nvSpPr>
          <p:cNvPr id="6" name="practice-label">
            <a:extLst xmlns:a="http://schemas.openxmlformats.org/drawingml/2006/main">
              <a:ext uri="{FF2B5EF4-FFF2-40B4-BE49-F238E27FC236}">
                <a16:creationId xmlns:a16="http://schemas.microsoft.com/office/drawing/2014/main" id="{C8930B85-BDF2-4278-BA64-11400EE77DBB}"/>
              </a:ext>
            </a:extLst>
          </p:cNvPr>
          <p:cNvSpPr>
            <a:spLocks xmlns:a="http://schemas.openxmlformats.org/drawingml/2006/main" noGrp="1"/>
          </p:cNvSpPr>
          <p:nvPr/>
        </p:nvSpPr>
        <p:spPr>
          <a:xfrm xmlns:a="http://schemas.openxmlformats.org/drawingml/2006/main">
            <a:off x="685800" y="4000500"/>
            <a:ext cx="2095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00" b="1">
                <a:solidFill>
                  <a:srgbClr val="B89B5E"/>
                </a:solidFill>
                <a:latin typeface="Arial"/>
                <a:ea typeface="Arial"/>
                <a:cs typeface="Arial"/>
              </a:defRPr>
            </a:defPPr>
          </a:lstStyle>
          <a:p xmlns:a="http://schemas.openxmlformats.org/drawingml/2006/main">
            <a:pPr algn="l">
              <a:lnSpc>
                <a:spcPct val="112000"/>
              </a:lnSpc>
              <a:buNone/>
              <a:defRPr sz="2200" b="1">
                <a:solidFill>
                  <a:srgbClr val="B89B5E"/>
                </a:solidFill>
                <a:latin typeface="Arial"/>
                <a:ea typeface="Arial"/>
                <a:cs typeface="Arial"/>
              </a:defRPr>
            </a:pPr>
            <a:r>
              <a:rPr sz="2200" b="1">
                <a:solidFill>
                  <a:srgbClr val="B89B5E"/>
                </a:solidFill>
                <a:latin typeface="Arial"/>
                <a:ea typeface="Arial"/>
                <a:cs typeface="Arial"/>
              </a:rPr>
              <a:t>YOUR TURN</a:t>
            </a:r>
          </a:p>
        </p:txBody>
      </p:sp>
      <p:sp>
        <p:nvSpPr>
          <p:cNvPr id="7" name="practice-evidence">
            <a:extLst xmlns:a="http://schemas.openxmlformats.org/drawingml/2006/main">
              <a:ext uri="{FF2B5EF4-FFF2-40B4-BE49-F238E27FC236}">
                <a16:creationId xmlns:a16="http://schemas.microsoft.com/office/drawing/2014/main" id="{F9599011-2A80-4070-BE89-0236731F1CEA}"/>
              </a:ext>
            </a:extLst>
          </p:cNvPr>
          <p:cNvSpPr>
            <a:spLocks xmlns:a="http://schemas.openxmlformats.org/drawingml/2006/main" noGrp="1"/>
          </p:cNvSpPr>
          <p:nvPr/>
        </p:nvSpPr>
        <p:spPr>
          <a:xfrm xmlns:a="http://schemas.openxmlformats.org/drawingml/2006/main">
            <a:off x="3048000" y="3981450"/>
            <a:ext cx="8458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900" b="0">
                <a:solidFill>
                  <a:srgbClr val="F2E8D5"/>
                </a:solidFill>
                <a:latin typeface="Arial"/>
                <a:ea typeface="Arial"/>
                <a:cs typeface="Arial"/>
              </a:defRPr>
            </a:defPPr>
          </a:lstStyle>
          <a:p xmlns:a="http://schemas.openxmlformats.org/drawingml/2006/main">
            <a:pPr algn="l">
              <a:lnSpc>
                <a:spcPct val="112000"/>
              </a:lnSpc>
              <a:buNone/>
              <a:defRPr sz="2900" b="0">
                <a:solidFill>
                  <a:srgbClr val="F2E8D5"/>
                </a:solidFill>
                <a:latin typeface="Arial"/>
                <a:ea typeface="Arial"/>
                <a:cs typeface="Arial"/>
              </a:defRPr>
            </a:pPr>
            <a:r>
              <a:rPr sz="2900" b="0">
                <a:solidFill>
                  <a:srgbClr val="F2E8D5"/>
                </a:solidFill>
                <a:latin typeface="Arial"/>
                <a:ea typeface="Arial"/>
                <a:cs typeface="Arial"/>
              </a:rPr>
              <a:t>The visitor keeps her gloves on.</a:t>
            </a:r>
          </a:p>
        </p:txBody>
      </p:sp>
      <p:sp>
        <p:nvSpPr>
          <p:cNvPr id="8" name="sentence-frame">
            <a:extLst xmlns:a="http://schemas.openxmlformats.org/drawingml/2006/main">
              <a:ext uri="{FF2B5EF4-FFF2-40B4-BE49-F238E27FC236}">
                <a16:creationId xmlns:a16="http://schemas.microsoft.com/office/drawing/2014/main" id="{5D6545CF-E789-42F7-8F68-89CD8CE23999}"/>
              </a:ext>
            </a:extLst>
          </p:cNvPr>
          <p:cNvSpPr>
            <a:spLocks xmlns:a="http://schemas.openxmlformats.org/drawingml/2006/main" noGrp="1"/>
          </p:cNvSpPr>
          <p:nvPr/>
        </p:nvSpPr>
        <p:spPr>
          <a:xfrm xmlns:a="http://schemas.openxmlformats.org/drawingml/2006/main">
            <a:off x="3048000" y="4886325"/>
            <a:ext cx="84582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0">
                <a:solidFill>
                  <a:srgbClr val="F2E8D5"/>
                </a:solidFill>
                <a:latin typeface="Arial"/>
                <a:ea typeface="Arial"/>
                <a:cs typeface="Arial"/>
              </a:defRPr>
            </a:defPPr>
          </a:lstStyle>
          <a:p xmlns:a="http://schemas.openxmlformats.org/drawingml/2006/main">
            <a:pPr algn="l">
              <a:lnSpc>
                <a:spcPct val="112000"/>
              </a:lnSpc>
              <a:buNone/>
              <a:defRPr sz="2700" b="0">
                <a:solidFill>
                  <a:srgbClr val="F2E8D5"/>
                </a:solidFill>
                <a:latin typeface="Arial"/>
                <a:ea typeface="Arial"/>
                <a:cs typeface="Arial"/>
              </a:defRPr>
            </a:pPr>
            <a:r>
              <a:rPr sz="2700" b="0">
                <a:solidFill>
                  <a:srgbClr val="F2E8D5"/>
                </a:solidFill>
                <a:latin typeface="Arial"/>
                <a:ea typeface="Arial"/>
                <a:cs typeface="Arial"/>
              </a:rPr>
              <a:t>This suggests ____________________.</a:t>
            </a:r>
          </a:p>
        </p:txBody>
      </p:sp>
      <p:sp>
        <p:nvSpPr>
          <p:cNvPr id="9" name="instruction">
            <a:extLst xmlns:a="http://schemas.openxmlformats.org/drawingml/2006/main">
              <a:ext uri="{FF2B5EF4-FFF2-40B4-BE49-F238E27FC236}">
                <a16:creationId xmlns:a16="http://schemas.microsoft.com/office/drawing/2014/main" id="{521B902C-D35B-46C9-A277-AA1FDB1DB88A}"/>
              </a:ext>
            </a:extLst>
          </p:cNvPr>
          <p:cNvSpPr>
            <a:spLocks xmlns:a="http://schemas.openxmlformats.org/drawingml/2006/main" noGrp="1"/>
          </p:cNvSpPr>
          <p:nvPr/>
        </p:nvSpPr>
        <p:spPr>
          <a:xfrm xmlns:a="http://schemas.openxmlformats.org/drawingml/2006/main">
            <a:off x="3048000" y="5715000"/>
            <a:ext cx="84582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F2E8D5"/>
                </a:solidFill>
                <a:latin typeface="Arial"/>
                <a:ea typeface="Arial"/>
                <a:cs typeface="Arial"/>
              </a:defRPr>
            </a:defPPr>
          </a:lstStyle>
          <a:p xmlns:a="http://schemas.openxmlformats.org/drawingml/2006/main">
            <a:pPr algn="l">
              <a:lnSpc>
                <a:spcPct val="112000"/>
              </a:lnSpc>
              <a:buNone/>
              <a:defRPr sz="2400" b="0">
                <a:solidFill>
                  <a:srgbClr val="F2E8D5"/>
                </a:solidFill>
                <a:latin typeface="Arial"/>
                <a:ea typeface="Arial"/>
                <a:cs typeface="Arial"/>
              </a:defRPr>
            </a:pPr>
            <a:r>
              <a:rPr sz="2400" b="0">
                <a:solidFill>
                  <a:srgbClr val="F2E8D5"/>
                </a:solidFill>
                <a:latin typeface="Arial"/>
                <a:ea typeface="Arial"/>
                <a:cs typeface="Arial"/>
              </a:rPr>
              <a:t>Use “may” or “might” if your interpretation is uncertain.</a:t>
            </a:r>
          </a:p>
        </p:txBody>
      </p:sp>
      <p:sp>
        <p:nvSpPr>
          <p:cNvPr id="10" name="template-capacity-guide">
            <a:extLst xmlns:a="http://schemas.openxmlformats.org/drawingml/2006/main">
              <a:ext uri="{FF2B5EF4-FFF2-40B4-BE49-F238E27FC236}">
                <a16:creationId xmlns:a16="http://schemas.microsoft.com/office/drawing/2014/main" id="{CC4A07B4-BB0F-4021-8FAC-41A9BD22309C}"/>
              </a:ext>
            </a:extLst>
          </p:cNvPr>
          <p:cNvSpPr>
            <a:spLocks xmlns:a="http://schemas.openxmlformats.org/drawingml/2006/main" noGrp="1"/>
          </p:cNvSpPr>
          <p:nvPr/>
        </p:nvSpPr>
        <p:spPr>
          <a:xfrm xmlns:a="http://schemas.openxmlformats.org/drawingml/2006/main">
            <a:off x="685800" y="6343650"/>
            <a:ext cx="108204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00" b="0">
                <a:solidFill>
                  <a:srgbClr val="B89B5E"/>
                </a:solidFill>
                <a:latin typeface="Arial"/>
                <a:ea typeface="Arial"/>
                <a:cs typeface="Arial"/>
              </a:defRPr>
            </a:defPPr>
          </a:lstStyle>
          <a:p xmlns:a="http://schemas.openxmlformats.org/drawingml/2006/main">
            <a:pPr algn="l">
              <a:lnSpc>
                <a:spcPct val="112000"/>
              </a:lnSpc>
              <a:buNone/>
              <a:defRPr sz="1600" b="0">
                <a:solidFill>
                  <a:srgbClr val="B89B5E"/>
                </a:solidFill>
                <a:latin typeface="Arial"/>
                <a:ea typeface="Arial"/>
                <a:cs typeface="Arial"/>
              </a:defRPr>
            </a:pPr>
            <a:r>
              <a:rPr sz="1600" b="0">
                <a:solidFill>
                  <a:srgbClr val="B89B5E"/>
                </a:solidFill>
                <a:latin typeface="Arial"/>
                <a:ea typeface="Arial"/>
                <a:cs typeface="Arial"/>
              </a:rPr>
              <a:t>Example: a 13-word model and one parallel practice item</a:t>
            </a:r>
          </a:p>
        </p:txBody>
      </p:sp>
    </p:spTree>
    <p:extLst>
      <p:ext uri="{BB962C8B-B14F-4D97-AF65-F5344CB8AC3E}">
        <p14:creationId xmlns:p14="http://schemas.microsoft.com/office/powerpoint/2010/main" val="1887006246"/>
      </p:ext>
    </p:extLst>
  </p:cSld>
</p:sld>
</file>

<file path=ppt/slides/slide17.xml><?xml version="1.0" encoding="utf-8"?>
<p:sld xmlns:p="http://schemas.openxmlformats.org/presentationml/2006/main">
  <p:cSld>
    <p:bg>
      <p:bgPr>
        <a:solidFill xmlns:a="http://schemas.openxmlformats.org/drawingml/2006/main">
          <a:srgbClr val="211B16"/>
        </a:solidFill>
      </p:bgPr>
    </p:bg>
    <p:spTree>
      <p:nvGrpSpPr>
        <p:cNvPr id="1" name=""/>
        <p:cNvGrpSpPr/>
        <p:nvPr/>
      </p:nvGrpSpPr>
      <p:grpSpPr>
        <a:xfrm xmlns:a="http://schemas.openxmlformats.org/drawingml/2006/main"/>
      </p:grpSpPr>
      <p:sp>
        <p:nvSpPr>
          <p:cNvPr id="12" name="template-label">
            <a:extLst xmlns:a="http://schemas.openxmlformats.org/drawingml/2006/main">
              <a:ext uri="{FF2B5EF4-FFF2-40B4-BE49-F238E27FC236}">
                <a16:creationId xmlns:a16="http://schemas.microsoft.com/office/drawing/2014/main" id="{8F5AB42B-B184-438F-8F71-437AC9259B50}"/>
              </a:ext>
            </a:extLst>
          </p:cNvPr>
          <p:cNvSpPr>
            <a:spLocks xmlns:a="http://schemas.openxmlformats.org/drawingml/2006/main" noGrp="1"/>
          </p:cNvSpPr>
          <p:nvPr/>
        </p:nvSpPr>
        <p:spPr>
          <a:xfrm xmlns:a="http://schemas.openxmlformats.org/drawingml/2006/main">
            <a:off x="685800" y="285750"/>
            <a:ext cx="10820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00" b="1">
                <a:solidFill>
                  <a:srgbClr val="B89B5E"/>
                </a:solidFill>
                <a:latin typeface="Arial"/>
                <a:ea typeface="Arial"/>
                <a:cs typeface="Arial"/>
              </a:defRPr>
            </a:defPPr>
          </a:lstStyle>
          <a:p xmlns:a="http://schemas.openxmlformats.org/drawingml/2006/main">
            <a:pPr algn="l">
              <a:lnSpc>
                <a:spcPct val="112000"/>
              </a:lnSpc>
              <a:buNone/>
              <a:defRPr sz="1700" b="1">
                <a:solidFill>
                  <a:srgbClr val="B89B5E"/>
                </a:solidFill>
                <a:latin typeface="Arial"/>
                <a:ea typeface="Arial"/>
                <a:cs typeface="Arial"/>
              </a:defRPr>
            </a:pPr>
            <a:r>
              <a:rPr sz="1700" b="1">
                <a:solidFill>
                  <a:srgbClr val="B89B5E"/>
                </a:solidFill>
                <a:latin typeface="Arial"/>
                <a:ea typeface="Arial"/>
                <a:cs typeface="Arial"/>
              </a:rPr>
              <a:t>17  WRITING INSTRUCTIONS / ASSIGNMENT BRIEF</a:t>
            </a:r>
          </a:p>
        </p:txBody>
      </p:sp>
      <p:sp>
        <p:nvSpPr>
          <p:cNvPr id="2" name="heading">
            <a:extLst xmlns:a="http://schemas.openxmlformats.org/drawingml/2006/main">
              <a:ext uri="{FF2B5EF4-FFF2-40B4-BE49-F238E27FC236}">
                <a16:creationId xmlns:a16="http://schemas.microsoft.com/office/drawing/2014/main" id="{B74ED84E-B6A4-4384-AA15-2AB01D72A68D}"/>
              </a:ext>
            </a:extLst>
          </p:cNvPr>
          <p:cNvSpPr>
            <a:spLocks xmlns:a="http://schemas.openxmlformats.org/drawingml/2006/main" noGrp="1"/>
          </p:cNvSpPr>
          <p:nvPr/>
        </p:nvSpPr>
        <p:spPr>
          <a:xfrm xmlns:a="http://schemas.openxmlformats.org/drawingml/2006/main">
            <a:off x="685800" y="83820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800" b="1">
                <a:solidFill>
                  <a:srgbClr val="F2E8D5"/>
                </a:solidFill>
                <a:latin typeface="Georgia"/>
                <a:ea typeface="Georgia"/>
                <a:cs typeface="Georgia"/>
              </a:defRPr>
            </a:defPPr>
          </a:lstStyle>
          <a:p xmlns:a="http://schemas.openxmlformats.org/drawingml/2006/main">
            <a:pPr algn="l">
              <a:lnSpc>
                <a:spcPct val="112000"/>
              </a:lnSpc>
              <a:buNone/>
              <a:defRPr sz="3800" b="1">
                <a:solidFill>
                  <a:srgbClr val="F2E8D5"/>
                </a:solidFill>
                <a:latin typeface="Georgia"/>
                <a:ea typeface="Georgia"/>
                <a:cs typeface="Georgia"/>
              </a:defRPr>
            </a:pPr>
            <a:r>
              <a:rPr sz="3800" b="1">
                <a:solidFill>
                  <a:srgbClr val="F2E8D5"/>
                </a:solidFill>
                <a:latin typeface="Georgia"/>
                <a:ea typeface="Georgia"/>
                <a:cs typeface="Georgia"/>
              </a:rPr>
              <a:t>An object with a history</a:t>
            </a:r>
          </a:p>
        </p:txBody>
      </p:sp>
      <p:sp>
        <p:nvSpPr>
          <p:cNvPr id="3" name="length">
            <a:extLst xmlns:a="http://schemas.openxmlformats.org/drawingml/2006/main">
              <a:ext uri="{FF2B5EF4-FFF2-40B4-BE49-F238E27FC236}">
                <a16:creationId xmlns:a16="http://schemas.microsoft.com/office/drawing/2014/main" id="{B1F241DE-102D-4994-AA6C-8F3870491414}"/>
              </a:ext>
            </a:extLst>
          </p:cNvPr>
          <p:cNvSpPr>
            <a:spLocks xmlns:a="http://schemas.openxmlformats.org/drawingml/2006/main" noGrp="1"/>
          </p:cNvSpPr>
          <p:nvPr/>
        </p:nvSpPr>
        <p:spPr>
          <a:xfrm xmlns:a="http://schemas.openxmlformats.org/drawingml/2006/main">
            <a:off x="685800" y="2124075"/>
            <a:ext cx="42862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5700" b="1">
                <a:solidFill>
                  <a:srgbClr val="B89B5E"/>
                </a:solidFill>
                <a:latin typeface="Georgia"/>
                <a:ea typeface="Georgia"/>
                <a:cs typeface="Georgia"/>
              </a:defRPr>
            </a:defPPr>
          </a:lstStyle>
          <a:p xmlns:a="http://schemas.openxmlformats.org/drawingml/2006/main">
            <a:pPr algn="l">
              <a:lnSpc>
                <a:spcPct val="112000"/>
              </a:lnSpc>
              <a:buNone/>
              <a:defRPr sz="5700" b="1">
                <a:solidFill>
                  <a:srgbClr val="B89B5E"/>
                </a:solidFill>
                <a:latin typeface="Georgia"/>
                <a:ea typeface="Georgia"/>
                <a:cs typeface="Georgia"/>
              </a:defRPr>
            </a:pPr>
            <a:r>
              <a:rPr sz="5700" b="1">
                <a:solidFill>
                  <a:srgbClr val="B89B5E"/>
                </a:solidFill>
                <a:latin typeface="Georgia"/>
                <a:ea typeface="Georgia"/>
                <a:cs typeface="Georgia"/>
              </a:rPr>
              <a:t>180–220</a:t>
            </a:r>
          </a:p>
        </p:txBody>
      </p:sp>
      <p:sp>
        <p:nvSpPr>
          <p:cNvPr id="4" name="length-label">
            <a:extLst xmlns:a="http://schemas.openxmlformats.org/drawingml/2006/main">
              <a:ext uri="{FF2B5EF4-FFF2-40B4-BE49-F238E27FC236}">
                <a16:creationId xmlns:a16="http://schemas.microsoft.com/office/drawing/2014/main" id="{87119B54-3F90-4C16-911B-72B88059205A}"/>
              </a:ext>
            </a:extLst>
          </p:cNvPr>
          <p:cNvSpPr>
            <a:spLocks xmlns:a="http://schemas.openxmlformats.org/drawingml/2006/main" noGrp="1"/>
          </p:cNvSpPr>
          <p:nvPr/>
        </p:nvSpPr>
        <p:spPr>
          <a:xfrm xmlns:a="http://schemas.openxmlformats.org/drawingml/2006/main">
            <a:off x="714375" y="3314700"/>
            <a:ext cx="4286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B89B5E"/>
                </a:solidFill>
                <a:latin typeface="Arial"/>
                <a:ea typeface="Arial"/>
                <a:cs typeface="Arial"/>
              </a:defRPr>
            </a:defPPr>
          </a:lstStyle>
          <a:p xmlns:a="http://schemas.openxmlformats.org/drawingml/2006/main">
            <a:pPr algn="l">
              <a:lnSpc>
                <a:spcPct val="112000"/>
              </a:lnSpc>
              <a:buNone/>
              <a:defRPr sz="2400" b="1">
                <a:solidFill>
                  <a:srgbClr val="B89B5E"/>
                </a:solidFill>
                <a:latin typeface="Arial"/>
                <a:ea typeface="Arial"/>
                <a:cs typeface="Arial"/>
              </a:defRPr>
            </a:pPr>
            <a:r>
              <a:rPr sz="2400" b="1">
                <a:solidFill>
                  <a:srgbClr val="B89B5E"/>
                </a:solidFill>
                <a:latin typeface="Arial"/>
                <a:ea typeface="Arial"/>
                <a:cs typeface="Arial"/>
              </a:rPr>
              <a:t>WORDS</a:t>
            </a:r>
          </a:p>
        </p:txBody>
      </p:sp>
      <p:sp>
        <p:nvSpPr>
          <p:cNvPr id="5" name="task-context">
            <a:extLst xmlns:a="http://schemas.openxmlformats.org/drawingml/2006/main">
              <a:ext uri="{FF2B5EF4-FFF2-40B4-BE49-F238E27FC236}">
                <a16:creationId xmlns:a16="http://schemas.microsoft.com/office/drawing/2014/main" id="{3BD8EA93-B70C-4732-9C90-8DE1B6F1C067}"/>
              </a:ext>
            </a:extLst>
          </p:cNvPr>
          <p:cNvSpPr>
            <a:spLocks xmlns:a="http://schemas.openxmlformats.org/drawingml/2006/main" noGrp="1"/>
          </p:cNvSpPr>
          <p:nvPr/>
        </p:nvSpPr>
        <p:spPr>
          <a:xfrm xmlns:a="http://schemas.openxmlformats.org/drawingml/2006/main">
            <a:off x="714375" y="4105275"/>
            <a:ext cx="4286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F2E8D5"/>
                </a:solidFill>
                <a:latin typeface="Arial"/>
                <a:ea typeface="Arial"/>
                <a:cs typeface="Arial"/>
              </a:defRPr>
            </a:defPPr>
          </a:lstStyle>
          <a:p xmlns:a="http://schemas.openxmlformats.org/drawingml/2006/main">
            <a:pPr algn="l">
              <a:lnSpc>
                <a:spcPct val="112000"/>
              </a:lnSpc>
              <a:buNone/>
              <a:defRPr sz="2400" b="1">
                <a:solidFill>
                  <a:srgbClr val="F2E8D5"/>
                </a:solidFill>
                <a:latin typeface="Arial"/>
                <a:ea typeface="Arial"/>
                <a:cs typeface="Arial"/>
              </a:defRPr>
            </a:pPr>
            <a:r>
              <a:rPr sz="2400" b="1">
                <a:solidFill>
                  <a:srgbClr val="F2E8D5"/>
                </a:solidFill>
                <a:latin typeface="Arial"/>
                <a:ea typeface="Arial"/>
                <a:cs typeface="Arial"/>
              </a:rPr>
              <a:t>Sample writing task</a:t>
            </a:r>
          </a:p>
        </p:txBody>
      </p:sp>
      <p:sp>
        <p:nvSpPr>
          <p:cNvPr id="6" name="task-mode">
            <a:extLst xmlns:a="http://schemas.openxmlformats.org/drawingml/2006/main">
              <a:ext uri="{FF2B5EF4-FFF2-40B4-BE49-F238E27FC236}">
                <a16:creationId xmlns:a16="http://schemas.microsoft.com/office/drawing/2014/main" id="{E261EA8D-0142-4C96-B540-11C466F9AD7F}"/>
              </a:ext>
            </a:extLst>
          </p:cNvPr>
          <p:cNvSpPr>
            <a:spLocks xmlns:a="http://schemas.openxmlformats.org/drawingml/2006/main" noGrp="1"/>
          </p:cNvSpPr>
          <p:nvPr/>
        </p:nvSpPr>
        <p:spPr>
          <a:xfrm xmlns:a="http://schemas.openxmlformats.org/drawingml/2006/main">
            <a:off x="714375" y="4695825"/>
            <a:ext cx="41910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600" b="0">
                <a:solidFill>
                  <a:srgbClr val="F2E8D5"/>
                </a:solidFill>
                <a:latin typeface="Arial"/>
                <a:ea typeface="Arial"/>
                <a:cs typeface="Arial"/>
              </a:defRPr>
            </a:defPPr>
          </a:lstStyle>
          <a:p xmlns:a="http://schemas.openxmlformats.org/drawingml/2006/main">
            <a:pPr algn="l">
              <a:lnSpc>
                <a:spcPct val="112000"/>
              </a:lnSpc>
              <a:buNone/>
              <a:defRPr sz="2600" b="0">
                <a:solidFill>
                  <a:srgbClr val="F2E8D5"/>
                </a:solidFill>
                <a:latin typeface="Arial"/>
                <a:ea typeface="Arial"/>
                <a:cs typeface="Arial"/>
              </a:defRPr>
            </a:pPr>
            <a:r>
              <a:rPr sz="2600" b="0">
                <a:solidFill>
                  <a:srgbClr val="F2E8D5"/>
                </a:solidFill>
                <a:latin typeface="Arial"/>
                <a:ea typeface="Arial"/>
                <a:cs typeface="Arial"/>
              </a:rPr>
              <a:t>Individual writing</a:t>
            </a:r>
          </a:p>
          <a:p xmlns:a="http://schemas.openxmlformats.org/drawingml/2006/main">
            <a:pPr algn="l">
              <a:lnSpc>
                <a:spcPct val="112000"/>
              </a:lnSpc>
              <a:buNone/>
              <a:defRPr sz="2600" b="0">
                <a:solidFill>
                  <a:srgbClr val="F2E8D5"/>
                </a:solidFill>
                <a:latin typeface="Arial"/>
                <a:ea typeface="Arial"/>
                <a:cs typeface="Arial"/>
              </a:defRPr>
            </a:pPr>
            <a:r>
              <a:rPr sz="2600" b="0">
                <a:solidFill>
                  <a:srgbClr val="F2E8D5"/>
                </a:solidFill>
                <a:latin typeface="Arial"/>
                <a:ea typeface="Arial"/>
                <a:cs typeface="Arial"/>
              </a:rPr>
              <a:t>Past tense</a:t>
            </a:r>
          </a:p>
        </p:txBody>
      </p:sp>
      <p:sp>
        <p:nvSpPr>
          <p:cNvPr id="7" name="prompt">
            <a:extLst xmlns:a="http://schemas.openxmlformats.org/drawingml/2006/main">
              <a:ext uri="{FF2B5EF4-FFF2-40B4-BE49-F238E27FC236}">
                <a16:creationId xmlns:a16="http://schemas.microsoft.com/office/drawing/2014/main" id="{150FC265-B8FF-42D2-BD9C-774B0E2F5921}"/>
              </a:ext>
            </a:extLst>
          </p:cNvPr>
          <p:cNvSpPr>
            <a:spLocks xmlns:a="http://schemas.openxmlformats.org/drawingml/2006/main" noGrp="1"/>
          </p:cNvSpPr>
          <p:nvPr/>
        </p:nvSpPr>
        <p:spPr>
          <a:xfrm xmlns:a="http://schemas.openxmlformats.org/drawingml/2006/main">
            <a:off x="5715000" y="2076450"/>
            <a:ext cx="5791200"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00" b="0">
                <a:solidFill>
                  <a:srgbClr val="F2E8D5"/>
                </a:solidFill>
                <a:latin typeface="Arial"/>
                <a:ea typeface="Arial"/>
                <a:cs typeface="Arial"/>
              </a:defRPr>
            </a:defPPr>
          </a:lstStyle>
          <a:p xmlns:a="http://schemas.openxmlformats.org/drawingml/2006/main">
            <a:pPr algn="l">
              <a:lnSpc>
                <a:spcPct val="112000"/>
              </a:lnSpc>
              <a:buNone/>
              <a:defRPr sz="2800" b="0">
                <a:solidFill>
                  <a:srgbClr val="F2E8D5"/>
                </a:solidFill>
                <a:latin typeface="Arial"/>
                <a:ea typeface="Arial"/>
                <a:cs typeface="Arial"/>
              </a:defRPr>
            </a:pPr>
            <a:r>
              <a:rPr sz="2800" b="0">
                <a:solidFill>
                  <a:srgbClr val="F2E8D5"/>
                </a:solidFill>
                <a:latin typeface="Arial"/>
                <a:ea typeface="Arial"/>
                <a:cs typeface="Arial"/>
              </a:rPr>
              <a:t>Write a scene in which someone finds an object that changes how they remember another person.</a:t>
            </a:r>
          </a:p>
        </p:txBody>
      </p:sp>
      <p:sp>
        <p:nvSpPr>
          <p:cNvPr id="8" name="criteria-label">
            <a:extLst xmlns:a="http://schemas.openxmlformats.org/drawingml/2006/main">
              <a:ext uri="{FF2B5EF4-FFF2-40B4-BE49-F238E27FC236}">
                <a16:creationId xmlns:a16="http://schemas.microsoft.com/office/drawing/2014/main" id="{405645D1-FF37-48DB-85F9-BE3D6093B068}"/>
              </a:ext>
            </a:extLst>
          </p:cNvPr>
          <p:cNvSpPr>
            <a:spLocks xmlns:a="http://schemas.openxmlformats.org/drawingml/2006/main" noGrp="1"/>
          </p:cNvSpPr>
          <p:nvPr/>
        </p:nvSpPr>
        <p:spPr>
          <a:xfrm xmlns:a="http://schemas.openxmlformats.org/drawingml/2006/main">
            <a:off x="5715000" y="3895725"/>
            <a:ext cx="57912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00" b="1">
                <a:solidFill>
                  <a:srgbClr val="B89B5E"/>
                </a:solidFill>
                <a:latin typeface="Arial"/>
                <a:ea typeface="Arial"/>
                <a:cs typeface="Arial"/>
              </a:defRPr>
            </a:defPPr>
          </a:lstStyle>
          <a:p xmlns:a="http://schemas.openxmlformats.org/drawingml/2006/main">
            <a:pPr algn="l">
              <a:lnSpc>
                <a:spcPct val="112000"/>
              </a:lnSpc>
              <a:buNone/>
              <a:defRPr sz="2200" b="1">
                <a:solidFill>
                  <a:srgbClr val="B89B5E"/>
                </a:solidFill>
                <a:latin typeface="Arial"/>
                <a:ea typeface="Arial"/>
                <a:cs typeface="Arial"/>
              </a:defRPr>
            </a:pPr>
            <a:r>
              <a:rPr sz="2200" b="1">
                <a:solidFill>
                  <a:srgbClr val="B89B5E"/>
                </a:solidFill>
                <a:latin typeface="Arial"/>
                <a:ea typeface="Arial"/>
                <a:cs typeface="Arial"/>
              </a:rPr>
              <a:t>INCLUDE</a:t>
            </a:r>
          </a:p>
        </p:txBody>
      </p:sp>
      <p:sp>
        <p:nvSpPr>
          <p:cNvPr id="9" name="criterion-1">
            <a:extLst xmlns:a="http://schemas.openxmlformats.org/drawingml/2006/main">
              <a:ext uri="{FF2B5EF4-FFF2-40B4-BE49-F238E27FC236}">
                <a16:creationId xmlns:a16="http://schemas.microsoft.com/office/drawing/2014/main" id="{278181CE-67A1-49EC-A511-16D4D20D4ECD}"/>
              </a:ext>
            </a:extLst>
          </p:cNvPr>
          <p:cNvSpPr>
            <a:spLocks xmlns:a="http://schemas.openxmlformats.org/drawingml/2006/main" noGrp="1"/>
          </p:cNvSpPr>
          <p:nvPr/>
        </p:nvSpPr>
        <p:spPr>
          <a:xfrm xmlns:a="http://schemas.openxmlformats.org/drawingml/2006/main">
            <a:off x="5715000" y="4391025"/>
            <a:ext cx="57912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00" b="0">
                <a:solidFill>
                  <a:srgbClr val="F2E8D5"/>
                </a:solidFill>
                <a:latin typeface="Arial"/>
                <a:ea typeface="Arial"/>
                <a:cs typeface="Arial"/>
              </a:defRPr>
            </a:defPPr>
          </a:lstStyle>
          <a:p xmlns:a="http://schemas.openxmlformats.org/drawingml/2006/main">
            <a:pPr algn="l">
              <a:lnSpc>
                <a:spcPct val="112000"/>
              </a:lnSpc>
              <a:buNone/>
              <a:defRPr sz="2500" b="0">
                <a:solidFill>
                  <a:srgbClr val="F2E8D5"/>
                </a:solidFill>
                <a:latin typeface="Arial"/>
                <a:ea typeface="Arial"/>
                <a:cs typeface="Arial"/>
              </a:defRPr>
            </a:pPr>
            <a:r>
              <a:rPr sz="2500" b="0">
                <a:solidFill>
                  <a:srgbClr val="F2E8D5"/>
                </a:solidFill>
                <a:latin typeface="Arial"/>
                <a:ea typeface="Arial"/>
                <a:cs typeface="Arial"/>
              </a:rPr>
              <a:t>One clear setting and two sensory details.</a:t>
            </a:r>
          </a:p>
        </p:txBody>
      </p:sp>
      <p:sp>
        <p:nvSpPr>
          <p:cNvPr id="10" name="criterion-2">
            <a:extLst xmlns:a="http://schemas.openxmlformats.org/drawingml/2006/main">
              <a:ext uri="{FF2B5EF4-FFF2-40B4-BE49-F238E27FC236}">
                <a16:creationId xmlns:a16="http://schemas.microsoft.com/office/drawing/2014/main" id="{5EFD31E8-7792-4DB6-860D-912FFAD35758}"/>
              </a:ext>
            </a:extLst>
          </p:cNvPr>
          <p:cNvSpPr>
            <a:spLocks xmlns:a="http://schemas.openxmlformats.org/drawingml/2006/main" noGrp="1"/>
          </p:cNvSpPr>
          <p:nvPr/>
        </p:nvSpPr>
        <p:spPr>
          <a:xfrm xmlns:a="http://schemas.openxmlformats.org/drawingml/2006/main">
            <a:off x="5715000" y="5295900"/>
            <a:ext cx="57912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00" b="0">
                <a:solidFill>
                  <a:srgbClr val="F2E8D5"/>
                </a:solidFill>
                <a:latin typeface="Arial"/>
                <a:ea typeface="Arial"/>
                <a:cs typeface="Arial"/>
              </a:defRPr>
            </a:defPPr>
          </a:lstStyle>
          <a:p xmlns:a="http://schemas.openxmlformats.org/drawingml/2006/main">
            <a:pPr algn="l">
              <a:lnSpc>
                <a:spcPct val="112000"/>
              </a:lnSpc>
              <a:buNone/>
              <a:defRPr sz="2500" b="0">
                <a:solidFill>
                  <a:srgbClr val="F2E8D5"/>
                </a:solidFill>
                <a:latin typeface="Arial"/>
                <a:ea typeface="Arial"/>
                <a:cs typeface="Arial"/>
              </a:defRPr>
            </a:pPr>
            <a:r>
              <a:rPr sz="2500" b="0">
                <a:solidFill>
                  <a:srgbClr val="F2E8D5"/>
                </a:solidFill>
                <a:latin typeface="Arial"/>
                <a:ea typeface="Arial"/>
                <a:cs typeface="Arial"/>
              </a:rPr>
              <a:t>An ending that shows a changed understanding.</a:t>
            </a:r>
          </a:p>
        </p:txBody>
      </p:sp>
      <p:sp>
        <p:nvSpPr>
          <p:cNvPr id="11" name="template-capacity-guide">
            <a:extLst xmlns:a="http://schemas.openxmlformats.org/drawingml/2006/main">
              <a:ext uri="{FF2B5EF4-FFF2-40B4-BE49-F238E27FC236}">
                <a16:creationId xmlns:a16="http://schemas.microsoft.com/office/drawing/2014/main" id="{876A3AEF-4649-4EC3-8424-A4E8F37AEEF1}"/>
              </a:ext>
            </a:extLst>
          </p:cNvPr>
          <p:cNvSpPr>
            <a:spLocks xmlns:a="http://schemas.openxmlformats.org/drawingml/2006/main" noGrp="1"/>
          </p:cNvSpPr>
          <p:nvPr/>
        </p:nvSpPr>
        <p:spPr>
          <a:xfrm xmlns:a="http://schemas.openxmlformats.org/drawingml/2006/main">
            <a:off x="685800" y="6343650"/>
            <a:ext cx="108204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00" b="0">
                <a:solidFill>
                  <a:srgbClr val="B89B5E"/>
                </a:solidFill>
                <a:latin typeface="Arial"/>
                <a:ea typeface="Arial"/>
                <a:cs typeface="Arial"/>
              </a:defRPr>
            </a:defPPr>
          </a:lstStyle>
          <a:p xmlns:a="http://schemas.openxmlformats.org/drawingml/2006/main">
            <a:pPr algn="l">
              <a:lnSpc>
                <a:spcPct val="112000"/>
              </a:lnSpc>
              <a:buNone/>
              <a:defRPr sz="1600" b="0">
                <a:solidFill>
                  <a:srgbClr val="B89B5E"/>
                </a:solidFill>
                <a:latin typeface="Arial"/>
                <a:ea typeface="Arial"/>
                <a:cs typeface="Arial"/>
              </a:defRPr>
            </a:pPr>
            <a:r>
              <a:rPr sz="1600" b="0">
                <a:solidFill>
                  <a:srgbClr val="B89B5E"/>
                </a:solidFill>
                <a:latin typeface="Arial"/>
                <a:ea typeface="Arial"/>
                <a:cs typeface="Arial"/>
              </a:rPr>
              <a:t>Example: a 16-word prompt, clear constraints and two criteria</a:t>
            </a:r>
          </a:p>
        </p:txBody>
      </p:sp>
    </p:spTree>
    <p:extLst>
      <p:ext uri="{BB962C8B-B14F-4D97-AF65-F5344CB8AC3E}">
        <p14:creationId xmlns:p14="http://schemas.microsoft.com/office/powerpoint/2010/main" val="756051011"/>
      </p:ext>
    </p:extLst>
  </p:cSld>
</p:sld>
</file>

<file path=ppt/slides/slide18.xml><?xml version="1.0" encoding="utf-8"?>
<p:sld xmlns:p="http://schemas.openxmlformats.org/presentationml/2006/main">
  <p:cSld>
    <p:bg>
      <p:bgPr>
        <a:solidFill xmlns:a="http://schemas.openxmlformats.org/drawingml/2006/main">
          <a:srgbClr val="E9D8B6"/>
        </a:solidFill>
      </p:bgPr>
    </p:bg>
    <p:spTree>
      <p:nvGrpSpPr>
        <p:cNvPr id="1" name=""/>
        <p:cNvGrpSpPr/>
        <p:nvPr/>
      </p:nvGrpSpPr>
      <p:grpSpPr>
        <a:xfrm xmlns:a="http://schemas.openxmlformats.org/drawingml/2006/main"/>
      </p:grpSpPr>
      <p:sp>
        <p:nvSpPr>
          <p:cNvPr id="16" name="template-label">
            <a:extLst xmlns:a="http://schemas.openxmlformats.org/drawingml/2006/main">
              <a:ext uri="{FF2B5EF4-FFF2-40B4-BE49-F238E27FC236}">
                <a16:creationId xmlns:a16="http://schemas.microsoft.com/office/drawing/2014/main" id="{8C615C5A-58D3-4170-977C-55330BC1EF3D}"/>
              </a:ext>
            </a:extLst>
          </p:cNvPr>
          <p:cNvSpPr>
            <a:spLocks xmlns:a="http://schemas.openxmlformats.org/drawingml/2006/main" noGrp="1"/>
          </p:cNvSpPr>
          <p:nvPr/>
        </p:nvSpPr>
        <p:spPr>
          <a:xfrm xmlns:a="http://schemas.openxmlformats.org/drawingml/2006/main">
            <a:off x="685800" y="285750"/>
            <a:ext cx="10820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00" b="1">
                <a:solidFill>
                  <a:srgbClr val="5C2230"/>
                </a:solidFill>
                <a:latin typeface="Arial"/>
                <a:ea typeface="Arial"/>
                <a:cs typeface="Arial"/>
              </a:defRPr>
            </a:defPPr>
          </a:lstStyle>
          <a:p xmlns:a="http://schemas.openxmlformats.org/drawingml/2006/main">
            <a:pPr algn="l">
              <a:lnSpc>
                <a:spcPct val="112000"/>
              </a:lnSpc>
              <a:buNone/>
              <a:defRPr sz="1700" b="1">
                <a:solidFill>
                  <a:srgbClr val="5C2230"/>
                </a:solidFill>
                <a:latin typeface="Arial"/>
                <a:ea typeface="Arial"/>
                <a:cs typeface="Arial"/>
              </a:defRPr>
            </a:pPr>
            <a:r>
              <a:rPr sz="1700" b="1">
                <a:solidFill>
                  <a:srgbClr val="5C2230"/>
                </a:solidFill>
                <a:latin typeface="Arial"/>
                <a:ea typeface="Arial"/>
                <a:cs typeface="Arial"/>
              </a:rPr>
              <a:t>18  WRITING INSTRUCTIONS / TIMED WORKSHOP</a:t>
            </a:r>
          </a:p>
        </p:txBody>
      </p:sp>
      <p:sp>
        <p:nvSpPr>
          <p:cNvPr id="2" name="heading">
            <a:extLst xmlns:a="http://schemas.openxmlformats.org/drawingml/2006/main">
              <a:ext uri="{FF2B5EF4-FFF2-40B4-BE49-F238E27FC236}">
                <a16:creationId xmlns:a16="http://schemas.microsoft.com/office/drawing/2014/main" id="{046F7758-7E96-4527-9C3E-92B0978C3E2E}"/>
              </a:ext>
            </a:extLst>
          </p:cNvPr>
          <p:cNvSpPr>
            <a:spLocks xmlns:a="http://schemas.openxmlformats.org/drawingml/2006/main" noGrp="1"/>
          </p:cNvSpPr>
          <p:nvPr/>
        </p:nvSpPr>
        <p:spPr>
          <a:xfrm xmlns:a="http://schemas.openxmlformats.org/drawingml/2006/main">
            <a:off x="685800" y="83820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800" b="1">
                <a:solidFill>
                  <a:srgbClr val="211B16"/>
                </a:solidFill>
                <a:latin typeface="Georgia"/>
                <a:ea typeface="Georgia"/>
                <a:cs typeface="Georgia"/>
              </a:defRPr>
            </a:defPPr>
          </a:lstStyle>
          <a:p xmlns:a="http://schemas.openxmlformats.org/drawingml/2006/main">
            <a:pPr algn="l">
              <a:lnSpc>
                <a:spcPct val="112000"/>
              </a:lnSpc>
              <a:buNone/>
              <a:defRPr sz="3800" b="1">
                <a:solidFill>
                  <a:srgbClr val="211B16"/>
                </a:solidFill>
                <a:latin typeface="Georgia"/>
                <a:ea typeface="Georgia"/>
                <a:cs typeface="Georgia"/>
              </a:defRPr>
            </a:pPr>
            <a:r>
              <a:rPr sz="3800" b="1">
                <a:solidFill>
                  <a:srgbClr val="211B16"/>
                </a:solidFill>
                <a:latin typeface="Georgia"/>
                <a:ea typeface="Georgia"/>
                <a:cs typeface="Georgia"/>
              </a:rPr>
              <a:t>A thirteen-minute writing workshop</a:t>
            </a:r>
          </a:p>
        </p:txBody>
      </p:sp>
      <p:sp>
        <p:nvSpPr>
          <p:cNvPr id="3" name="time-0">
            <a:extLst xmlns:a="http://schemas.openxmlformats.org/drawingml/2006/main">
              <a:ext uri="{FF2B5EF4-FFF2-40B4-BE49-F238E27FC236}">
                <a16:creationId xmlns:a16="http://schemas.microsoft.com/office/drawing/2014/main" id="{BE8836C4-BDC4-458B-8105-D121F720CD70}"/>
              </a:ext>
            </a:extLst>
          </p:cNvPr>
          <p:cNvSpPr>
            <a:spLocks xmlns:a="http://schemas.openxmlformats.org/drawingml/2006/main" noGrp="1"/>
          </p:cNvSpPr>
          <p:nvPr/>
        </p:nvSpPr>
        <p:spPr>
          <a:xfrm xmlns:a="http://schemas.openxmlformats.org/drawingml/2006/main">
            <a:off x="685800" y="2143125"/>
            <a:ext cx="2095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00" b="1">
                <a:solidFill>
                  <a:srgbClr val="5C2230"/>
                </a:solidFill>
                <a:latin typeface="Arial"/>
                <a:ea typeface="Arial"/>
                <a:cs typeface="Arial"/>
              </a:defRPr>
            </a:defPPr>
          </a:lstStyle>
          <a:p xmlns:a="http://schemas.openxmlformats.org/drawingml/2006/main">
            <a:pPr algn="l">
              <a:lnSpc>
                <a:spcPct val="112000"/>
              </a:lnSpc>
              <a:buNone/>
              <a:defRPr sz="2800" b="1">
                <a:solidFill>
                  <a:srgbClr val="5C2230"/>
                </a:solidFill>
                <a:latin typeface="Arial"/>
                <a:ea typeface="Arial"/>
                <a:cs typeface="Arial"/>
              </a:defRPr>
            </a:pPr>
            <a:r>
              <a:rPr sz="2800" b="1">
                <a:solidFill>
                  <a:srgbClr val="5C2230"/>
                </a:solidFill>
                <a:latin typeface="Arial"/>
                <a:ea typeface="Arial"/>
                <a:cs typeface="Arial"/>
              </a:rPr>
              <a:t>2 MIN</a:t>
            </a:r>
          </a:p>
        </p:txBody>
      </p:sp>
      <p:sp>
        <p:nvSpPr>
          <p:cNvPr id="4" name="step-0">
            <a:extLst xmlns:a="http://schemas.openxmlformats.org/drawingml/2006/main">
              <a:ext uri="{FF2B5EF4-FFF2-40B4-BE49-F238E27FC236}">
                <a16:creationId xmlns:a16="http://schemas.microsoft.com/office/drawing/2014/main" id="{218B06F0-83E7-4ABC-AABF-C1EC15A560F3}"/>
              </a:ext>
            </a:extLst>
          </p:cNvPr>
          <p:cNvSpPr>
            <a:spLocks xmlns:a="http://schemas.openxmlformats.org/drawingml/2006/main" noGrp="1"/>
          </p:cNvSpPr>
          <p:nvPr/>
        </p:nvSpPr>
        <p:spPr>
          <a:xfrm xmlns:a="http://schemas.openxmlformats.org/drawingml/2006/main">
            <a:off x="3143250" y="2095500"/>
            <a:ext cx="23812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211B16"/>
                </a:solidFill>
                <a:latin typeface="Georgia"/>
                <a:ea typeface="Georgia"/>
                <a:cs typeface="Georgia"/>
              </a:defRPr>
            </a:defPPr>
          </a:lstStyle>
          <a:p xmlns:a="http://schemas.openxmlformats.org/drawingml/2006/main">
            <a:pPr algn="l">
              <a:lnSpc>
                <a:spcPct val="112000"/>
              </a:lnSpc>
              <a:buNone/>
              <a:defRPr sz="3000" b="1">
                <a:solidFill>
                  <a:srgbClr val="211B16"/>
                </a:solidFill>
                <a:latin typeface="Georgia"/>
                <a:ea typeface="Georgia"/>
                <a:cs typeface="Georgia"/>
              </a:defRPr>
            </a:pPr>
            <a:r>
              <a:rPr sz="3000" b="1">
                <a:solidFill>
                  <a:srgbClr val="211B16"/>
                </a:solidFill>
                <a:latin typeface="Georgia"/>
                <a:ea typeface="Georgia"/>
                <a:cs typeface="Georgia"/>
              </a:rPr>
              <a:t>Plan</a:t>
            </a:r>
          </a:p>
        </p:txBody>
      </p:sp>
      <p:sp>
        <p:nvSpPr>
          <p:cNvPr id="5" name="instruction-0">
            <a:extLst xmlns:a="http://schemas.openxmlformats.org/drawingml/2006/main">
              <a:ext uri="{FF2B5EF4-FFF2-40B4-BE49-F238E27FC236}">
                <a16:creationId xmlns:a16="http://schemas.microsoft.com/office/drawing/2014/main" id="{5AEB9646-2100-492E-BCC2-D89FCF7DF1AF}"/>
              </a:ext>
            </a:extLst>
          </p:cNvPr>
          <p:cNvSpPr>
            <a:spLocks xmlns:a="http://schemas.openxmlformats.org/drawingml/2006/main" noGrp="1"/>
          </p:cNvSpPr>
          <p:nvPr/>
        </p:nvSpPr>
        <p:spPr>
          <a:xfrm xmlns:a="http://schemas.openxmlformats.org/drawingml/2006/main">
            <a:off x="5981700" y="2114550"/>
            <a:ext cx="552450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600" b="0">
                <a:solidFill>
                  <a:srgbClr val="211B16"/>
                </a:solidFill>
                <a:latin typeface="Arial"/>
                <a:ea typeface="Arial"/>
                <a:cs typeface="Arial"/>
              </a:defRPr>
            </a:defPPr>
          </a:lstStyle>
          <a:p xmlns:a="http://schemas.openxmlformats.org/drawingml/2006/main">
            <a:pPr algn="l">
              <a:lnSpc>
                <a:spcPct val="112000"/>
              </a:lnSpc>
              <a:buNone/>
              <a:defRPr sz="2600" b="0">
                <a:solidFill>
                  <a:srgbClr val="211B16"/>
                </a:solidFill>
                <a:latin typeface="Arial"/>
                <a:ea typeface="Arial"/>
                <a:cs typeface="Arial"/>
              </a:defRPr>
            </a:pPr>
            <a:r>
              <a:rPr sz="2600" b="0">
                <a:solidFill>
                  <a:srgbClr val="211B16"/>
                </a:solidFill>
                <a:latin typeface="Arial"/>
                <a:ea typeface="Arial"/>
                <a:cs typeface="Arial"/>
              </a:rPr>
              <a:t>Choose the object, the person and the change.</a:t>
            </a:r>
          </a:p>
        </p:txBody>
      </p:sp>
      <p:sp>
        <p:nvSpPr>
          <p:cNvPr id="6" name="rule">
            <a:extLst xmlns:a="http://schemas.openxmlformats.org/drawingml/2006/main">
              <a:ext uri="{FF2B5EF4-FFF2-40B4-BE49-F238E27FC236}">
                <a16:creationId xmlns:a16="http://schemas.microsoft.com/office/drawing/2014/main" id="{60A2BAA6-F44B-445D-B0E9-8B203E3406BB}"/>
              </a:ext>
            </a:extLst>
          </p:cNvPr>
          <p:cNvSpPr>
            <a:spLocks xmlns:a="http://schemas.openxmlformats.org/drawingml/2006/main" noGrp="1"/>
          </p:cNvSpPr>
          <p:nvPr/>
        </p:nvSpPr>
        <p:spPr>
          <a:xfrm xmlns:a="http://schemas.openxmlformats.org/drawingml/2006/main">
            <a:off x="685800" y="3105150"/>
            <a:ext cx="10820400" cy="19050"/>
          </a:xfrm>
          <a:prstGeom xmlns:a="http://schemas.openxmlformats.org/drawingml/2006/main" prst="rect">
            <a:avLst/>
          </a:prstGeom>
          <a:solidFill xmlns:a="http://schemas.openxmlformats.org/drawingml/2006/main">
            <a:srgbClr val="5C2230"/>
          </a:solidFill>
          <a:ln xmlns:a="http://schemas.openxmlformats.org/drawingml/2006/main" w="0">
            <a:noFill/>
          </a:ln>
        </p:spPr>
      </p:sp>
      <p:sp>
        <p:nvSpPr>
          <p:cNvPr id="7" name="time-1">
            <a:extLst xmlns:a="http://schemas.openxmlformats.org/drawingml/2006/main">
              <a:ext uri="{FF2B5EF4-FFF2-40B4-BE49-F238E27FC236}">
                <a16:creationId xmlns:a16="http://schemas.microsoft.com/office/drawing/2014/main" id="{F28BB597-5081-463D-814B-2B392C94F0BB}"/>
              </a:ext>
            </a:extLst>
          </p:cNvPr>
          <p:cNvSpPr>
            <a:spLocks xmlns:a="http://schemas.openxmlformats.org/drawingml/2006/main" noGrp="1"/>
          </p:cNvSpPr>
          <p:nvPr/>
        </p:nvSpPr>
        <p:spPr>
          <a:xfrm xmlns:a="http://schemas.openxmlformats.org/drawingml/2006/main">
            <a:off x="685800" y="3314700"/>
            <a:ext cx="2095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00" b="1">
                <a:solidFill>
                  <a:srgbClr val="5C2230"/>
                </a:solidFill>
                <a:latin typeface="Arial"/>
                <a:ea typeface="Arial"/>
                <a:cs typeface="Arial"/>
              </a:defRPr>
            </a:defPPr>
          </a:lstStyle>
          <a:p xmlns:a="http://schemas.openxmlformats.org/drawingml/2006/main">
            <a:pPr algn="l">
              <a:lnSpc>
                <a:spcPct val="112000"/>
              </a:lnSpc>
              <a:buNone/>
              <a:defRPr sz="2800" b="1">
                <a:solidFill>
                  <a:srgbClr val="5C2230"/>
                </a:solidFill>
                <a:latin typeface="Arial"/>
                <a:ea typeface="Arial"/>
                <a:cs typeface="Arial"/>
              </a:defRPr>
            </a:pPr>
            <a:r>
              <a:rPr sz="2800" b="1">
                <a:solidFill>
                  <a:srgbClr val="5C2230"/>
                </a:solidFill>
                <a:latin typeface="Arial"/>
                <a:ea typeface="Arial"/>
                <a:cs typeface="Arial"/>
              </a:rPr>
              <a:t>8 MIN</a:t>
            </a:r>
          </a:p>
        </p:txBody>
      </p:sp>
      <p:sp>
        <p:nvSpPr>
          <p:cNvPr id="8" name="step-1">
            <a:extLst xmlns:a="http://schemas.openxmlformats.org/drawingml/2006/main">
              <a:ext uri="{FF2B5EF4-FFF2-40B4-BE49-F238E27FC236}">
                <a16:creationId xmlns:a16="http://schemas.microsoft.com/office/drawing/2014/main" id="{B942583A-17A2-48E6-B5F7-8AE4D0478A15}"/>
              </a:ext>
            </a:extLst>
          </p:cNvPr>
          <p:cNvSpPr>
            <a:spLocks xmlns:a="http://schemas.openxmlformats.org/drawingml/2006/main" noGrp="1"/>
          </p:cNvSpPr>
          <p:nvPr/>
        </p:nvSpPr>
        <p:spPr>
          <a:xfrm xmlns:a="http://schemas.openxmlformats.org/drawingml/2006/main">
            <a:off x="3143250" y="3267075"/>
            <a:ext cx="23812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211B16"/>
                </a:solidFill>
                <a:latin typeface="Georgia"/>
                <a:ea typeface="Georgia"/>
                <a:cs typeface="Georgia"/>
              </a:defRPr>
            </a:defPPr>
          </a:lstStyle>
          <a:p xmlns:a="http://schemas.openxmlformats.org/drawingml/2006/main">
            <a:pPr algn="l">
              <a:lnSpc>
                <a:spcPct val="112000"/>
              </a:lnSpc>
              <a:buNone/>
              <a:defRPr sz="3000" b="1">
                <a:solidFill>
                  <a:srgbClr val="211B16"/>
                </a:solidFill>
                <a:latin typeface="Georgia"/>
                <a:ea typeface="Georgia"/>
                <a:cs typeface="Georgia"/>
              </a:defRPr>
            </a:pPr>
            <a:r>
              <a:rPr sz="3000" b="1">
                <a:solidFill>
                  <a:srgbClr val="211B16"/>
                </a:solidFill>
                <a:latin typeface="Georgia"/>
                <a:ea typeface="Georgia"/>
                <a:cs typeface="Georgia"/>
              </a:rPr>
              <a:t>Draft</a:t>
            </a:r>
          </a:p>
        </p:txBody>
      </p:sp>
      <p:sp>
        <p:nvSpPr>
          <p:cNvPr id="9" name="instruction-1">
            <a:extLst xmlns:a="http://schemas.openxmlformats.org/drawingml/2006/main">
              <a:ext uri="{FF2B5EF4-FFF2-40B4-BE49-F238E27FC236}">
                <a16:creationId xmlns:a16="http://schemas.microsoft.com/office/drawing/2014/main" id="{17BC4FF7-E6BF-4EF7-B593-49DD07DE8BBE}"/>
              </a:ext>
            </a:extLst>
          </p:cNvPr>
          <p:cNvSpPr>
            <a:spLocks xmlns:a="http://schemas.openxmlformats.org/drawingml/2006/main" noGrp="1"/>
          </p:cNvSpPr>
          <p:nvPr/>
        </p:nvSpPr>
        <p:spPr>
          <a:xfrm xmlns:a="http://schemas.openxmlformats.org/drawingml/2006/main">
            <a:off x="5981700" y="3286125"/>
            <a:ext cx="552450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600" b="0">
                <a:solidFill>
                  <a:srgbClr val="211B16"/>
                </a:solidFill>
                <a:latin typeface="Arial"/>
                <a:ea typeface="Arial"/>
                <a:cs typeface="Arial"/>
              </a:defRPr>
            </a:defPPr>
          </a:lstStyle>
          <a:p xmlns:a="http://schemas.openxmlformats.org/drawingml/2006/main">
            <a:pPr algn="l">
              <a:lnSpc>
                <a:spcPct val="112000"/>
              </a:lnSpc>
              <a:buNone/>
              <a:defRPr sz="2600" b="0">
                <a:solidFill>
                  <a:srgbClr val="211B16"/>
                </a:solidFill>
                <a:latin typeface="Arial"/>
                <a:ea typeface="Arial"/>
                <a:cs typeface="Arial"/>
              </a:defRPr>
            </a:pPr>
            <a:r>
              <a:rPr sz="2600" b="0">
                <a:solidFill>
                  <a:srgbClr val="211B16"/>
                </a:solidFill>
                <a:latin typeface="Arial"/>
                <a:ea typeface="Arial"/>
                <a:cs typeface="Arial"/>
              </a:rPr>
              <a:t>Write the scene from one character’s point of view.</a:t>
            </a:r>
          </a:p>
        </p:txBody>
      </p:sp>
      <p:sp>
        <p:nvSpPr>
          <p:cNvPr id="10" name="rule">
            <a:extLst xmlns:a="http://schemas.openxmlformats.org/drawingml/2006/main">
              <a:ext uri="{FF2B5EF4-FFF2-40B4-BE49-F238E27FC236}">
                <a16:creationId xmlns:a16="http://schemas.microsoft.com/office/drawing/2014/main" id="{F91A54B8-E0E7-4E1B-9DBC-8E4444E421A1}"/>
              </a:ext>
            </a:extLst>
          </p:cNvPr>
          <p:cNvSpPr>
            <a:spLocks xmlns:a="http://schemas.openxmlformats.org/drawingml/2006/main" noGrp="1"/>
          </p:cNvSpPr>
          <p:nvPr/>
        </p:nvSpPr>
        <p:spPr>
          <a:xfrm xmlns:a="http://schemas.openxmlformats.org/drawingml/2006/main">
            <a:off x="685800" y="4276725"/>
            <a:ext cx="10820400" cy="19050"/>
          </a:xfrm>
          <a:prstGeom xmlns:a="http://schemas.openxmlformats.org/drawingml/2006/main" prst="rect">
            <a:avLst/>
          </a:prstGeom>
          <a:solidFill xmlns:a="http://schemas.openxmlformats.org/drawingml/2006/main">
            <a:srgbClr val="5C2230"/>
          </a:solidFill>
          <a:ln xmlns:a="http://schemas.openxmlformats.org/drawingml/2006/main" w="0">
            <a:noFill/>
          </a:ln>
        </p:spPr>
      </p:sp>
      <p:sp>
        <p:nvSpPr>
          <p:cNvPr id="11" name="time-2">
            <a:extLst xmlns:a="http://schemas.openxmlformats.org/drawingml/2006/main">
              <a:ext uri="{FF2B5EF4-FFF2-40B4-BE49-F238E27FC236}">
                <a16:creationId xmlns:a16="http://schemas.microsoft.com/office/drawing/2014/main" id="{AEC74759-F0C7-4AD4-823E-BABD6CAD0A71}"/>
              </a:ext>
            </a:extLst>
          </p:cNvPr>
          <p:cNvSpPr>
            <a:spLocks xmlns:a="http://schemas.openxmlformats.org/drawingml/2006/main" noGrp="1"/>
          </p:cNvSpPr>
          <p:nvPr/>
        </p:nvSpPr>
        <p:spPr>
          <a:xfrm xmlns:a="http://schemas.openxmlformats.org/drawingml/2006/main">
            <a:off x="685800" y="4486275"/>
            <a:ext cx="2095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00" b="1">
                <a:solidFill>
                  <a:srgbClr val="5C2230"/>
                </a:solidFill>
                <a:latin typeface="Arial"/>
                <a:ea typeface="Arial"/>
                <a:cs typeface="Arial"/>
              </a:defRPr>
            </a:defPPr>
          </a:lstStyle>
          <a:p xmlns:a="http://schemas.openxmlformats.org/drawingml/2006/main">
            <a:pPr algn="l">
              <a:lnSpc>
                <a:spcPct val="112000"/>
              </a:lnSpc>
              <a:buNone/>
              <a:defRPr sz="2800" b="1">
                <a:solidFill>
                  <a:srgbClr val="5C2230"/>
                </a:solidFill>
                <a:latin typeface="Arial"/>
                <a:ea typeface="Arial"/>
                <a:cs typeface="Arial"/>
              </a:defRPr>
            </a:pPr>
            <a:r>
              <a:rPr sz="2800" b="1">
                <a:solidFill>
                  <a:srgbClr val="5C2230"/>
                </a:solidFill>
                <a:latin typeface="Arial"/>
                <a:ea typeface="Arial"/>
                <a:cs typeface="Arial"/>
              </a:rPr>
              <a:t>3 MIN</a:t>
            </a:r>
          </a:p>
        </p:txBody>
      </p:sp>
      <p:sp>
        <p:nvSpPr>
          <p:cNvPr id="12" name="step-2">
            <a:extLst xmlns:a="http://schemas.openxmlformats.org/drawingml/2006/main">
              <a:ext uri="{FF2B5EF4-FFF2-40B4-BE49-F238E27FC236}">
                <a16:creationId xmlns:a16="http://schemas.microsoft.com/office/drawing/2014/main" id="{21769373-8603-43FC-8ED4-59C3FC8018E5}"/>
              </a:ext>
            </a:extLst>
          </p:cNvPr>
          <p:cNvSpPr>
            <a:spLocks xmlns:a="http://schemas.openxmlformats.org/drawingml/2006/main" noGrp="1"/>
          </p:cNvSpPr>
          <p:nvPr/>
        </p:nvSpPr>
        <p:spPr>
          <a:xfrm xmlns:a="http://schemas.openxmlformats.org/drawingml/2006/main">
            <a:off x="3143250" y="4438650"/>
            <a:ext cx="23812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211B16"/>
                </a:solidFill>
                <a:latin typeface="Georgia"/>
                <a:ea typeface="Georgia"/>
                <a:cs typeface="Georgia"/>
              </a:defRPr>
            </a:defPPr>
          </a:lstStyle>
          <a:p xmlns:a="http://schemas.openxmlformats.org/drawingml/2006/main">
            <a:pPr algn="l">
              <a:lnSpc>
                <a:spcPct val="112000"/>
              </a:lnSpc>
              <a:buNone/>
              <a:defRPr sz="3000" b="1">
                <a:solidFill>
                  <a:srgbClr val="211B16"/>
                </a:solidFill>
                <a:latin typeface="Georgia"/>
                <a:ea typeface="Georgia"/>
                <a:cs typeface="Georgia"/>
              </a:defRPr>
            </a:pPr>
            <a:r>
              <a:rPr sz="3000" b="1">
                <a:solidFill>
                  <a:srgbClr val="211B16"/>
                </a:solidFill>
                <a:latin typeface="Georgia"/>
                <a:ea typeface="Georgia"/>
                <a:cs typeface="Georgia"/>
              </a:rPr>
              <a:t>Revise</a:t>
            </a:r>
          </a:p>
        </p:txBody>
      </p:sp>
      <p:sp>
        <p:nvSpPr>
          <p:cNvPr id="13" name="instruction-2">
            <a:extLst xmlns:a="http://schemas.openxmlformats.org/drawingml/2006/main">
              <a:ext uri="{FF2B5EF4-FFF2-40B4-BE49-F238E27FC236}">
                <a16:creationId xmlns:a16="http://schemas.microsoft.com/office/drawing/2014/main" id="{5F86FABE-E39B-4E98-83B2-2A0529242470}"/>
              </a:ext>
            </a:extLst>
          </p:cNvPr>
          <p:cNvSpPr>
            <a:spLocks xmlns:a="http://schemas.openxmlformats.org/drawingml/2006/main" noGrp="1"/>
          </p:cNvSpPr>
          <p:nvPr/>
        </p:nvSpPr>
        <p:spPr>
          <a:xfrm xmlns:a="http://schemas.openxmlformats.org/drawingml/2006/main">
            <a:off x="5981700" y="4457700"/>
            <a:ext cx="552450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600" b="0">
                <a:solidFill>
                  <a:srgbClr val="211B16"/>
                </a:solidFill>
                <a:latin typeface="Arial"/>
                <a:ea typeface="Arial"/>
                <a:cs typeface="Arial"/>
              </a:defRPr>
            </a:defPPr>
          </a:lstStyle>
          <a:p xmlns:a="http://schemas.openxmlformats.org/drawingml/2006/main">
            <a:pPr algn="l">
              <a:lnSpc>
                <a:spcPct val="112000"/>
              </a:lnSpc>
              <a:buNone/>
              <a:defRPr sz="2600" b="0">
                <a:solidFill>
                  <a:srgbClr val="211B16"/>
                </a:solidFill>
                <a:latin typeface="Arial"/>
                <a:ea typeface="Arial"/>
                <a:cs typeface="Arial"/>
              </a:defRPr>
            </a:pPr>
            <a:r>
              <a:rPr sz="2600" b="0">
                <a:solidFill>
                  <a:srgbClr val="211B16"/>
                </a:solidFill>
                <a:latin typeface="Arial"/>
                <a:ea typeface="Arial"/>
                <a:cs typeface="Arial"/>
              </a:rPr>
              <a:t>Replace one vague sentence with a concrete detail.</a:t>
            </a:r>
          </a:p>
        </p:txBody>
      </p:sp>
      <p:sp>
        <p:nvSpPr>
          <p:cNvPr id="14" name="outcome">
            <a:extLst xmlns:a="http://schemas.openxmlformats.org/drawingml/2006/main">
              <a:ext uri="{FF2B5EF4-FFF2-40B4-BE49-F238E27FC236}">
                <a16:creationId xmlns:a16="http://schemas.microsoft.com/office/drawing/2014/main" id="{EBC9C512-CBB9-4AAB-8212-67358FB5B7F3}"/>
              </a:ext>
            </a:extLst>
          </p:cNvPr>
          <p:cNvSpPr>
            <a:spLocks xmlns:a="http://schemas.openxmlformats.org/drawingml/2006/main" noGrp="1"/>
          </p:cNvSpPr>
          <p:nvPr/>
        </p:nvSpPr>
        <p:spPr>
          <a:xfrm xmlns:a="http://schemas.openxmlformats.org/drawingml/2006/main">
            <a:off x="685800" y="5791200"/>
            <a:ext cx="108204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00" b="1">
                <a:solidFill>
                  <a:srgbClr val="5C2230"/>
                </a:solidFill>
                <a:latin typeface="Arial"/>
                <a:ea typeface="Arial"/>
                <a:cs typeface="Arial"/>
              </a:defRPr>
            </a:defPPr>
          </a:lstStyle>
          <a:p xmlns:a="http://schemas.openxmlformats.org/drawingml/2006/main">
            <a:pPr algn="l">
              <a:lnSpc>
                <a:spcPct val="112000"/>
              </a:lnSpc>
              <a:buNone/>
              <a:defRPr sz="2500" b="1">
                <a:solidFill>
                  <a:srgbClr val="5C2230"/>
                </a:solidFill>
                <a:latin typeface="Arial"/>
                <a:ea typeface="Arial"/>
                <a:cs typeface="Arial"/>
              </a:defRPr>
            </a:pPr>
            <a:r>
              <a:rPr sz="2500" b="1">
                <a:solidFill>
                  <a:srgbClr val="5C2230"/>
                </a:solidFill>
                <a:latin typeface="Arial"/>
                <a:ea typeface="Arial"/>
                <a:cs typeface="Arial"/>
              </a:rPr>
              <a:t>Finish with a complete scene and one visible revision.</a:t>
            </a:r>
          </a:p>
        </p:txBody>
      </p:sp>
      <p:sp>
        <p:nvSpPr>
          <p:cNvPr id="15" name="template-capacity-guide">
            <a:extLst xmlns:a="http://schemas.openxmlformats.org/drawingml/2006/main">
              <a:ext uri="{FF2B5EF4-FFF2-40B4-BE49-F238E27FC236}">
                <a16:creationId xmlns:a16="http://schemas.microsoft.com/office/drawing/2014/main" id="{1F48FEFA-47E4-4C1E-8BDB-DC5371522CAA}"/>
              </a:ext>
            </a:extLst>
          </p:cNvPr>
          <p:cNvSpPr>
            <a:spLocks xmlns:a="http://schemas.openxmlformats.org/drawingml/2006/main" noGrp="1"/>
          </p:cNvSpPr>
          <p:nvPr/>
        </p:nvSpPr>
        <p:spPr>
          <a:xfrm xmlns:a="http://schemas.openxmlformats.org/drawingml/2006/main">
            <a:off x="685800" y="6343650"/>
            <a:ext cx="108204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00" b="0">
                <a:solidFill>
                  <a:srgbClr val="5C2230"/>
                </a:solidFill>
                <a:latin typeface="Arial"/>
                <a:ea typeface="Arial"/>
                <a:cs typeface="Arial"/>
              </a:defRPr>
            </a:defPPr>
          </a:lstStyle>
          <a:p xmlns:a="http://schemas.openxmlformats.org/drawingml/2006/main">
            <a:pPr algn="l">
              <a:lnSpc>
                <a:spcPct val="112000"/>
              </a:lnSpc>
              <a:buNone/>
              <a:defRPr sz="1600" b="0">
                <a:solidFill>
                  <a:srgbClr val="5C2230"/>
                </a:solidFill>
                <a:latin typeface="Arial"/>
                <a:ea typeface="Arial"/>
                <a:cs typeface="Arial"/>
              </a:defRPr>
            </a:pPr>
            <a:r>
              <a:rPr sz="1600" b="0">
                <a:solidFill>
                  <a:srgbClr val="5C2230"/>
                </a:solidFill>
                <a:latin typeface="Arial"/>
                <a:ea typeface="Arial"/>
                <a:cs typeface="Arial"/>
              </a:rPr>
              <a:t>Example: three timed steps with one short instruction each</a:t>
            </a:r>
          </a:p>
        </p:txBody>
      </p:sp>
    </p:spTree>
    <p:extLst>
      <p:ext uri="{BB962C8B-B14F-4D97-AF65-F5344CB8AC3E}">
        <p14:creationId xmlns:p14="http://schemas.microsoft.com/office/powerpoint/2010/main" val="894445008"/>
      </p:ext>
    </p:extLst>
  </p:cSld>
</p:sld>
</file>

<file path=ppt/slides/slide19.xml><?xml version="1.0" encoding="utf-8"?>
<p:sld xmlns:p="http://schemas.openxmlformats.org/presentationml/2006/main">
  <p:cSld>
    <p:bg>
      <p:bgPr>
        <a:solidFill xmlns:a="http://schemas.openxmlformats.org/drawingml/2006/main">
          <a:srgbClr val="E9D8B6"/>
        </a:solidFill>
      </p:bgPr>
    </p:bg>
    <p:spTree>
      <p:nvGrpSpPr>
        <p:cNvPr id="1" name=""/>
        <p:cNvGrpSpPr/>
        <p:nvPr/>
      </p:nvGrpSpPr>
      <p:grpSpPr>
        <a:xfrm xmlns:a="http://schemas.openxmlformats.org/drawingml/2006/main"/>
      </p:grpSpPr>
      <p:sp>
        <p:nvSpPr>
          <p:cNvPr id="6" name="template-label">
            <a:extLst xmlns:a="http://schemas.openxmlformats.org/drawingml/2006/main">
              <a:ext uri="{FF2B5EF4-FFF2-40B4-BE49-F238E27FC236}">
                <a16:creationId xmlns:a16="http://schemas.microsoft.com/office/drawing/2014/main" id="{8EC87F7B-C295-4D2E-BC74-0567BE347891}"/>
              </a:ext>
            </a:extLst>
          </p:cNvPr>
          <p:cNvSpPr>
            <a:spLocks xmlns:a="http://schemas.openxmlformats.org/drawingml/2006/main" noGrp="1"/>
          </p:cNvSpPr>
          <p:nvPr/>
        </p:nvSpPr>
        <p:spPr>
          <a:xfrm xmlns:a="http://schemas.openxmlformats.org/drawingml/2006/main">
            <a:off x="685800" y="285750"/>
            <a:ext cx="10820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00" b="1">
                <a:solidFill>
                  <a:srgbClr val="5C2230"/>
                </a:solidFill>
                <a:latin typeface="Arial"/>
                <a:ea typeface="Arial"/>
                <a:cs typeface="Arial"/>
              </a:defRPr>
            </a:defPPr>
          </a:lstStyle>
          <a:p xmlns:a="http://schemas.openxmlformats.org/drawingml/2006/main">
            <a:pPr algn="l">
              <a:lnSpc>
                <a:spcPct val="112000"/>
              </a:lnSpc>
              <a:buNone/>
              <a:defRPr sz="1700" b="1">
                <a:solidFill>
                  <a:srgbClr val="5C2230"/>
                </a:solidFill>
                <a:latin typeface="Arial"/>
                <a:ea typeface="Arial"/>
                <a:cs typeface="Arial"/>
              </a:defRPr>
            </a:pPr>
            <a:r>
              <a:rPr sz="1700" b="1">
                <a:solidFill>
                  <a:srgbClr val="5C2230"/>
                </a:solidFill>
                <a:latin typeface="Arial"/>
                <a:ea typeface="Arial"/>
                <a:cs typeface="Arial"/>
              </a:rPr>
              <a:t>19  PEER FEEDBACK / EVIDENCE CHECKLIST</a:t>
            </a:r>
          </a:p>
        </p:txBody>
      </p:sp>
      <p:sp>
        <p:nvSpPr>
          <p:cNvPr id="2" name="heading">
            <a:extLst xmlns:a="http://schemas.openxmlformats.org/drawingml/2006/main">
              <a:ext uri="{FF2B5EF4-FFF2-40B4-BE49-F238E27FC236}">
                <a16:creationId xmlns:a16="http://schemas.microsoft.com/office/drawing/2014/main" id="{E604CBAC-415B-4AC8-B874-24EC824C56B6}"/>
              </a:ext>
            </a:extLst>
          </p:cNvPr>
          <p:cNvSpPr>
            <a:spLocks xmlns:a="http://schemas.openxmlformats.org/drawingml/2006/main" noGrp="1"/>
          </p:cNvSpPr>
          <p:nvPr/>
        </p:nvSpPr>
        <p:spPr>
          <a:xfrm xmlns:a="http://schemas.openxmlformats.org/drawingml/2006/main">
            <a:off x="685800" y="83820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800" b="1">
                <a:solidFill>
                  <a:srgbClr val="211B16"/>
                </a:solidFill>
                <a:latin typeface="Georgia"/>
                <a:ea typeface="Georgia"/>
                <a:cs typeface="Georgia"/>
              </a:defRPr>
            </a:defPPr>
          </a:lstStyle>
          <a:p xmlns:a="http://schemas.openxmlformats.org/drawingml/2006/main">
            <a:pPr algn="l">
              <a:lnSpc>
                <a:spcPct val="112000"/>
              </a:lnSpc>
              <a:buNone/>
              <a:defRPr sz="3800" b="1">
                <a:solidFill>
                  <a:srgbClr val="211B16"/>
                </a:solidFill>
                <a:latin typeface="Georgia"/>
                <a:ea typeface="Georgia"/>
                <a:cs typeface="Georgia"/>
              </a:defRPr>
            </a:pPr>
            <a:r>
              <a:rPr sz="3800" b="1">
                <a:solidFill>
                  <a:srgbClr val="211B16"/>
                </a:solidFill>
                <a:latin typeface="Georgia"/>
                <a:ea typeface="Georgia"/>
                <a:cs typeface="Georgia"/>
              </a:rPr>
              <a:t>Feedback that points to the writing</a:t>
            </a:r>
          </a:p>
        </p:txBody>
      </p:sp>
      <p:graphicFrame>
        <p:nvGraphicFramePr>
          <p:cNvPr id="3" name="">
            <a:extLst xmlns:a="http://schemas.openxmlformats.org/drawingml/2006/main">
              <a:ext uri="{FF2B5EF4-FFF2-40B4-BE49-F238E27FC236}">
                <a16:creationId xmlns:a16="http://schemas.microsoft.com/office/drawing/2014/main" id="{6B6ED6B5-7C28-4075-A321-C5ECC4C99C30}"/>
              </a:ext>
            </a:extLst>
          </p:cNvPr>
          <p:cNvGraphicFramePr/>
          <p:nvPr/>
        </p:nvGraphicFramePr>
        <p:xfrm>
          <a:off xmlns:a="http://schemas.openxmlformats.org/drawingml/2006/main" x="685800" y="2038350"/>
          <a:ext xmlns:a="http://schemas.openxmlformats.org/drawingml/2006/main" cx="10820400" cy="3476625"/>
        </p:xfrm>
        <a:graphic xmlns:a="http://schemas.openxmlformats.org/drawingml/2006/main">
          <a:graphicData uri="http://schemas.openxmlformats.org/drawingml/2006/table">
            <a:tbl>
              <a:tblPr firstRow="1" bandRow="0"/>
              <a:tblGrid>
                <a:gridCol w="2476500"/>
                <a:gridCol w="4095750"/>
                <a:gridCol w="4248150"/>
              </a:tblGrid>
              <a:tr h="590550">
                <a:tc>
                  <a:txBody>
                    <a:bodyPr lIns="152400" tIns="85725" rIns="152400" bIns="85725">
                      <a:noAutofit/>
                    </a:bodyPr>
                    <a:lstStyle/>
                    <a:p>
                      <a:pPr algn="l">
                        <a:lnSpc>
                          <a:spcPct val="108000"/>
                        </a:lnSpc>
                        <a:buNone/>
                      </a:pPr>
                      <a:r>
                        <a:rPr sz="2200" b="1">
                          <a:solidFill>
                            <a:srgbClr val="F2E8D5"/>
                          </a:solidFill>
                          <a:latin typeface="Arial"/>
                          <a:ea typeface="Arial"/>
                          <a:cs typeface="Arial"/>
                        </a:rPr>
                        <a:t>Look for</a:t>
                      </a:r>
                    </a:p>
                  </a:txBody>
                  <a:tcPr marL="91440" marR="91440" marT="45720" marB="45720" anchor="ctr">
                    <a:solidFill>
                      <a:srgbClr val="5C2230"/>
                    </a:solidFill>
                  </a:tcPr>
                </a:tc>
                <a:tc>
                  <a:txBody>
                    <a:bodyPr lIns="152400" tIns="85725" rIns="152400" bIns="85725">
                      <a:noAutofit/>
                    </a:bodyPr>
                    <a:lstStyle/>
                    <a:p>
                      <a:pPr algn="l">
                        <a:lnSpc>
                          <a:spcPct val="108000"/>
                        </a:lnSpc>
                        <a:buNone/>
                      </a:pPr>
                      <a:r>
                        <a:rPr sz="2200" b="1">
                          <a:solidFill>
                            <a:srgbClr val="F2E8D5"/>
                          </a:solidFill>
                          <a:latin typeface="Arial"/>
                          <a:ea typeface="Arial"/>
                          <a:cs typeface="Arial"/>
                        </a:rPr>
                        <a:t>Mark in the draft</a:t>
                      </a:r>
                    </a:p>
                  </a:txBody>
                  <a:tcPr marL="91440" marR="91440" marT="45720" marB="45720" anchor="ctr">
                    <a:solidFill>
                      <a:srgbClr val="5C2230"/>
                    </a:solidFill>
                  </a:tcPr>
                </a:tc>
                <a:tc>
                  <a:txBody>
                    <a:bodyPr lIns="152400" tIns="85725" rIns="152400" bIns="85725">
                      <a:noAutofit/>
                    </a:bodyPr>
                    <a:lstStyle/>
                    <a:p>
                      <a:pPr algn="l">
                        <a:lnSpc>
                          <a:spcPct val="108000"/>
                        </a:lnSpc>
                        <a:buNone/>
                      </a:pPr>
                      <a:r>
                        <a:rPr sz="2200" b="1">
                          <a:solidFill>
                            <a:srgbClr val="F2E8D5"/>
                          </a:solidFill>
                          <a:latin typeface="Arial"/>
                          <a:ea typeface="Arial"/>
                          <a:cs typeface="Arial"/>
                        </a:rPr>
                        <a:t>Ask the writer</a:t>
                      </a:r>
                    </a:p>
                  </a:txBody>
                  <a:tcPr marL="91440" marR="91440" marT="45720" marB="45720" anchor="ctr">
                    <a:solidFill>
                      <a:srgbClr val="5C2230"/>
                    </a:solidFill>
                  </a:tcPr>
                </a:tc>
              </a:tr>
              <a:tr h="962025">
                <a:tc>
                  <a:txBody>
                    <a:bodyPr lIns="152400" tIns="85725" rIns="152400" bIns="85725">
                      <a:noAutofit/>
                    </a:bodyPr>
                    <a:lstStyle/>
                    <a:p>
                      <a:pPr algn="l">
                        <a:lnSpc>
                          <a:spcPct val="108000"/>
                        </a:lnSpc>
                        <a:buNone/>
                      </a:pPr>
                      <a:r>
                        <a:rPr sz="2400" b="1">
                          <a:solidFill>
                            <a:srgbClr val="211B16"/>
                          </a:solidFill>
                          <a:latin typeface="Arial"/>
                          <a:ea typeface="Arial"/>
                          <a:cs typeface="Arial"/>
                        </a:rPr>
                        <a:t>Clear action</a:t>
                      </a:r>
                    </a:p>
                  </a:txBody>
                  <a:tcPr marL="91440" marR="91440" marT="45720" marB="45720" anchor="ctr">
                    <a:solidFill>
                      <a:srgbClr val="F2E8D5"/>
                    </a:solidFill>
                  </a:tcPr>
                </a:tc>
                <a:tc>
                  <a:txBody>
                    <a:bodyPr lIns="152400" tIns="85725" rIns="152400" bIns="85725">
                      <a:noAutofit/>
                    </a:bodyPr>
                    <a:lstStyle/>
                    <a:p>
                      <a:pPr algn="l">
                        <a:lnSpc>
                          <a:spcPct val="108000"/>
                        </a:lnSpc>
                        <a:buNone/>
                      </a:pPr>
                      <a:r>
                        <a:rPr sz="2400" b="0">
                          <a:solidFill>
                            <a:srgbClr val="211B16"/>
                          </a:solidFill>
                          <a:latin typeface="Arial"/>
                          <a:ea typeface="Arial"/>
                          <a:cs typeface="Arial"/>
                        </a:rPr>
                        <a:t>Underline the main verbs.</a:t>
                      </a:r>
                    </a:p>
                  </a:txBody>
                  <a:tcPr marL="91440" marR="91440" marT="45720" marB="45720" anchor="ctr">
                    <a:solidFill>
                      <a:srgbClr val="F2E8D5"/>
                    </a:solidFill>
                  </a:tcPr>
                </a:tc>
                <a:tc>
                  <a:txBody>
                    <a:bodyPr lIns="152400" tIns="85725" rIns="152400" bIns="85725">
                      <a:noAutofit/>
                    </a:bodyPr>
                    <a:lstStyle/>
                    <a:p>
                      <a:pPr algn="l">
                        <a:lnSpc>
                          <a:spcPct val="108000"/>
                        </a:lnSpc>
                        <a:buNone/>
                      </a:pPr>
                      <a:r>
                        <a:rPr sz="2400" b="0">
                          <a:solidFill>
                            <a:srgbClr val="211B16"/>
                          </a:solidFill>
                          <a:latin typeface="Arial"/>
                          <a:ea typeface="Arial"/>
                          <a:cs typeface="Arial"/>
                        </a:rPr>
                        <a:t>Can I follow what happens?</a:t>
                      </a:r>
                    </a:p>
                  </a:txBody>
                  <a:tcPr marL="91440" marR="91440" marT="45720" marB="45720" anchor="ctr">
                    <a:solidFill>
                      <a:srgbClr val="F2E8D5"/>
                    </a:solidFill>
                  </a:tcPr>
                </a:tc>
              </a:tr>
              <a:tr h="962025">
                <a:tc>
                  <a:txBody>
                    <a:bodyPr lIns="152400" tIns="85725" rIns="152400" bIns="85725">
                      <a:noAutofit/>
                    </a:bodyPr>
                    <a:lstStyle/>
                    <a:p>
                      <a:pPr algn="l">
                        <a:lnSpc>
                          <a:spcPct val="108000"/>
                        </a:lnSpc>
                        <a:buNone/>
                      </a:pPr>
                      <a:r>
                        <a:rPr sz="2400" b="1">
                          <a:solidFill>
                            <a:srgbClr val="211B16"/>
                          </a:solidFill>
                          <a:latin typeface="Arial"/>
                          <a:ea typeface="Arial"/>
                          <a:cs typeface="Arial"/>
                        </a:rPr>
                        <a:t>Specific detail</a:t>
                      </a:r>
                    </a:p>
                  </a:txBody>
                  <a:tcPr marL="91440" marR="91440" marT="45720" marB="45720" anchor="ctr">
                    <a:solidFill>
                      <a:srgbClr val="E9D8B6"/>
                    </a:solidFill>
                  </a:tcPr>
                </a:tc>
                <a:tc>
                  <a:txBody>
                    <a:bodyPr lIns="152400" tIns="85725" rIns="152400" bIns="85725">
                      <a:noAutofit/>
                    </a:bodyPr>
                    <a:lstStyle/>
                    <a:p>
                      <a:pPr algn="l">
                        <a:lnSpc>
                          <a:spcPct val="108000"/>
                        </a:lnSpc>
                        <a:buNone/>
                      </a:pPr>
                      <a:r>
                        <a:rPr sz="2400" b="0">
                          <a:solidFill>
                            <a:srgbClr val="211B16"/>
                          </a:solidFill>
                          <a:latin typeface="Arial"/>
                          <a:ea typeface="Arial"/>
                          <a:cs typeface="Arial"/>
                        </a:rPr>
                        <a:t>Circle the strongest image.</a:t>
                      </a:r>
                    </a:p>
                  </a:txBody>
                  <a:tcPr marL="91440" marR="91440" marT="45720" marB="45720" anchor="ctr">
                    <a:solidFill>
                      <a:srgbClr val="E9D8B6"/>
                    </a:solidFill>
                  </a:tcPr>
                </a:tc>
                <a:tc>
                  <a:txBody>
                    <a:bodyPr lIns="152400" tIns="85725" rIns="152400" bIns="85725">
                      <a:noAutofit/>
                    </a:bodyPr>
                    <a:lstStyle/>
                    <a:p>
                      <a:pPr algn="l">
                        <a:lnSpc>
                          <a:spcPct val="108000"/>
                        </a:lnSpc>
                        <a:buNone/>
                      </a:pPr>
                      <a:r>
                        <a:rPr sz="2400" b="0">
                          <a:solidFill>
                            <a:srgbClr val="211B16"/>
                          </a:solidFill>
                          <a:latin typeface="Arial"/>
                          <a:ea typeface="Arial"/>
                          <a:cs typeface="Arial"/>
                        </a:rPr>
                        <a:t>Which detail matters most?</a:t>
                      </a:r>
                    </a:p>
                  </a:txBody>
                  <a:tcPr marL="91440" marR="91440" marT="45720" marB="45720" anchor="ctr">
                    <a:solidFill>
                      <a:srgbClr val="E9D8B6"/>
                    </a:solidFill>
                  </a:tcPr>
                </a:tc>
              </a:tr>
              <a:tr h="962025">
                <a:tc>
                  <a:txBody>
                    <a:bodyPr lIns="152400" tIns="85725" rIns="152400" bIns="85725">
                      <a:noAutofit/>
                    </a:bodyPr>
                    <a:lstStyle/>
                    <a:p>
                      <a:pPr algn="l">
                        <a:lnSpc>
                          <a:spcPct val="108000"/>
                        </a:lnSpc>
                        <a:buNone/>
                      </a:pPr>
                      <a:r>
                        <a:rPr sz="2400" b="1">
                          <a:solidFill>
                            <a:srgbClr val="211B16"/>
                          </a:solidFill>
                          <a:latin typeface="Arial"/>
                          <a:ea typeface="Arial"/>
                          <a:cs typeface="Arial"/>
                        </a:rPr>
                        <a:t>An ending</a:t>
                      </a:r>
                    </a:p>
                  </a:txBody>
                  <a:tcPr marL="91440" marR="91440" marT="45720" marB="45720" anchor="ctr">
                    <a:solidFill>
                      <a:srgbClr val="F2E8D5"/>
                    </a:solidFill>
                  </a:tcPr>
                </a:tc>
                <a:tc>
                  <a:txBody>
                    <a:bodyPr lIns="152400" tIns="85725" rIns="152400" bIns="85725">
                      <a:noAutofit/>
                    </a:bodyPr>
                    <a:lstStyle/>
                    <a:p>
                      <a:pPr algn="l">
                        <a:lnSpc>
                          <a:spcPct val="108000"/>
                        </a:lnSpc>
                        <a:buNone/>
                      </a:pPr>
                      <a:r>
                        <a:rPr sz="2400" b="0">
                          <a:solidFill>
                            <a:srgbClr val="211B16"/>
                          </a:solidFill>
                          <a:latin typeface="Arial"/>
                          <a:ea typeface="Arial"/>
                          <a:cs typeface="Arial"/>
                        </a:rPr>
                        <a:t>Box the final sentence.</a:t>
                      </a:r>
                    </a:p>
                  </a:txBody>
                  <a:tcPr marL="91440" marR="91440" marT="45720" marB="45720" anchor="ctr">
                    <a:solidFill>
                      <a:srgbClr val="F2E8D5"/>
                    </a:solidFill>
                  </a:tcPr>
                </a:tc>
                <a:tc>
                  <a:txBody>
                    <a:bodyPr lIns="152400" tIns="85725" rIns="152400" bIns="85725">
                      <a:noAutofit/>
                    </a:bodyPr>
                    <a:lstStyle/>
                    <a:p>
                      <a:pPr algn="l">
                        <a:lnSpc>
                          <a:spcPct val="108000"/>
                        </a:lnSpc>
                        <a:buNone/>
                      </a:pPr>
                      <a:r>
                        <a:rPr sz="2400" b="0">
                          <a:solidFill>
                            <a:srgbClr val="211B16"/>
                          </a:solidFill>
                          <a:latin typeface="Arial"/>
                          <a:ea typeface="Arial"/>
                          <a:cs typeface="Arial"/>
                        </a:rPr>
                        <a:t>What has changed by the end?</a:t>
                      </a:r>
                    </a:p>
                  </a:txBody>
                  <a:tcPr marL="91440" marR="91440" marT="45720" marB="45720" anchor="ctr">
                    <a:solidFill>
                      <a:srgbClr val="F2E8D5"/>
                    </a:solidFill>
                  </a:tcPr>
                </a:tc>
              </a:tr>
            </a:tbl>
          </a:graphicData>
        </a:graphic>
      </p:graphicFrame>
      <p:sp>
        <p:nvSpPr>
          <p:cNvPr id="4" name="instruction">
            <a:extLst xmlns:a="http://schemas.openxmlformats.org/drawingml/2006/main">
              <a:ext uri="{FF2B5EF4-FFF2-40B4-BE49-F238E27FC236}">
                <a16:creationId xmlns:a16="http://schemas.microsoft.com/office/drawing/2014/main" id="{53C3F80E-5A6B-4BA5-8DAD-4F49F2880C46}"/>
              </a:ext>
            </a:extLst>
          </p:cNvPr>
          <p:cNvSpPr>
            <a:spLocks xmlns:a="http://schemas.openxmlformats.org/drawingml/2006/main" noGrp="1"/>
          </p:cNvSpPr>
          <p:nvPr/>
        </p:nvSpPr>
        <p:spPr>
          <a:xfrm xmlns:a="http://schemas.openxmlformats.org/drawingml/2006/main">
            <a:off x="685800" y="5772150"/>
            <a:ext cx="108204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5C2230"/>
                </a:solidFill>
                <a:latin typeface="Arial"/>
                <a:ea typeface="Arial"/>
                <a:cs typeface="Arial"/>
              </a:defRPr>
            </a:defPPr>
          </a:lstStyle>
          <a:p xmlns:a="http://schemas.openxmlformats.org/drawingml/2006/main">
            <a:pPr algn="l">
              <a:lnSpc>
                <a:spcPct val="112000"/>
              </a:lnSpc>
              <a:buNone/>
              <a:defRPr sz="2700" b="1">
                <a:solidFill>
                  <a:srgbClr val="5C2230"/>
                </a:solidFill>
                <a:latin typeface="Arial"/>
                <a:ea typeface="Arial"/>
                <a:cs typeface="Arial"/>
              </a:defRPr>
            </a:pPr>
            <a:r>
              <a:rPr sz="2700" b="1">
                <a:solidFill>
                  <a:srgbClr val="5C2230"/>
                </a:solidFill>
                <a:latin typeface="Arial"/>
                <a:ea typeface="Arial"/>
                <a:cs typeface="Arial"/>
              </a:rPr>
              <a:t>Choose one useful revision together.</a:t>
            </a:r>
          </a:p>
        </p:txBody>
      </p:sp>
      <p:sp>
        <p:nvSpPr>
          <p:cNvPr id="5" name="template-capacity-guide">
            <a:extLst xmlns:a="http://schemas.openxmlformats.org/drawingml/2006/main">
              <a:ext uri="{FF2B5EF4-FFF2-40B4-BE49-F238E27FC236}">
                <a16:creationId xmlns:a16="http://schemas.microsoft.com/office/drawing/2014/main" id="{BD4871A5-3940-4408-B373-D3185F65D780}"/>
              </a:ext>
            </a:extLst>
          </p:cNvPr>
          <p:cNvSpPr>
            <a:spLocks xmlns:a="http://schemas.openxmlformats.org/drawingml/2006/main" noGrp="1"/>
          </p:cNvSpPr>
          <p:nvPr/>
        </p:nvSpPr>
        <p:spPr>
          <a:xfrm xmlns:a="http://schemas.openxmlformats.org/drawingml/2006/main">
            <a:off x="685800" y="6343650"/>
            <a:ext cx="108204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00" b="0">
                <a:solidFill>
                  <a:srgbClr val="5C2230"/>
                </a:solidFill>
                <a:latin typeface="Arial"/>
                <a:ea typeface="Arial"/>
                <a:cs typeface="Arial"/>
              </a:defRPr>
            </a:defPPr>
          </a:lstStyle>
          <a:p xmlns:a="http://schemas.openxmlformats.org/drawingml/2006/main">
            <a:pPr algn="l">
              <a:lnSpc>
                <a:spcPct val="112000"/>
              </a:lnSpc>
              <a:buNone/>
              <a:defRPr sz="1600" b="0">
                <a:solidFill>
                  <a:srgbClr val="5C2230"/>
                </a:solidFill>
                <a:latin typeface="Arial"/>
                <a:ea typeface="Arial"/>
                <a:cs typeface="Arial"/>
              </a:defRPr>
            </a:pPr>
            <a:r>
              <a:rPr sz="1600" b="0">
                <a:solidFill>
                  <a:srgbClr val="5C2230"/>
                </a:solidFill>
                <a:latin typeface="Arial"/>
                <a:ea typeface="Arial"/>
                <a:cs typeface="Arial"/>
              </a:rPr>
              <a:t>Example: three feedback checks with brief actions and questions</a:t>
            </a:r>
          </a:p>
        </p:txBody>
      </p:sp>
    </p:spTree>
    <p:extLst>
      <p:ext uri="{BB962C8B-B14F-4D97-AF65-F5344CB8AC3E}">
        <p14:creationId xmlns:p14="http://schemas.microsoft.com/office/powerpoint/2010/main" val="619359609"/>
      </p:ext>
    </p:extLst>
  </p:cSld>
</p:sld>
</file>

<file path=ppt/slides/slide20.xml><?xml version="1.0" encoding="utf-8"?>
<p:sld xmlns:p="http://schemas.openxmlformats.org/presentationml/2006/main">
  <p:cSld>
    <p:bg>
      <p:bgPr>
        <a:solidFill xmlns:a="http://schemas.openxmlformats.org/drawingml/2006/main">
          <a:srgbClr val="211B16"/>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B10E2FE4-72EA-4E40-97A1-21FDADAB105B}"/>
              </a:ext>
            </a:extLst>
          </p:cNvPr>
          <p:cNvPicPr>
            <a:picLocks xmlns:a="http://schemas.openxmlformats.org/drawingml/2006/main" noChangeAspect="1"/>
          </p:cNvPicPr>
          <p:nvPr/>
        </p:nvPicPr>
        <p:blipFill>
          <a:blip xmlns:r="http://schemas.openxmlformats.org/officeDocument/2006/relationships" xmlns:a="http://schemas.openxmlformats.org/drawingml/2006/main" r:embed="Rf3d95373ac5149d8"/>
          <a:stretch xmlns:a="http://schemas.openxmlformats.org/drawingml/2006/main"/>
        </p:blipFill>
        <p:spPr>
          <a:xfrm xmlns:a="http://schemas.openxmlformats.org/drawingml/2006/main">
            <a:off x="3239" y="0"/>
            <a:ext cx="12185522" cy="6858000"/>
          </a:xfrm>
          <a:prstGeom xmlns:a="http://schemas.openxmlformats.org/drawingml/2006/main" prst="rect">
            <a:avLst/>
          </a:prstGeom>
        </p:spPr>
      </p:pic>
      <p:sp>
        <p:nvSpPr>
          <p:cNvPr id="2" name="template-label">
            <a:extLst xmlns:a="http://schemas.openxmlformats.org/drawingml/2006/main">
              <a:ext uri="{FF2B5EF4-FFF2-40B4-BE49-F238E27FC236}">
                <a16:creationId xmlns:a16="http://schemas.microsoft.com/office/drawing/2014/main" id="{CE0BC0BE-1B72-4231-91F7-A41FD32DF0CA}"/>
              </a:ext>
            </a:extLst>
          </p:cNvPr>
          <p:cNvSpPr>
            <a:spLocks xmlns:a="http://schemas.openxmlformats.org/drawingml/2006/main" noGrp="1"/>
          </p:cNvSpPr>
          <p:nvPr/>
        </p:nvSpPr>
        <p:spPr>
          <a:xfrm xmlns:a="http://schemas.openxmlformats.org/drawingml/2006/main">
            <a:off x="1952625" y="542925"/>
            <a:ext cx="8334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00" b="1">
                <a:solidFill>
                  <a:srgbClr val="B89B5E"/>
                </a:solidFill>
                <a:latin typeface="Arial"/>
                <a:ea typeface="Arial"/>
                <a:cs typeface="Arial"/>
              </a:defRPr>
            </a:defPPr>
          </a:lstStyle>
          <a:p xmlns:a="http://schemas.openxmlformats.org/drawingml/2006/main">
            <a:pPr algn="l">
              <a:lnSpc>
                <a:spcPct val="112000"/>
              </a:lnSpc>
              <a:buNone/>
              <a:defRPr sz="1700" b="1">
                <a:solidFill>
                  <a:srgbClr val="B89B5E"/>
                </a:solidFill>
                <a:latin typeface="Arial"/>
                <a:ea typeface="Arial"/>
                <a:cs typeface="Arial"/>
              </a:defRPr>
            </a:pPr>
            <a:r>
              <a:rPr sz="1700" b="1">
                <a:solidFill>
                  <a:srgbClr val="B89B5E"/>
                </a:solidFill>
                <a:latin typeface="Arial"/>
                <a:ea typeface="Arial"/>
                <a:cs typeface="Arial"/>
              </a:rPr>
              <a:t>20  PEER FEEDBACK / THREE-MINUTE CONFERENCE</a:t>
            </a:r>
          </a:p>
        </p:txBody>
      </p:sp>
      <p:sp>
        <p:nvSpPr>
          <p:cNvPr id="3" name="heading">
            <a:extLst xmlns:a="http://schemas.openxmlformats.org/drawingml/2006/main">
              <a:ext uri="{FF2B5EF4-FFF2-40B4-BE49-F238E27FC236}">
                <a16:creationId xmlns:a16="http://schemas.microsoft.com/office/drawing/2014/main" id="{7D333421-1990-4014-BA43-9D2DD8264F3C}"/>
              </a:ext>
            </a:extLst>
          </p:cNvPr>
          <p:cNvSpPr>
            <a:spLocks xmlns:a="http://schemas.openxmlformats.org/drawingml/2006/main" noGrp="1"/>
          </p:cNvSpPr>
          <p:nvPr/>
        </p:nvSpPr>
        <p:spPr>
          <a:xfrm xmlns:a="http://schemas.openxmlformats.org/drawingml/2006/main">
            <a:off x="1952625" y="1114425"/>
            <a:ext cx="8334375" cy="1323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700" b="1">
                <a:solidFill>
                  <a:srgbClr val="F2E8D5"/>
                </a:solidFill>
                <a:latin typeface="Georgia"/>
                <a:ea typeface="Georgia"/>
                <a:cs typeface="Georgia"/>
              </a:defRPr>
            </a:defPPr>
          </a:lstStyle>
          <a:p xmlns:a="http://schemas.openxmlformats.org/drawingml/2006/main">
            <a:pPr algn="l">
              <a:lnSpc>
                <a:spcPct val="112000"/>
              </a:lnSpc>
              <a:buNone/>
              <a:defRPr sz="3700" b="1">
                <a:solidFill>
                  <a:srgbClr val="F2E8D5"/>
                </a:solidFill>
                <a:latin typeface="Georgia"/>
                <a:ea typeface="Georgia"/>
                <a:cs typeface="Georgia"/>
              </a:defRPr>
            </a:pPr>
            <a:r>
              <a:rPr sz="3700" b="1">
                <a:solidFill>
                  <a:srgbClr val="F2E8D5"/>
                </a:solidFill>
                <a:latin typeface="Georgia"/>
                <a:ea typeface="Georgia"/>
                <a:cs typeface="Georgia"/>
              </a:rPr>
              <a:t>A conversation before</a:t>
            </a:r>
          </a:p>
          <a:p xmlns:a="http://schemas.openxmlformats.org/drawingml/2006/main">
            <a:pPr algn="l">
              <a:lnSpc>
                <a:spcPct val="112000"/>
              </a:lnSpc>
              <a:buNone/>
              <a:defRPr sz="3700" b="1">
                <a:solidFill>
                  <a:srgbClr val="F2E8D5"/>
                </a:solidFill>
                <a:latin typeface="Georgia"/>
                <a:ea typeface="Georgia"/>
                <a:cs typeface="Georgia"/>
              </a:defRPr>
            </a:pPr>
            <a:r>
              <a:rPr sz="3700" b="1">
                <a:solidFill>
                  <a:srgbClr val="F2E8D5"/>
                </a:solidFill>
                <a:latin typeface="Georgia"/>
                <a:ea typeface="Georgia"/>
                <a:cs typeface="Georgia"/>
              </a:rPr>
              <a:t>the next draft</a:t>
            </a:r>
          </a:p>
        </p:txBody>
      </p:sp>
      <p:sp>
        <p:nvSpPr>
          <p:cNvPr id="4" name="time-0">
            <a:extLst xmlns:a="http://schemas.openxmlformats.org/drawingml/2006/main">
              <a:ext uri="{FF2B5EF4-FFF2-40B4-BE49-F238E27FC236}">
                <a16:creationId xmlns:a16="http://schemas.microsoft.com/office/drawing/2014/main" id="{53AC3674-480C-4C65-9CC9-996234E28ED1}"/>
              </a:ext>
            </a:extLst>
          </p:cNvPr>
          <p:cNvSpPr>
            <a:spLocks xmlns:a="http://schemas.openxmlformats.org/drawingml/2006/main" noGrp="1"/>
          </p:cNvSpPr>
          <p:nvPr/>
        </p:nvSpPr>
        <p:spPr>
          <a:xfrm xmlns:a="http://schemas.openxmlformats.org/drawingml/2006/main">
            <a:off x="1952625" y="2924175"/>
            <a:ext cx="1333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B89B5E"/>
                </a:solidFill>
                <a:latin typeface="Arial"/>
                <a:ea typeface="Arial"/>
                <a:cs typeface="Arial"/>
              </a:defRPr>
            </a:defPPr>
          </a:lstStyle>
          <a:p xmlns:a="http://schemas.openxmlformats.org/drawingml/2006/main">
            <a:pPr algn="l">
              <a:lnSpc>
                <a:spcPct val="112000"/>
              </a:lnSpc>
              <a:buNone/>
              <a:defRPr sz="2100" b="1">
                <a:solidFill>
                  <a:srgbClr val="B89B5E"/>
                </a:solidFill>
                <a:latin typeface="Arial"/>
                <a:ea typeface="Arial"/>
                <a:cs typeface="Arial"/>
              </a:defRPr>
            </a:pPr>
            <a:r>
              <a:rPr sz="2100" b="1">
                <a:solidFill>
                  <a:srgbClr val="B89B5E"/>
                </a:solidFill>
                <a:latin typeface="Arial"/>
                <a:ea typeface="Arial"/>
                <a:cs typeface="Arial"/>
              </a:rPr>
              <a:t>1 MIN</a:t>
            </a:r>
          </a:p>
        </p:txBody>
      </p:sp>
      <p:sp>
        <p:nvSpPr>
          <p:cNvPr id="5" name="action-0">
            <a:extLst xmlns:a="http://schemas.openxmlformats.org/drawingml/2006/main">
              <a:ext uri="{FF2B5EF4-FFF2-40B4-BE49-F238E27FC236}">
                <a16:creationId xmlns:a16="http://schemas.microsoft.com/office/drawing/2014/main" id="{5801D029-87CF-44B0-921C-E9E30AC70C76}"/>
              </a:ext>
            </a:extLst>
          </p:cNvPr>
          <p:cNvSpPr>
            <a:spLocks xmlns:a="http://schemas.openxmlformats.org/drawingml/2006/main" noGrp="1"/>
          </p:cNvSpPr>
          <p:nvPr/>
        </p:nvSpPr>
        <p:spPr>
          <a:xfrm xmlns:a="http://schemas.openxmlformats.org/drawingml/2006/main">
            <a:off x="3514725" y="2895600"/>
            <a:ext cx="1905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00" b="1">
                <a:solidFill>
                  <a:srgbClr val="F2E8D5"/>
                </a:solidFill>
                <a:latin typeface="Arial"/>
                <a:ea typeface="Arial"/>
                <a:cs typeface="Arial"/>
              </a:defRPr>
            </a:defPPr>
          </a:lstStyle>
          <a:p xmlns:a="http://schemas.openxmlformats.org/drawingml/2006/main">
            <a:pPr algn="l">
              <a:lnSpc>
                <a:spcPct val="112000"/>
              </a:lnSpc>
              <a:buNone/>
              <a:defRPr sz="2500" b="1">
                <a:solidFill>
                  <a:srgbClr val="F2E8D5"/>
                </a:solidFill>
                <a:latin typeface="Arial"/>
                <a:ea typeface="Arial"/>
                <a:cs typeface="Arial"/>
              </a:defRPr>
            </a:pPr>
            <a:r>
              <a:rPr sz="2500" b="1">
                <a:solidFill>
                  <a:srgbClr val="F2E8D5"/>
                </a:solidFill>
                <a:latin typeface="Arial"/>
                <a:ea typeface="Arial"/>
                <a:cs typeface="Arial"/>
              </a:rPr>
              <a:t>Notice</a:t>
            </a:r>
          </a:p>
        </p:txBody>
      </p:sp>
      <p:sp>
        <p:nvSpPr>
          <p:cNvPr id="6" name="frame-0">
            <a:extLst xmlns:a="http://schemas.openxmlformats.org/drawingml/2006/main">
              <a:ext uri="{FF2B5EF4-FFF2-40B4-BE49-F238E27FC236}">
                <a16:creationId xmlns:a16="http://schemas.microsoft.com/office/drawing/2014/main" id="{E3FB3211-61E4-4B64-BB8C-A6866562ABF0}"/>
              </a:ext>
            </a:extLst>
          </p:cNvPr>
          <p:cNvSpPr>
            <a:spLocks xmlns:a="http://schemas.openxmlformats.org/drawingml/2006/main" noGrp="1"/>
          </p:cNvSpPr>
          <p:nvPr/>
        </p:nvSpPr>
        <p:spPr>
          <a:xfrm xmlns:a="http://schemas.openxmlformats.org/drawingml/2006/main">
            <a:off x="5476875" y="2895600"/>
            <a:ext cx="48101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00" b="0">
                <a:solidFill>
                  <a:srgbClr val="F2E8D5"/>
                </a:solidFill>
                <a:latin typeface="Arial"/>
                <a:ea typeface="Arial"/>
                <a:cs typeface="Arial"/>
              </a:defRPr>
            </a:defPPr>
          </a:lstStyle>
          <a:p xmlns:a="http://schemas.openxmlformats.org/drawingml/2006/main">
            <a:pPr algn="l">
              <a:lnSpc>
                <a:spcPct val="112000"/>
              </a:lnSpc>
              <a:buNone/>
              <a:defRPr sz="2500" b="0">
                <a:solidFill>
                  <a:srgbClr val="F2E8D5"/>
                </a:solidFill>
                <a:latin typeface="Arial"/>
                <a:ea typeface="Arial"/>
                <a:cs typeface="Arial"/>
              </a:defRPr>
            </a:pPr>
            <a:r>
              <a:rPr sz="2500" b="0">
                <a:solidFill>
                  <a:srgbClr val="F2E8D5"/>
                </a:solidFill>
                <a:latin typeface="Arial"/>
                <a:ea typeface="Arial"/>
                <a:cs typeface="Arial"/>
              </a:rPr>
              <a:t>“The detail that stayed with me was…”</a:t>
            </a:r>
          </a:p>
        </p:txBody>
      </p:sp>
      <p:sp>
        <p:nvSpPr>
          <p:cNvPr id="7" name="time-1">
            <a:extLst xmlns:a="http://schemas.openxmlformats.org/drawingml/2006/main">
              <a:ext uri="{FF2B5EF4-FFF2-40B4-BE49-F238E27FC236}">
                <a16:creationId xmlns:a16="http://schemas.microsoft.com/office/drawing/2014/main" id="{25560CE1-59A4-4C06-9824-28F50D815609}"/>
              </a:ext>
            </a:extLst>
          </p:cNvPr>
          <p:cNvSpPr>
            <a:spLocks xmlns:a="http://schemas.openxmlformats.org/drawingml/2006/main" noGrp="1"/>
          </p:cNvSpPr>
          <p:nvPr/>
        </p:nvSpPr>
        <p:spPr>
          <a:xfrm xmlns:a="http://schemas.openxmlformats.org/drawingml/2006/main">
            <a:off x="1952625" y="3876675"/>
            <a:ext cx="1333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B89B5E"/>
                </a:solidFill>
                <a:latin typeface="Arial"/>
                <a:ea typeface="Arial"/>
                <a:cs typeface="Arial"/>
              </a:defRPr>
            </a:defPPr>
          </a:lstStyle>
          <a:p xmlns:a="http://schemas.openxmlformats.org/drawingml/2006/main">
            <a:pPr algn="l">
              <a:lnSpc>
                <a:spcPct val="112000"/>
              </a:lnSpc>
              <a:buNone/>
              <a:defRPr sz="2100" b="1">
                <a:solidFill>
                  <a:srgbClr val="B89B5E"/>
                </a:solidFill>
                <a:latin typeface="Arial"/>
                <a:ea typeface="Arial"/>
                <a:cs typeface="Arial"/>
              </a:defRPr>
            </a:pPr>
            <a:r>
              <a:rPr sz="2100" b="1">
                <a:solidFill>
                  <a:srgbClr val="B89B5E"/>
                </a:solidFill>
                <a:latin typeface="Arial"/>
                <a:ea typeface="Arial"/>
                <a:cs typeface="Arial"/>
              </a:rPr>
              <a:t>1 MIN</a:t>
            </a:r>
          </a:p>
        </p:txBody>
      </p:sp>
      <p:sp>
        <p:nvSpPr>
          <p:cNvPr id="8" name="action-1">
            <a:extLst xmlns:a="http://schemas.openxmlformats.org/drawingml/2006/main">
              <a:ext uri="{FF2B5EF4-FFF2-40B4-BE49-F238E27FC236}">
                <a16:creationId xmlns:a16="http://schemas.microsoft.com/office/drawing/2014/main" id="{30CA7E82-B67D-44AE-A6E3-E2198C589B5B}"/>
              </a:ext>
            </a:extLst>
          </p:cNvPr>
          <p:cNvSpPr>
            <a:spLocks xmlns:a="http://schemas.openxmlformats.org/drawingml/2006/main" noGrp="1"/>
          </p:cNvSpPr>
          <p:nvPr/>
        </p:nvSpPr>
        <p:spPr>
          <a:xfrm xmlns:a="http://schemas.openxmlformats.org/drawingml/2006/main">
            <a:off x="3514725" y="3848100"/>
            <a:ext cx="1905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00" b="1">
                <a:solidFill>
                  <a:srgbClr val="F2E8D5"/>
                </a:solidFill>
                <a:latin typeface="Arial"/>
                <a:ea typeface="Arial"/>
                <a:cs typeface="Arial"/>
              </a:defRPr>
            </a:defPPr>
          </a:lstStyle>
          <a:p xmlns:a="http://schemas.openxmlformats.org/drawingml/2006/main">
            <a:pPr algn="l">
              <a:lnSpc>
                <a:spcPct val="112000"/>
              </a:lnSpc>
              <a:buNone/>
              <a:defRPr sz="2500" b="1">
                <a:solidFill>
                  <a:srgbClr val="F2E8D5"/>
                </a:solidFill>
                <a:latin typeface="Arial"/>
                <a:ea typeface="Arial"/>
                <a:cs typeface="Arial"/>
              </a:defRPr>
            </a:pPr>
            <a:r>
              <a:rPr sz="2500" b="1">
                <a:solidFill>
                  <a:srgbClr val="F2E8D5"/>
                </a:solidFill>
                <a:latin typeface="Arial"/>
                <a:ea typeface="Arial"/>
                <a:cs typeface="Arial"/>
              </a:rPr>
              <a:t>Ask</a:t>
            </a:r>
          </a:p>
        </p:txBody>
      </p:sp>
      <p:sp>
        <p:nvSpPr>
          <p:cNvPr id="9" name="frame-1">
            <a:extLst xmlns:a="http://schemas.openxmlformats.org/drawingml/2006/main">
              <a:ext uri="{FF2B5EF4-FFF2-40B4-BE49-F238E27FC236}">
                <a16:creationId xmlns:a16="http://schemas.microsoft.com/office/drawing/2014/main" id="{69A70706-80F6-404B-9217-DD96DBFB6969}"/>
              </a:ext>
            </a:extLst>
          </p:cNvPr>
          <p:cNvSpPr>
            <a:spLocks xmlns:a="http://schemas.openxmlformats.org/drawingml/2006/main" noGrp="1"/>
          </p:cNvSpPr>
          <p:nvPr/>
        </p:nvSpPr>
        <p:spPr>
          <a:xfrm xmlns:a="http://schemas.openxmlformats.org/drawingml/2006/main">
            <a:off x="5476875" y="3848100"/>
            <a:ext cx="48101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00" b="0">
                <a:solidFill>
                  <a:srgbClr val="F2E8D5"/>
                </a:solidFill>
                <a:latin typeface="Arial"/>
                <a:ea typeface="Arial"/>
                <a:cs typeface="Arial"/>
              </a:defRPr>
            </a:defPPr>
          </a:lstStyle>
          <a:p xmlns:a="http://schemas.openxmlformats.org/drawingml/2006/main">
            <a:pPr algn="l">
              <a:lnSpc>
                <a:spcPct val="112000"/>
              </a:lnSpc>
              <a:buNone/>
              <a:defRPr sz="2500" b="0">
                <a:solidFill>
                  <a:srgbClr val="F2E8D5"/>
                </a:solidFill>
                <a:latin typeface="Arial"/>
                <a:ea typeface="Arial"/>
                <a:cs typeface="Arial"/>
              </a:defRPr>
            </a:pPr>
            <a:r>
              <a:rPr sz="2500" b="0">
                <a:solidFill>
                  <a:srgbClr val="F2E8D5"/>
                </a:solidFill>
                <a:latin typeface="Arial"/>
                <a:ea typeface="Arial"/>
                <a:cs typeface="Arial"/>
              </a:rPr>
              <a:t>“I wanted to know more about…”</a:t>
            </a:r>
          </a:p>
        </p:txBody>
      </p:sp>
      <p:sp>
        <p:nvSpPr>
          <p:cNvPr id="10" name="time-2">
            <a:extLst xmlns:a="http://schemas.openxmlformats.org/drawingml/2006/main">
              <a:ext uri="{FF2B5EF4-FFF2-40B4-BE49-F238E27FC236}">
                <a16:creationId xmlns:a16="http://schemas.microsoft.com/office/drawing/2014/main" id="{7450A8DE-D97B-486A-B517-E018B08E189C}"/>
              </a:ext>
            </a:extLst>
          </p:cNvPr>
          <p:cNvSpPr>
            <a:spLocks xmlns:a="http://schemas.openxmlformats.org/drawingml/2006/main" noGrp="1"/>
          </p:cNvSpPr>
          <p:nvPr/>
        </p:nvSpPr>
        <p:spPr>
          <a:xfrm xmlns:a="http://schemas.openxmlformats.org/drawingml/2006/main">
            <a:off x="1952625" y="4829175"/>
            <a:ext cx="1333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B89B5E"/>
                </a:solidFill>
                <a:latin typeface="Arial"/>
                <a:ea typeface="Arial"/>
                <a:cs typeface="Arial"/>
              </a:defRPr>
            </a:defPPr>
          </a:lstStyle>
          <a:p xmlns:a="http://schemas.openxmlformats.org/drawingml/2006/main">
            <a:pPr algn="l">
              <a:lnSpc>
                <a:spcPct val="112000"/>
              </a:lnSpc>
              <a:buNone/>
              <a:defRPr sz="2100" b="1">
                <a:solidFill>
                  <a:srgbClr val="B89B5E"/>
                </a:solidFill>
                <a:latin typeface="Arial"/>
                <a:ea typeface="Arial"/>
                <a:cs typeface="Arial"/>
              </a:defRPr>
            </a:pPr>
            <a:r>
              <a:rPr sz="2100" b="1">
                <a:solidFill>
                  <a:srgbClr val="B89B5E"/>
                </a:solidFill>
                <a:latin typeface="Arial"/>
                <a:ea typeface="Arial"/>
                <a:cs typeface="Arial"/>
              </a:rPr>
              <a:t>1 MIN</a:t>
            </a:r>
          </a:p>
        </p:txBody>
      </p:sp>
      <p:sp>
        <p:nvSpPr>
          <p:cNvPr id="11" name="action-2">
            <a:extLst xmlns:a="http://schemas.openxmlformats.org/drawingml/2006/main">
              <a:ext uri="{FF2B5EF4-FFF2-40B4-BE49-F238E27FC236}">
                <a16:creationId xmlns:a16="http://schemas.microsoft.com/office/drawing/2014/main" id="{7979EB13-33EB-4F48-8690-C85427B2DD2C}"/>
              </a:ext>
            </a:extLst>
          </p:cNvPr>
          <p:cNvSpPr>
            <a:spLocks xmlns:a="http://schemas.openxmlformats.org/drawingml/2006/main" noGrp="1"/>
          </p:cNvSpPr>
          <p:nvPr/>
        </p:nvSpPr>
        <p:spPr>
          <a:xfrm xmlns:a="http://schemas.openxmlformats.org/drawingml/2006/main">
            <a:off x="3514725" y="4800600"/>
            <a:ext cx="1905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00" b="1">
                <a:solidFill>
                  <a:srgbClr val="F2E8D5"/>
                </a:solidFill>
                <a:latin typeface="Arial"/>
                <a:ea typeface="Arial"/>
                <a:cs typeface="Arial"/>
              </a:defRPr>
            </a:defPPr>
          </a:lstStyle>
          <a:p xmlns:a="http://schemas.openxmlformats.org/drawingml/2006/main">
            <a:pPr algn="l">
              <a:lnSpc>
                <a:spcPct val="112000"/>
              </a:lnSpc>
              <a:buNone/>
              <a:defRPr sz="2500" b="1">
                <a:solidFill>
                  <a:srgbClr val="F2E8D5"/>
                </a:solidFill>
                <a:latin typeface="Arial"/>
                <a:ea typeface="Arial"/>
                <a:cs typeface="Arial"/>
              </a:defRPr>
            </a:pPr>
            <a:r>
              <a:rPr sz="2500" b="1">
                <a:solidFill>
                  <a:srgbClr val="F2E8D5"/>
                </a:solidFill>
                <a:latin typeface="Arial"/>
                <a:ea typeface="Arial"/>
                <a:cs typeface="Arial"/>
              </a:rPr>
              <a:t>Decide</a:t>
            </a:r>
          </a:p>
        </p:txBody>
      </p:sp>
      <p:sp>
        <p:nvSpPr>
          <p:cNvPr id="12" name="frame-2">
            <a:extLst xmlns:a="http://schemas.openxmlformats.org/drawingml/2006/main">
              <a:ext uri="{FF2B5EF4-FFF2-40B4-BE49-F238E27FC236}">
                <a16:creationId xmlns:a16="http://schemas.microsoft.com/office/drawing/2014/main" id="{993A984A-01D7-4967-B86F-479F54D87FF9}"/>
              </a:ext>
            </a:extLst>
          </p:cNvPr>
          <p:cNvSpPr>
            <a:spLocks xmlns:a="http://schemas.openxmlformats.org/drawingml/2006/main" noGrp="1"/>
          </p:cNvSpPr>
          <p:nvPr/>
        </p:nvSpPr>
        <p:spPr>
          <a:xfrm xmlns:a="http://schemas.openxmlformats.org/drawingml/2006/main">
            <a:off x="5476875" y="4800600"/>
            <a:ext cx="48101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00" b="0">
                <a:solidFill>
                  <a:srgbClr val="F2E8D5"/>
                </a:solidFill>
                <a:latin typeface="Arial"/>
                <a:ea typeface="Arial"/>
                <a:cs typeface="Arial"/>
              </a:defRPr>
            </a:defPPr>
          </a:lstStyle>
          <a:p xmlns:a="http://schemas.openxmlformats.org/drawingml/2006/main">
            <a:pPr algn="l">
              <a:lnSpc>
                <a:spcPct val="112000"/>
              </a:lnSpc>
              <a:buNone/>
              <a:defRPr sz="2500" b="0">
                <a:solidFill>
                  <a:srgbClr val="F2E8D5"/>
                </a:solidFill>
                <a:latin typeface="Arial"/>
                <a:ea typeface="Arial"/>
                <a:cs typeface="Arial"/>
              </a:defRPr>
            </a:pPr>
            <a:r>
              <a:rPr sz="2500" b="0">
                <a:solidFill>
                  <a:srgbClr val="F2E8D5"/>
                </a:solidFill>
                <a:latin typeface="Arial"/>
                <a:ea typeface="Arial"/>
                <a:cs typeface="Arial"/>
              </a:rPr>
              <a:t>“In my next draft, I will…”</a:t>
            </a:r>
          </a:p>
        </p:txBody>
      </p:sp>
      <p:sp>
        <p:nvSpPr>
          <p:cNvPr id="13" name="template-capacity-guide">
            <a:extLst xmlns:a="http://schemas.openxmlformats.org/drawingml/2006/main">
              <a:ext uri="{FF2B5EF4-FFF2-40B4-BE49-F238E27FC236}">
                <a16:creationId xmlns:a16="http://schemas.microsoft.com/office/drawing/2014/main" id="{BCB8B125-B77C-446F-B3ED-432CACDCEF12}"/>
              </a:ext>
            </a:extLst>
          </p:cNvPr>
          <p:cNvSpPr>
            <a:spLocks xmlns:a="http://schemas.openxmlformats.org/drawingml/2006/main" noGrp="1"/>
          </p:cNvSpPr>
          <p:nvPr/>
        </p:nvSpPr>
        <p:spPr>
          <a:xfrm xmlns:a="http://schemas.openxmlformats.org/drawingml/2006/main">
            <a:off x="1952625" y="6343650"/>
            <a:ext cx="8334375" cy="276225"/>
          </a:xfrm>
          <a:prstGeom xmlns:a="http://schemas.openxmlformats.org/drawingml/2006/main" prst="rect">
            <a:avLst/>
          </a:prstGeom>
          <a:solidFill xmlns:a="http://schemas.openxmlformats.org/drawingml/2006/main">
            <a:srgbClr val="211B16"/>
          </a:solidFill>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00" b="0">
                <a:solidFill>
                  <a:srgbClr val="B89B5E"/>
                </a:solidFill>
                <a:latin typeface="Arial"/>
                <a:ea typeface="Arial"/>
                <a:cs typeface="Arial"/>
              </a:defRPr>
            </a:defPPr>
          </a:lstStyle>
          <a:p xmlns:a="http://schemas.openxmlformats.org/drawingml/2006/main">
            <a:pPr algn="l">
              <a:lnSpc>
                <a:spcPct val="112000"/>
              </a:lnSpc>
              <a:buNone/>
              <a:defRPr sz="1600" b="0">
                <a:solidFill>
                  <a:srgbClr val="B89B5E"/>
                </a:solidFill>
                <a:latin typeface="Arial"/>
                <a:ea typeface="Arial"/>
                <a:cs typeface="Arial"/>
              </a:defRPr>
            </a:pPr>
            <a:r>
              <a:rPr sz="1600" b="0">
                <a:solidFill>
                  <a:srgbClr val="B89B5E"/>
                </a:solidFill>
                <a:latin typeface="Arial"/>
                <a:ea typeface="Arial"/>
                <a:cs typeface="Arial"/>
              </a:rPr>
              <a:t>Example: three brief speaking frames at 25 pt</a:t>
            </a:r>
          </a:p>
        </p:txBody>
      </p:sp>
    </p:spTree>
    <p:extLst>
      <p:ext uri="{BB962C8B-B14F-4D97-AF65-F5344CB8AC3E}">
        <p14:creationId xmlns:p14="http://schemas.microsoft.com/office/powerpoint/2010/main" val="895822665"/>
      </p:ext>
    </p:extLst>
  </p:cSld>
</p:sld>
</file>

<file path=ppt/theme/theme1.xml><?xml version="1.0" encoding="utf-8"?>
<a:theme xmlns:a="http://schemas.openxmlformats.org/drawingml/2006/main" name="ChatGPT">
  <a:themeElements>
    <a:clrScheme name="AE Humanities">
      <a:dk1>
        <a:srgbClr val="211B16"/>
      </a:dk1>
      <a:lt1>
        <a:srgbClr val="F2E8D5"/>
      </a:lt1>
      <a:dk2>
        <a:srgbClr val="211B16"/>
      </a:dk2>
      <a:lt2>
        <a:srgbClr val="E9D8B6"/>
      </a:lt2>
      <a:accent1>
        <a:srgbClr val="B89B5E"/>
      </a:accent1>
      <a:accent2>
        <a:srgbClr val="5C2230"/>
      </a:accent2>
      <a:accent3>
        <a:srgbClr val="6B7258"/>
      </a:accent3>
      <a:accent4>
        <a:srgbClr val="E9D8B6"/>
      </a:accent4>
      <a:accent5>
        <a:srgbClr val="211B16"/>
      </a:accent5>
      <a:accent6>
        <a:srgbClr val="F2E8D5"/>
      </a:accent6>
      <a:hlink>
        <a:srgbClr val="5C2230"/>
      </a:hlink>
      <a:folHlink>
        <a:srgbClr val="6B7258"/>
      </a:folHlink>
    </a:clrScheme>
    <a:fontScheme name="">
      <a:majorFont>
        <a:latin typeface="Arial"/>
        <a:ea typeface=""/>
        <a:cs typeface=""/>
      </a:majorFont>
      <a:minorFont>
        <a:latin typeface="Arial"/>
        <a:ea typeface=""/>
        <a:cs typeface=""/>
      </a:minorFont>
    </a:fontScheme>
    <a:fmtScheme name="AE Humanities">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2026-10-25T06:23:33.8130000Z</dcterms:created>
  <dcterms:modified xsi:type="dcterms:W3CDTF">2026-10-25T06:23:33.8130000Z</dcterms:modified>
</coreProperties>
</file>
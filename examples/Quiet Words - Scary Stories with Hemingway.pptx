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db427490ff4da5" /><Relationship Type="http://schemas.openxmlformats.org/officeDocument/2006/relationships/extended-properties" Target="/docProps/app.xml" Id="Rb3963bc4c7544441" /><Relationship Type="http://schemas.openxmlformats.org/officeDocument/2006/relationships/officeDocument" Target="/ppt/presentation.xml" Id="Rd13b4da08fc34cf9" /></Relationships>
</file>

<file path=ppt/presentation.xml><?xml version="1.0" encoding="utf-8"?>
<p:presentation xmlns:p="http://schemas.openxmlformats.org/presentationml/2006/main">
  <p:sldMasterIdLst>
    <p:sldMasterId xmlns:r="http://schemas.openxmlformats.org/officeDocument/2006/relationships" id="2147483648" r:id="R7ca4e1582042413a"/>
  </p:sldMasterIdLst>
  <p:notesMasterIdLst>
    <p:notesMasterId xmlns:r="http://schemas.openxmlformats.org/officeDocument/2006/relationships" r:id="Rc33ef147da3f4600"/>
  </p:notesMasterIdLst>
  <p:sldIdLst>
    <p:sldId xmlns:r="http://schemas.openxmlformats.org/officeDocument/2006/relationships" id="256" r:id="R9c6ddc7ecd7c4990"/>
    <p:sldId xmlns:r="http://schemas.openxmlformats.org/officeDocument/2006/relationships" id="257" r:id="R1fc7a4088c02427e"/>
    <p:sldId xmlns:r="http://schemas.openxmlformats.org/officeDocument/2006/relationships" id="258" r:id="R6eb33ed632454c25"/>
    <p:sldId xmlns:r="http://schemas.openxmlformats.org/officeDocument/2006/relationships" id="259" r:id="R7e694789807146af"/>
    <p:sldId xmlns:r="http://schemas.openxmlformats.org/officeDocument/2006/relationships" id="260" r:id="R34c25f8c621544e1"/>
    <p:sldId xmlns:r="http://schemas.openxmlformats.org/officeDocument/2006/relationships" id="261" r:id="R6453feb53a5b4010"/>
    <p:sldId xmlns:r="http://schemas.openxmlformats.org/officeDocument/2006/relationships" id="262" r:id="R0341588f69d94f9c"/>
    <p:sldId xmlns:r="http://schemas.openxmlformats.org/officeDocument/2006/relationships" id="263" r:id="R248ec39f6d524795"/>
    <p:sldId xmlns:r="http://schemas.openxmlformats.org/officeDocument/2006/relationships" id="264" r:id="Rf920a266737f48f5"/>
    <p:sldId xmlns:r="http://schemas.openxmlformats.org/officeDocument/2006/relationships" id="265" r:id="R94bea829cb6f44c3"/>
    <p:sldId xmlns:r="http://schemas.openxmlformats.org/officeDocument/2006/relationships" id="266" r:id="R6d201b09e6e94e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37c0fe398a461e" /><Relationship Type="http://schemas.openxmlformats.org/officeDocument/2006/relationships/slideMaster" Target="/ppt/slideMasters/slideMaster1.xml" Id="R7ca4e1582042413a" /><Relationship Type="http://schemas.openxmlformats.org/officeDocument/2006/relationships/notesMaster" Target="/ppt/notesMasters/notesMaster1.xml" Id="Rc33ef147da3f4600" /><Relationship Type="http://schemas.openxmlformats.org/officeDocument/2006/relationships/presProps" Target="/ppt/presProps.xml" Id="Ra08eb8aabf7e475b" /><Relationship Type="http://schemas.openxmlformats.org/officeDocument/2006/relationships/tableStyles" Target="/ppt/tableStyles.xml" Id="R3642ee6d2aeb4959" /><Relationship Type="http://schemas.openxmlformats.org/officeDocument/2006/relationships/slide" Target="/ppt/slides/slide1.xml" Id="R9c6ddc7ecd7c4990" /><Relationship Type="http://schemas.openxmlformats.org/officeDocument/2006/relationships/slide" Target="/ppt/slides/slide2.xml" Id="R1fc7a4088c02427e" /><Relationship Type="http://schemas.openxmlformats.org/officeDocument/2006/relationships/slide" Target="/ppt/slides/slide3.xml" Id="R6eb33ed632454c25" /><Relationship Type="http://schemas.openxmlformats.org/officeDocument/2006/relationships/slide" Target="/ppt/slides/slide4.xml" Id="R7e694789807146af" /><Relationship Type="http://schemas.openxmlformats.org/officeDocument/2006/relationships/slide" Target="/ppt/slides/slide5.xml" Id="R34c25f8c621544e1" /><Relationship Type="http://schemas.openxmlformats.org/officeDocument/2006/relationships/slide" Target="/ppt/slides/slide6.xml" Id="R6453feb53a5b4010" /><Relationship Type="http://schemas.openxmlformats.org/officeDocument/2006/relationships/slide" Target="/ppt/slides/slide7.xml" Id="R0341588f69d94f9c" /><Relationship Type="http://schemas.openxmlformats.org/officeDocument/2006/relationships/slide" Target="/ppt/slides/slide8.xml" Id="R248ec39f6d524795" /><Relationship Type="http://schemas.openxmlformats.org/officeDocument/2006/relationships/slide" Target="/ppt/slides/slide9.xml" Id="Rf920a266737f48f5" /><Relationship Type="http://schemas.openxmlformats.org/officeDocument/2006/relationships/slide" Target="/ppt/slides/slide10.xml" Id="R94bea829cb6f44c3" /><Relationship Type="http://schemas.openxmlformats.org/officeDocument/2006/relationships/slide" Target="/ppt/slides/slide11.xml" Id="R6d201b09e6e94e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1eed8426d146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E Humanities">
      <a:dk1>
        <a:srgbClr val="171512"/>
      </a:dk1>
      <a:lt1>
        <a:srgbClr val="F2E8D5"/>
      </a:lt1>
      <a:dk2>
        <a:srgbClr val="211B16"/>
      </a:dk2>
      <a:lt2>
        <a:srgbClr val="E9D8B6"/>
      </a:lt2>
      <a:accent1>
        <a:srgbClr val="B89B5E"/>
      </a:accent1>
      <a:accent2>
        <a:srgbClr val="5C2230"/>
      </a:accent2>
      <a:accent3>
        <a:srgbClr val="6B7258"/>
      </a:accent3>
      <a:accent4>
        <a:srgbClr val="E9D8B6"/>
      </a:accent4>
      <a:accent5>
        <a:srgbClr val="211B16"/>
      </a:accent5>
      <a:accent6>
        <a:srgbClr val="F2E8D5"/>
      </a:accent6>
      <a:hlink>
        <a:srgbClr val="5C2230"/>
      </a:hlink>
      <a:folHlink>
        <a:srgbClr val="6B7258"/>
      </a:folHlink>
    </a:clrScheme>
    <a:fontScheme name="">
      <a:majorFont>
        <a:latin typeface="Arial"/>
        <a:ea typeface=""/>
        <a:cs typeface=""/>
      </a:majorFont>
      <a:minorFont>
        <a:latin typeface="Arial"/>
        <a:ea typeface=""/>
        <a:cs typeface=""/>
      </a:minorFont>
    </a:fontScheme>
    <a:fmtScheme name="AE Humaniti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3ce0cae79844cb" /><Relationship Type="http://schemas.openxmlformats.org/officeDocument/2006/relationships/notesMaster" Target="/ppt/notesMasters/notesMaster1.xml" Id="Rd7f277225aa04c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b125aac29e4832" /><Relationship Type="http://schemas.openxmlformats.org/officeDocument/2006/relationships/notesMaster" Target="/ppt/notesMasters/notesMaster1.xml" Id="Rdb5e158f860e4c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caa2d9bb7a4d2c" /><Relationship Type="http://schemas.openxmlformats.org/officeDocument/2006/relationships/notesMaster" Target="/ppt/notesMasters/notesMaster1.xml" Id="R9f900afc160a4c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48b753198d4ac6" /><Relationship Type="http://schemas.openxmlformats.org/officeDocument/2006/relationships/notesMaster" Target="/ppt/notesMasters/notesMaster1.xml" Id="Rc44975f0cbc84a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9b6d8bac8545e8" /><Relationship Type="http://schemas.openxmlformats.org/officeDocument/2006/relationships/notesMaster" Target="/ppt/notesMasters/notesMaster1.xml" Id="R735263faebbc41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f6d3e93ada46fa" /><Relationship Type="http://schemas.openxmlformats.org/officeDocument/2006/relationships/notesMaster" Target="/ppt/notesMasters/notesMaster1.xml" Id="Rf042c8ef22b941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88eb165a364b0f" /><Relationship Type="http://schemas.openxmlformats.org/officeDocument/2006/relationships/notesMaster" Target="/ppt/notesMasters/notesMaster1.xml" Id="R1a032384192546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8387bbe83e4d9e" /><Relationship Type="http://schemas.openxmlformats.org/officeDocument/2006/relationships/notesMaster" Target="/ppt/notesMasters/notesMaster1.xml" Id="Rb11a67edae6a43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d2bd1086ab46cf" /><Relationship Type="http://schemas.openxmlformats.org/officeDocument/2006/relationships/notesMaster" Target="/ppt/notesMasters/notesMaster1.xml" Id="R67817a39f6a143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2c48227d4448b7" /><Relationship Type="http://schemas.openxmlformats.org/officeDocument/2006/relationships/notesMaster" Target="/ppt/notesMasters/notesMaster1.xml" Id="R43f8e8831fcf43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29166e1d7a463e" /><Relationship Type="http://schemas.openxmlformats.org/officeDocument/2006/relationships/notesMaster" Target="/ppt/notesMasters/notesMaster1.xml" Id="R333fb06d29b145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brief writing lesson: about 12–15 minutes of teaching/practice, 10 minutes drafting, 3 minutes revision. These are selected craft habits inspired by Hemingway, not a formula that describes every sentence he wrote. All examples except the attributed quotation on slide 2 are original classroom writing. Motion plan only: use a 0.4-second Fade between slides, with manual advance. Native transitions and animations are not implemented by the available authoring API.</a:t>
            </a:r>
          </a:p>
          <a:p xmlns:a="http://schemas.openxmlformats.org/drawingml/2006/main">
            <a:br/>
            <a:r>
              <a:t>Artwork: AI-generated asset from the user’s AE Humanities ppts collection, 27-empty-writers-room-graphite.png.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Ernest Hemingway, in our time (Three Mountains Press, 1924), chapter 6. https://www.gutenberg.org/cache/epub/61085/pg61085-images.html The text actually displayed is the 1924 collection, not the expanded 1925 volume. The quotation comprises three consecutive sentences and 22 words. Context: a courtyard before an execution; the selected passage is non-graphic. Classroom interpretation: ordinary objects, repeated syntax and changing sentence length can make a scene concrete and controlled. Do not teach that Hemingway never used adjectives or long sentences. Ask which words the reader can picture.</a:t>
            </a:r>
          </a:p>
          <a:p xmlns:a="http://schemas.openxmlformats.org/drawingml/2006/main">
            <a:br/>
            <a:r>
              <a:t>Artwork: AI-generated asset from the user’s AE Humanities ppts collection, 21-hemingway-hand-drawn-portrait.png.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teaching examples. Ask students to find the action hidden inside the first sentence. “Crept” carries a slow, careful movement; the physical action lets the reader infer fear. This is a possible rewrite, not an exact synonym for every situation. An adjective can stay when it contributes useful information. Reveal plan: show the original first; click to reveal the rewrite, then the three sentence parts.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examples. “He missed the keyhole twice” can imply fear, haste, cold or another cause. In a scary scene the surrounding clues guide the inference. Ask what “twice” contributes. Adjectives are not forbidden: keep precise details such as “wet” when they do work. Reveal plan: leave the prompt visible, then reveal model-response after students suggest a physical action.</a:t>
            </a:r>
          </a:p>
          <a:p xmlns:a="http://schemas.openxmlformats.org/drawingml/2006/main">
            <a:br/>
            <a:r>
              <a:t>Artwork: AI-generated asset from the user’s AE Humanities ppts collection, 10-brass-key-ribbon.png.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Hemingway described omission through his iceberg principle: the writer knows more than is stated. Source: George Plimpton’s interview with Ernest Hemingway, The Paris Review, Spring 1958, “The Art of Fiction No. 21”: https://www.theparisreview.org/interviews/4825/the-art-of-fiction-no-21-ernest-hemingway . The omission passage was checked in this full-text reproduction: https://bradybouchard.ca/republished/hemingway.html . Classroom application: make the visible events clear while leaving some cause, history or feeling unstated. Omission is not confusion. The example is original, and “someone came in” is a possible inference, not the only logical explanation. Reveal plan: the visible facts appear first; reveal the inference after pairs discuss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example. Read aloud first with one breath and then with a pause before the final sentence. The longer sentence follows the character’s movement; the shorter one stops that movement and focuses attention. Simple prose does not mean every sentence has the same length. “And” can join related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classroom model written for this lesson; not a Hemingway quotation. Ask students to find (1) two concrete details, (2) the strongest action, and (3) something the narrator does not explain. Possible answers: scraped chair, steam, spoon striking the cup; leaving the cup within reach; whether the father has returned, whether the narrator is grieving, and why the narrator makes space for him. The last act adds longing to fear. This model is shorter than the independent writing task to keep close reading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60–90 seconds. Pair practice before the independent story. Many answers are possible. One original model: “The handle turned. I held my breath.” Students can add a meaningful concrete detail, for example “The handle turned from the other side.” Do not require this wording or penalize a different effective image. The answer stays in the notes so it does not spoil the task. Motion plan only: use a 0.4-second Fade between slides, with manual advance. Native transitions and animations are not implemented by the available authoring API. Suggested optional reveal: put the sample answer in a separate text box and apply Appear on click.</a:t>
            </a:r>
          </a:p>
          <a:p xmlns:a="http://schemas.openxmlformats.org/drawingml/2006/main">
            <a:br/>
            <a:r>
              <a:t>Artwork: AI-generated asset from the user’s AE Humanities ppts collection, 50-library-text-center.png.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scaffold for this exercise, not a universal story formula. Students may change its order. Give 1–2 minutes for planning. Ask them to decide privately what is happening, even if the final story leaves its cause open. Meaningful sentences should reveal a character, move the action or sharpen the threat. A loud twist is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classroom exercise, not a change to the earlier 500-word article-review assignment. Give 10 minutes for 100–150 words; shorten or extend the time for the class. Use the opening only if it helps. These are learning goals, not a ban on all adjectives, dialogue or longer sentences. No graphic violence is needed; uncertainty, sound, ordinary objects and human attachment can carry the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3-minute revision. A complete short sentence has a subject and verb. Students may use longer sentences if the meaning is clear; do not force a whole story into fragments. Partner response should name the particular detail that creates fear and ask a useful question about unclear action. Do not ask the writer to explain every mystery. Source and image credits are attached to the relevant slides. Motion plan only: use a 0.4-second Fade between slides, with manual advance. Native transitions and animations are not implemented by the available authoring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3c49d5f8f147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21a3e2363d4c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5e5a3796244a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1387ab1c6d4f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54b56628144c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e93c19e1a841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9B2E0-C245-4A3C-BBB0-B1F2145AB88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F17742-FF4B-4109-B7B8-3CBF96E60F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5FC9F2-FA08-4E20-89CD-346E2D548F9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CABF86-C777-48A7-8723-1EA180373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BE7185-765D-4E65-9F4B-603B15C852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8CC00E-A371-4493-A304-4C9E2AFDFA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F2D829-E47F-4F51-B6B2-571C292C88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B09C88-4614-4342-A686-60E22A5159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C1F6EC-AE24-444B-9F59-EEB8CE79F7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2A1F81-C271-47E4-991A-5CE3EDB02F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d2e851b46640b9" /><Relationship Type="http://schemas.openxmlformats.org/officeDocument/2006/relationships/slideLayout" Target="/ppt/slideLayouts/slideLayout1.xml" Id="Rc240fe48e5424d16" /><Relationship Type="http://schemas.openxmlformats.org/officeDocument/2006/relationships/slideLayout" Target="/ppt/slideLayouts/slideLayout2.xml" Id="Refa39d8bb1a94f85" /><Relationship Type="http://schemas.openxmlformats.org/officeDocument/2006/relationships/slideLayout" Target="/ppt/slideLayouts/slideLayout3.xml" Id="R631b73e3d53c4551" /><Relationship Type="http://schemas.openxmlformats.org/officeDocument/2006/relationships/slideLayout" Target="/ppt/slideLayouts/slideLayout4.xml" Id="Re8176d07397a46a9" /><Relationship Type="http://schemas.openxmlformats.org/officeDocument/2006/relationships/slideLayout" Target="/ppt/slideLayouts/slideLayout5.xml" Id="R8f2eb0d144bd4149" /><Relationship Type="http://schemas.openxmlformats.org/officeDocument/2006/relationships/slideLayout" Target="/ppt/slideLayouts/slideLayout6.xml" Id="Rf141df816d2448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40fe48e5424d16"/>
    <p:sldLayoutId xmlns:r="http://schemas.openxmlformats.org/officeDocument/2006/relationships" id="2147483650" r:id="Refa39d8bb1a94f85"/>
    <p:sldLayoutId xmlns:r="http://schemas.openxmlformats.org/officeDocument/2006/relationships" id="2147483651" r:id="R631b73e3d53c4551"/>
    <p:sldLayoutId xmlns:r="http://schemas.openxmlformats.org/officeDocument/2006/relationships" id="2147483652" r:id="Re8176d07397a46a9"/>
    <p:sldLayoutId xmlns:r="http://schemas.openxmlformats.org/officeDocument/2006/relationships" id="2147483653" r:id="R8f2eb0d144bd4149"/>
    <p:sldLayoutId xmlns:r="http://schemas.openxmlformats.org/officeDocument/2006/relationships" id="2147483654" r:id="Rf141df816d2448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E Humanities">
      <a:dk1>
        <a:srgbClr val="171512"/>
      </a:dk1>
      <a:lt1>
        <a:srgbClr val="F2E8D5"/>
      </a:lt1>
      <a:dk2>
        <a:srgbClr val="211B16"/>
      </a:dk2>
      <a:lt2>
        <a:srgbClr val="E9D8B6"/>
      </a:lt2>
      <a:accent1>
        <a:srgbClr val="B89B5E"/>
      </a:accent1>
      <a:accent2>
        <a:srgbClr val="5C2230"/>
      </a:accent2>
      <a:accent3>
        <a:srgbClr val="6B7258"/>
      </a:accent3>
      <a:accent4>
        <a:srgbClr val="E9D8B6"/>
      </a:accent4>
      <a:accent5>
        <a:srgbClr val="211B16"/>
      </a:accent5>
      <a:accent6>
        <a:srgbClr val="F2E8D5"/>
      </a:accent6>
      <a:hlink>
        <a:srgbClr val="5C2230"/>
      </a:hlink>
      <a:folHlink>
        <a:srgbClr val="6B7258"/>
      </a:folHlink>
    </a:clrScheme>
    <a:fontScheme name="">
      <a:majorFont>
        <a:latin typeface="Arial"/>
        <a:ea typeface=""/>
        <a:cs typeface=""/>
      </a:majorFont>
      <a:minorFont>
        <a:latin typeface="Arial"/>
        <a:ea typeface=""/>
        <a:cs typeface=""/>
      </a:minorFont>
    </a:fontScheme>
    <a:fmtScheme name="AE Humaniti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50bb06dfd44a21" /><Relationship Type="http://schemas.openxmlformats.org/officeDocument/2006/relationships/image" Target="/ppt/media/image.png" Id="R0142392bd1934a79" /><Relationship Type="http://schemas.openxmlformats.org/officeDocument/2006/relationships/notesSlide" Target="/ppt/notesSlides/notesSlide1.xml" Id="Rf3a8d847400646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f62d78c255d4175" /><Relationship Type="http://schemas.openxmlformats.org/officeDocument/2006/relationships/image" Target="/ppt/media/image2.png" Id="R086109f34efb43c1" /><Relationship Type="http://schemas.openxmlformats.org/officeDocument/2006/relationships/notesSlide" Target="/ppt/notesSlides/notesSlide2.xml" Id="Rfab94b9cd9a148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d3f8e18d954962" /><Relationship Type="http://schemas.openxmlformats.org/officeDocument/2006/relationships/notesSlide" Target="/ppt/notesSlides/notesSlide3.xml" Id="R3b40424023ea44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65e1edff9344ac" /><Relationship Type="http://schemas.openxmlformats.org/officeDocument/2006/relationships/image" Target="/ppt/media/image3.png" Id="Rd8cfe7c5202949d9" /><Relationship Type="http://schemas.openxmlformats.org/officeDocument/2006/relationships/notesSlide" Target="/ppt/notesSlides/notesSlide4.xml" Id="R72c4fac595ad49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0aa844f8cd49f4" /><Relationship Type="http://schemas.openxmlformats.org/officeDocument/2006/relationships/notesSlide" Target="/ppt/notesSlides/notesSlide5.xml" Id="R540178420d3c4e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9b58a45d40492d" /><Relationship Type="http://schemas.openxmlformats.org/officeDocument/2006/relationships/notesSlide" Target="/ppt/notesSlides/notesSlide6.xml" Id="R33aad51d44c24b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dac0e3d15414a6d" /><Relationship Type="http://schemas.openxmlformats.org/officeDocument/2006/relationships/notesSlide" Target="/ppt/notesSlides/notesSlide7.xml" Id="Rcf22f7e67a6441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1092a1041d4bc1" /><Relationship Type="http://schemas.openxmlformats.org/officeDocument/2006/relationships/image" Target="/ppt/media/image4.png" Id="R0c4136af47274a59" /><Relationship Type="http://schemas.openxmlformats.org/officeDocument/2006/relationships/notesSlide" Target="/ppt/notesSlides/notesSlide8.xml" Id="Rba7e8c8c6f5349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e05857fe774d2d" /><Relationship Type="http://schemas.openxmlformats.org/officeDocument/2006/relationships/notesSlide" Target="/ppt/notesSlides/notesSlide9.xml" Id="R3d99b16982e349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ea862a93d94ef1" /><Relationship Type="http://schemas.openxmlformats.org/officeDocument/2006/relationships/notesSlide" Target="/ppt/notesSlides/notesSlide10.xml" Id="Rcd824b8c4c6541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09fb27f6c584dde" /><Relationship Type="http://schemas.openxmlformats.org/officeDocument/2006/relationships/notesSlide" Target="/ppt/notesSlides/notesSlide11.xml" Id="R7f0f18714ae149c5" /></Relationships>
</file>

<file path=ppt/slides/slide1.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78CD5DE4-2D66-4ED6-AC4C-0A3B922F9D77}"/>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CAC66C92-D9A5-4986-90A6-3561EB6AA516}"/>
              </a:ext>
            </a:extLst>
          </p:cNvPr>
          <p:cNvPicPr>
            <a:picLocks xmlns:a="http://schemas.openxmlformats.org/drawingml/2006/main" noChangeAspect="1"/>
          </p:cNvPicPr>
          <p:nvPr/>
        </p:nvPicPr>
        <p:blipFill>
          <a:blip xmlns:r="http://schemas.openxmlformats.org/officeDocument/2006/relationships" xmlns:a="http://schemas.openxmlformats.org/drawingml/2006/main" r:embed="R0142392bd1934a7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77CC3AAD-6BEF-4655-BBCD-C54C24DFDEC0}"/>
              </a:ext>
            </a:extLst>
          </p:cNvPr>
          <p:cNvSpPr>
            <a:spLocks xmlns:a="http://schemas.openxmlformats.org/drawingml/2006/main" noGrp="1"/>
          </p:cNvSpPr>
          <p:nvPr/>
        </p:nvSpPr>
        <p:spPr>
          <a:xfrm xmlns:a="http://schemas.openxmlformats.org/drawingml/2006/main">
            <a:off x="666750" y="1381125"/>
            <a:ext cx="5619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00" b="1">
                <a:solidFill>
                  <a:srgbClr val="211B16"/>
                </a:solidFill>
                <a:latin typeface="Georgia"/>
                <a:ea typeface="Georgia"/>
                <a:cs typeface="Georgia"/>
              </a:defRPr>
            </a:defPPr>
          </a:lstStyle>
          <a:p xmlns:a="http://schemas.openxmlformats.org/drawingml/2006/main">
            <a:pPr algn="l">
              <a:lnSpc>
                <a:spcPct val="108000"/>
              </a:lnSpc>
              <a:buNone/>
              <a:defRPr sz="5000" b="1">
                <a:solidFill>
                  <a:srgbClr val="211B16"/>
                </a:solidFill>
                <a:latin typeface="Georgia"/>
                <a:ea typeface="Georgia"/>
                <a:cs typeface="Georgia"/>
              </a:defRPr>
            </a:pPr>
            <a:r>
              <a:rPr sz="5000" b="1">
                <a:solidFill>
                  <a:srgbClr val="211B16"/>
                </a:solidFill>
                <a:latin typeface="Georgia"/>
                <a:ea typeface="Georgia"/>
                <a:cs typeface="Georgia"/>
              </a:rPr>
              <a:t>Quiet words.</a:t>
            </a:r>
          </a:p>
          <a:p xmlns:a="http://schemas.openxmlformats.org/drawingml/2006/main">
            <a:pPr algn="l">
              <a:lnSpc>
                <a:spcPct val="108000"/>
              </a:lnSpc>
              <a:buNone/>
              <a:defRPr sz="5000" b="1">
                <a:solidFill>
                  <a:srgbClr val="211B16"/>
                </a:solidFill>
                <a:latin typeface="Georgia"/>
                <a:ea typeface="Georgia"/>
                <a:cs typeface="Georgia"/>
              </a:defRPr>
            </a:pPr>
            <a:r>
              <a:rPr sz="5000" b="1">
                <a:solidFill>
                  <a:srgbClr val="211B16"/>
                </a:solidFill>
                <a:latin typeface="Georgia"/>
                <a:ea typeface="Georgia"/>
                <a:cs typeface="Georgia"/>
              </a:rPr>
              <a:t>Real fear.</a:t>
            </a:r>
          </a:p>
        </p:txBody>
      </p:sp>
      <p:sp>
        <p:nvSpPr>
          <p:cNvPr id="4" name="subtitle">
            <a:extLst xmlns:a="http://schemas.openxmlformats.org/drawingml/2006/main">
              <a:ext uri="{FF2B5EF4-FFF2-40B4-BE49-F238E27FC236}">
                <a16:creationId xmlns:a16="http://schemas.microsoft.com/office/drawing/2014/main" id="{B3DF4E9A-E9B7-4F33-A54A-486E10D7CB14}"/>
              </a:ext>
            </a:extLst>
          </p:cNvPr>
          <p:cNvSpPr>
            <a:spLocks xmlns:a="http://schemas.openxmlformats.org/drawingml/2006/main" noGrp="1"/>
          </p:cNvSpPr>
          <p:nvPr/>
        </p:nvSpPr>
        <p:spPr>
          <a:xfrm xmlns:a="http://schemas.openxmlformats.org/drawingml/2006/main">
            <a:off x="666750" y="40005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11B16"/>
                </a:solidFill>
                <a:latin typeface="Arial"/>
                <a:ea typeface="Arial"/>
                <a:cs typeface="Arial"/>
              </a:defRPr>
            </a:defPPr>
          </a:lstStyle>
          <a:p xmlns:a="http://schemas.openxmlformats.org/drawingml/2006/main">
            <a:pPr algn="l">
              <a:lnSpc>
                <a:spcPct val="108000"/>
              </a:lnSpc>
              <a:buNone/>
              <a:defRPr sz="2700" b="0">
                <a:solidFill>
                  <a:srgbClr val="211B16"/>
                </a:solidFill>
                <a:latin typeface="Arial"/>
                <a:ea typeface="Arial"/>
                <a:cs typeface="Arial"/>
              </a:defRPr>
            </a:pPr>
            <a:r>
              <a:rPr sz="2700" b="0">
                <a:solidFill>
                  <a:srgbClr val="211B16"/>
                </a:solidFill>
                <a:latin typeface="Arial"/>
                <a:ea typeface="Arial"/>
                <a:cs typeface="Arial"/>
              </a:rPr>
              <a:t>Write a short scary story</a:t>
            </a:r>
          </a:p>
          <a:p xmlns:a="http://schemas.openxmlformats.org/drawingml/2006/main">
            <a:pPr algn="l">
              <a:lnSpc>
                <a:spcPct val="108000"/>
              </a:lnSpc>
              <a:buNone/>
              <a:defRPr sz="2700" b="0">
                <a:solidFill>
                  <a:srgbClr val="211B16"/>
                </a:solidFill>
                <a:latin typeface="Arial"/>
                <a:ea typeface="Arial"/>
                <a:cs typeface="Arial"/>
              </a:defRPr>
            </a:pPr>
            <a:r>
              <a:rPr sz="2700" b="0">
                <a:solidFill>
                  <a:srgbClr val="211B16"/>
                </a:solidFill>
                <a:latin typeface="Arial"/>
                <a:ea typeface="Arial"/>
                <a:cs typeface="Arial"/>
              </a:rPr>
              <a:t>with Hemingway-inspired prose.</a:t>
            </a:r>
          </a:p>
        </p:txBody>
      </p:sp>
      <p:sp>
        <p:nvSpPr>
          <p:cNvPr id="5" name="text">
            <a:extLst xmlns:a="http://schemas.openxmlformats.org/drawingml/2006/main">
              <a:ext uri="{FF2B5EF4-FFF2-40B4-BE49-F238E27FC236}">
                <a16:creationId xmlns:a16="http://schemas.microsoft.com/office/drawing/2014/main" id="{5A564D1A-F8F0-4D1D-AF1E-73E590ECB9C4}"/>
              </a:ext>
            </a:extLst>
          </p:cNvPr>
          <p:cNvSpPr>
            <a:spLocks xmlns:a="http://schemas.openxmlformats.org/drawingml/2006/main" noGrp="1"/>
          </p:cNvSpPr>
          <p:nvPr/>
        </p:nvSpPr>
        <p:spPr>
          <a:xfrm xmlns:a="http://schemas.openxmlformats.org/drawingml/2006/main">
            <a:off x="666750" y="5810250"/>
            <a:ext cx="657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08000"/>
              </a:lnSpc>
              <a:buNone/>
              <a:defRPr sz="2200" b="1">
                <a:solidFill>
                  <a:srgbClr val="5C2230"/>
                </a:solidFill>
                <a:latin typeface="Arial"/>
                <a:ea typeface="Arial"/>
                <a:cs typeface="Arial"/>
              </a:defRPr>
            </a:pPr>
            <a:r>
              <a:rPr sz="2200" b="1">
                <a:solidFill>
                  <a:srgbClr val="5C2230"/>
                </a:solidFill>
                <a:latin typeface="Arial"/>
                <a:ea typeface="Arial"/>
                <a:cs typeface="Arial"/>
              </a:rPr>
              <a:t>Clear action. Concrete detail. Something unsaid.</a:t>
            </a:r>
          </a:p>
        </p:txBody>
      </p:sp>
    </p:spTree>
    <p:extLst>
      <p:ext uri="{BB962C8B-B14F-4D97-AF65-F5344CB8AC3E}">
        <p14:creationId xmlns:p14="http://schemas.microsoft.com/office/powerpoint/2010/main" val="528497880"/>
      </p:ext>
    </p:extLst>
  </p:cSld>
</p:sld>
</file>

<file path=ppt/slides/slide2.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E8D90E6A-C368-4765-8093-270D31036A01}"/>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08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Look at Hemingway’s sentences</a:t>
            </a:r>
          </a:p>
        </p:txBody>
      </p:sp>
      <p:sp>
        <p:nvSpPr>
          <p:cNvPr id="2" name="">
            <a:extLst xmlns:a="http://schemas.openxmlformats.org/drawingml/2006/main">
              <a:ext uri="{FF2B5EF4-FFF2-40B4-BE49-F238E27FC236}">
                <a16:creationId xmlns:a16="http://schemas.microsoft.com/office/drawing/2014/main" id="{30C681BF-F8A8-4CDA-AF7A-B158729FC946}"/>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E3736761-61E1-4C4D-8469-092FB4BB19CD}"/>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02</a:t>
            </a:r>
          </a:p>
        </p:txBody>
      </p:sp>
      <p:sp>
        <p:nvSpPr>
          <p:cNvPr id="4" name="hemingway-excerpt">
            <a:extLst xmlns:a="http://schemas.openxmlformats.org/drawingml/2006/main">
              <a:ext uri="{FF2B5EF4-FFF2-40B4-BE49-F238E27FC236}">
                <a16:creationId xmlns:a16="http://schemas.microsoft.com/office/drawing/2014/main" id="{55B73A2D-455A-40BA-9BD5-D2DB02CDB7ED}"/>
              </a:ext>
            </a:extLst>
          </p:cNvPr>
          <p:cNvSpPr>
            <a:spLocks xmlns:a="http://schemas.openxmlformats.org/drawingml/2006/main" noGrp="1"/>
          </p:cNvSpPr>
          <p:nvPr/>
        </p:nvSpPr>
        <p:spPr>
          <a:xfrm xmlns:a="http://schemas.openxmlformats.org/drawingml/2006/main">
            <a:off x="714375" y="2000250"/>
            <a:ext cx="7620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11B16"/>
                </a:solidFill>
                <a:latin typeface="Arial"/>
                <a:ea typeface="Arial"/>
                <a:cs typeface="Arial"/>
              </a:defRPr>
            </a:defPPr>
          </a:lstStyle>
          <a:p xmlns:a="http://schemas.openxmlformats.org/drawingml/2006/main">
            <a:pPr algn="l">
              <a:lnSpc>
                <a:spcPct val="108000"/>
              </a:lnSpc>
              <a:buNone/>
              <a:defRPr sz="3000" b="0">
                <a:solidFill>
                  <a:srgbClr val="211B16"/>
                </a:solidFill>
                <a:latin typeface="Arial"/>
                <a:ea typeface="Arial"/>
                <a:cs typeface="Arial"/>
              </a:defRPr>
            </a:pPr>
            <a:r>
              <a:rPr sz="3000" b="0">
                <a:solidFill>
                  <a:srgbClr val="211B16"/>
                </a:solidFill>
                <a:latin typeface="Arial"/>
                <a:ea typeface="Arial"/>
                <a:cs typeface="Arial"/>
              </a:rPr>
              <a:t>“There were pools of water in the courtyard. There were wet dead leaves on the paving of the courtyard. It rained hard.”</a:t>
            </a:r>
          </a:p>
        </p:txBody>
      </p:sp>
      <p:sp>
        <p:nvSpPr>
          <p:cNvPr id="5" name="text">
            <a:extLst xmlns:a="http://schemas.openxmlformats.org/drawingml/2006/main">
              <a:ext uri="{FF2B5EF4-FFF2-40B4-BE49-F238E27FC236}">
                <a16:creationId xmlns:a16="http://schemas.microsoft.com/office/drawing/2014/main" id="{01FBB4B5-4BBC-435F-96B4-8EFC9BBDE372}"/>
              </a:ext>
            </a:extLst>
          </p:cNvPr>
          <p:cNvSpPr>
            <a:spLocks xmlns:a="http://schemas.openxmlformats.org/drawingml/2006/main" noGrp="1"/>
          </p:cNvSpPr>
          <p:nvPr/>
        </p:nvSpPr>
        <p:spPr>
          <a:xfrm xmlns:a="http://schemas.openxmlformats.org/drawingml/2006/main">
            <a:off x="714375" y="39052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5C2230"/>
                </a:solidFill>
                <a:latin typeface="Arial"/>
                <a:ea typeface="Arial"/>
                <a:cs typeface="Arial"/>
              </a:defRPr>
            </a:defPPr>
          </a:lstStyle>
          <a:p xmlns:a="http://schemas.openxmlformats.org/drawingml/2006/main">
            <a:pPr algn="l">
              <a:lnSpc>
                <a:spcPct val="108000"/>
              </a:lnSpc>
              <a:buNone/>
              <a:defRPr sz="2200" b="0">
                <a:solidFill>
                  <a:srgbClr val="5C2230"/>
                </a:solidFill>
                <a:latin typeface="Arial"/>
                <a:ea typeface="Arial"/>
                <a:cs typeface="Arial"/>
              </a:defRPr>
            </a:pPr>
            <a:r>
              <a:rPr sz="2200" b="0">
                <a:solidFill>
                  <a:srgbClr val="5C2230"/>
                </a:solidFill>
                <a:latin typeface="Arial"/>
                <a:ea typeface="Arial"/>
                <a:cs typeface="Arial"/>
              </a:rPr>
              <a:t>Ernest Hemingway · in our time (1924), chapter 6</a:t>
            </a:r>
          </a:p>
        </p:txBody>
      </p:sp>
      <p:pic>
        <p:nvPicPr>
          <p:cNvPr id="6" name="">
            <a:extLst xmlns:a="http://schemas.openxmlformats.org/drawingml/2006/main">
              <a:ext uri="{FF2B5EF4-FFF2-40B4-BE49-F238E27FC236}">
                <a16:creationId xmlns:a16="http://schemas.microsoft.com/office/drawing/2014/main" id="{74182FFA-C89A-4A19-A47C-8EE82B10FB85}"/>
              </a:ext>
            </a:extLst>
          </p:cNvPr>
          <p:cNvPicPr>
            <a:picLocks xmlns:a="http://schemas.openxmlformats.org/drawingml/2006/main" noChangeAspect="1"/>
          </p:cNvPicPr>
          <p:nvPr/>
        </p:nvPicPr>
        <p:blipFill>
          <a:blip xmlns:r="http://schemas.openxmlformats.org/officeDocument/2006/relationships" xmlns:a="http://schemas.openxmlformats.org/drawingml/2006/main" r:embed="R086109f34efb43c1"/>
          <a:stretch xmlns:a="http://schemas.openxmlformats.org/drawingml/2006/main"/>
        </p:blipFill>
        <p:spPr>
          <a:xfrm xmlns:a="http://schemas.openxmlformats.org/drawingml/2006/main">
            <a:off x="9210675" y="1899809"/>
            <a:ext cx="2333625" cy="2553558"/>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B034E31C-3178-4D19-88AC-E2BC7D473716}"/>
              </a:ext>
            </a:extLst>
          </p:cNvPr>
          <p:cNvSpPr>
            <a:spLocks xmlns:a="http://schemas.openxmlformats.org/drawingml/2006/main" noGrp="1"/>
          </p:cNvSpPr>
          <p:nvPr/>
        </p:nvSpPr>
        <p:spPr>
          <a:xfrm xmlns:a="http://schemas.openxmlformats.org/drawingml/2006/main">
            <a:off x="714375" y="48101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08000"/>
              </a:lnSpc>
              <a:buNone/>
              <a:defRPr sz="2300" b="1">
                <a:solidFill>
                  <a:srgbClr val="5C2230"/>
                </a:solidFill>
                <a:latin typeface="Arial"/>
                <a:ea typeface="Arial"/>
                <a:cs typeface="Arial"/>
              </a:defRPr>
            </a:pPr>
            <a:r>
              <a:rPr sz="2300" b="1">
                <a:solidFill>
                  <a:srgbClr val="5C2230"/>
                </a:solidFill>
                <a:latin typeface="Arial"/>
                <a:ea typeface="Arial"/>
                <a:cs typeface="Arial"/>
              </a:rPr>
              <a:t>Concrete things</a:t>
            </a:r>
          </a:p>
        </p:txBody>
      </p:sp>
      <p:sp>
        <p:nvSpPr>
          <p:cNvPr id="8" name="text">
            <a:extLst xmlns:a="http://schemas.openxmlformats.org/drawingml/2006/main">
              <a:ext uri="{FF2B5EF4-FFF2-40B4-BE49-F238E27FC236}">
                <a16:creationId xmlns:a16="http://schemas.microsoft.com/office/drawing/2014/main" id="{244AAF50-2A21-4BC5-BB3D-B973126FD734}"/>
              </a:ext>
            </a:extLst>
          </p:cNvPr>
          <p:cNvSpPr>
            <a:spLocks xmlns:a="http://schemas.openxmlformats.org/drawingml/2006/main" noGrp="1"/>
          </p:cNvSpPr>
          <p:nvPr/>
        </p:nvSpPr>
        <p:spPr>
          <a:xfrm xmlns:a="http://schemas.openxmlformats.org/drawingml/2006/main">
            <a:off x="714375" y="53435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water · leaves · paving</a:t>
            </a:r>
          </a:p>
        </p:txBody>
      </p:sp>
      <p:sp>
        <p:nvSpPr>
          <p:cNvPr id="9" name="text">
            <a:extLst xmlns:a="http://schemas.openxmlformats.org/drawingml/2006/main">
              <a:ext uri="{FF2B5EF4-FFF2-40B4-BE49-F238E27FC236}">
                <a16:creationId xmlns:a16="http://schemas.microsoft.com/office/drawing/2014/main" id="{C98A54B6-8F04-425C-9B2F-BFE96C5ACB1E}"/>
              </a:ext>
            </a:extLst>
          </p:cNvPr>
          <p:cNvSpPr>
            <a:spLocks xmlns:a="http://schemas.openxmlformats.org/drawingml/2006/main" noGrp="1"/>
          </p:cNvSpPr>
          <p:nvPr/>
        </p:nvSpPr>
        <p:spPr>
          <a:xfrm xmlns:a="http://schemas.openxmlformats.org/drawingml/2006/main">
            <a:off x="4572000" y="48101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08000"/>
              </a:lnSpc>
              <a:buNone/>
              <a:defRPr sz="2300" b="1">
                <a:solidFill>
                  <a:srgbClr val="5C2230"/>
                </a:solidFill>
                <a:latin typeface="Arial"/>
                <a:ea typeface="Arial"/>
                <a:cs typeface="Arial"/>
              </a:defRPr>
            </a:pPr>
            <a:r>
              <a:rPr sz="2300" b="1">
                <a:solidFill>
                  <a:srgbClr val="5C2230"/>
                </a:solidFill>
                <a:latin typeface="Arial"/>
                <a:ea typeface="Arial"/>
                <a:cs typeface="Arial"/>
              </a:rPr>
              <a:t>Plain verbs</a:t>
            </a:r>
          </a:p>
        </p:txBody>
      </p:sp>
      <p:sp>
        <p:nvSpPr>
          <p:cNvPr id="10" name="text">
            <a:extLst xmlns:a="http://schemas.openxmlformats.org/drawingml/2006/main">
              <a:ext uri="{FF2B5EF4-FFF2-40B4-BE49-F238E27FC236}">
                <a16:creationId xmlns:a16="http://schemas.microsoft.com/office/drawing/2014/main" id="{CD55632E-1F22-4A33-BB21-27065E353BDD}"/>
              </a:ext>
            </a:extLst>
          </p:cNvPr>
          <p:cNvSpPr>
            <a:spLocks xmlns:a="http://schemas.openxmlformats.org/drawingml/2006/main" noGrp="1"/>
          </p:cNvSpPr>
          <p:nvPr/>
        </p:nvSpPr>
        <p:spPr>
          <a:xfrm xmlns:a="http://schemas.openxmlformats.org/drawingml/2006/main">
            <a:off x="4572000" y="53435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were · rained</a:t>
            </a:r>
          </a:p>
        </p:txBody>
      </p:sp>
      <p:sp>
        <p:nvSpPr>
          <p:cNvPr id="11" name="text">
            <a:extLst xmlns:a="http://schemas.openxmlformats.org/drawingml/2006/main">
              <a:ext uri="{FF2B5EF4-FFF2-40B4-BE49-F238E27FC236}">
                <a16:creationId xmlns:a16="http://schemas.microsoft.com/office/drawing/2014/main" id="{734D21B0-188D-4E41-A398-FEA4B766DF05}"/>
              </a:ext>
            </a:extLst>
          </p:cNvPr>
          <p:cNvSpPr>
            <a:spLocks xmlns:a="http://schemas.openxmlformats.org/drawingml/2006/main" noGrp="1"/>
          </p:cNvSpPr>
          <p:nvPr/>
        </p:nvSpPr>
        <p:spPr>
          <a:xfrm xmlns:a="http://schemas.openxmlformats.org/drawingml/2006/main">
            <a:off x="8429625" y="48101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5C2230"/>
                </a:solidFill>
                <a:latin typeface="Arial"/>
                <a:ea typeface="Arial"/>
                <a:cs typeface="Arial"/>
              </a:defRPr>
            </a:defPPr>
          </a:lstStyle>
          <a:p xmlns:a="http://schemas.openxmlformats.org/drawingml/2006/main">
            <a:pPr algn="l">
              <a:lnSpc>
                <a:spcPct val="108000"/>
              </a:lnSpc>
              <a:buNone/>
              <a:defRPr sz="2300" b="1">
                <a:solidFill>
                  <a:srgbClr val="5C2230"/>
                </a:solidFill>
                <a:latin typeface="Arial"/>
                <a:ea typeface="Arial"/>
                <a:cs typeface="Arial"/>
              </a:defRPr>
            </a:pPr>
            <a:r>
              <a:rPr sz="2300" b="1">
                <a:solidFill>
                  <a:srgbClr val="5C2230"/>
                </a:solidFill>
                <a:latin typeface="Arial"/>
                <a:ea typeface="Arial"/>
                <a:cs typeface="Arial"/>
              </a:rPr>
              <a:t>Varied rhythm</a:t>
            </a:r>
          </a:p>
        </p:txBody>
      </p:sp>
      <p:sp>
        <p:nvSpPr>
          <p:cNvPr id="12" name="text">
            <a:extLst xmlns:a="http://schemas.openxmlformats.org/drawingml/2006/main">
              <a:ext uri="{FF2B5EF4-FFF2-40B4-BE49-F238E27FC236}">
                <a16:creationId xmlns:a16="http://schemas.microsoft.com/office/drawing/2014/main" id="{0D0AB756-9695-4AC0-A8CD-B55E99399391}"/>
              </a:ext>
            </a:extLst>
          </p:cNvPr>
          <p:cNvSpPr>
            <a:spLocks xmlns:a="http://schemas.openxmlformats.org/drawingml/2006/main" noGrp="1"/>
          </p:cNvSpPr>
          <p:nvPr/>
        </p:nvSpPr>
        <p:spPr>
          <a:xfrm xmlns:a="http://schemas.openxmlformats.org/drawingml/2006/main">
            <a:off x="8429625" y="53435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Two longer sentences,</a:t>
            </a:r>
          </a:p>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then a short one.</a:t>
            </a:r>
          </a:p>
        </p:txBody>
      </p:sp>
    </p:spTree>
    <p:extLst>
      <p:ext uri="{BB962C8B-B14F-4D97-AF65-F5344CB8AC3E}">
        <p14:creationId xmlns:p14="http://schemas.microsoft.com/office/powerpoint/2010/main" val="920290717"/>
      </p:ext>
    </p:extLst>
  </p:cSld>
</p:sld>
</file>

<file path=ppt/slides/slide3.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EC86D586-3E60-474E-88E3-A567661DCFDD}"/>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08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Start with someone doing something</a:t>
            </a:r>
          </a:p>
        </p:txBody>
      </p:sp>
      <p:sp>
        <p:nvSpPr>
          <p:cNvPr id="2" name="">
            <a:extLst xmlns:a="http://schemas.openxmlformats.org/drawingml/2006/main">
              <a:ext uri="{FF2B5EF4-FFF2-40B4-BE49-F238E27FC236}">
                <a16:creationId xmlns:a16="http://schemas.microsoft.com/office/drawing/2014/main" id="{1CB872CA-AB87-4DB3-BC53-906FA102BD61}"/>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BF445907-9375-489C-82EF-721E9C4DC008}"/>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08000"/>
              </a:lnSpc>
              <a:buNone/>
              <a:defRPr sz="1600" b="0">
                <a:solidFill>
                  <a:srgbClr val="B89B5E"/>
                </a:solidFill>
                <a:latin typeface="Arial"/>
                <a:ea typeface="Arial"/>
                <a:cs typeface="Arial"/>
              </a:defRPr>
            </a:pPr>
            <a:r>
              <a:rPr sz="1600" b="0">
                <a:solidFill>
                  <a:srgbClr val="B89B5E"/>
                </a:solidFill>
                <a:latin typeface="Arial"/>
                <a:ea typeface="Arial"/>
                <a:cs typeface="Arial"/>
              </a:rPr>
              <a:t>03</a:t>
            </a:r>
          </a:p>
        </p:txBody>
      </p:sp>
      <p:sp>
        <p:nvSpPr>
          <p:cNvPr id="4" name="text">
            <a:extLst xmlns:a="http://schemas.openxmlformats.org/drawingml/2006/main">
              <a:ext uri="{FF2B5EF4-FFF2-40B4-BE49-F238E27FC236}">
                <a16:creationId xmlns:a16="http://schemas.microsoft.com/office/drawing/2014/main" id="{24B8C9D7-9204-424C-A5A7-C589DC3D3AEC}"/>
              </a:ext>
            </a:extLst>
          </p:cNvPr>
          <p:cNvSpPr>
            <a:spLocks xmlns:a="http://schemas.openxmlformats.org/drawingml/2006/main" noGrp="1"/>
          </p:cNvSpPr>
          <p:nvPr/>
        </p:nvSpPr>
        <p:spPr>
          <a:xfrm xmlns:a="http://schemas.openxmlformats.org/drawingml/2006/main">
            <a:off x="714375" y="2009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08000"/>
              </a:lnSpc>
              <a:buNone/>
              <a:defRPr sz="2200" b="1">
                <a:solidFill>
                  <a:srgbClr val="B89B5E"/>
                </a:solidFill>
                <a:latin typeface="Arial"/>
                <a:ea typeface="Arial"/>
                <a:cs typeface="Arial"/>
              </a:defRPr>
            </a:pPr>
            <a:r>
              <a:rPr sz="2200" b="1">
                <a:solidFill>
                  <a:srgbClr val="B89B5E"/>
                </a:solidFill>
                <a:latin typeface="Arial"/>
                <a:ea typeface="Arial"/>
                <a:cs typeface="Arial"/>
              </a:rPr>
              <a:t>WORDY DRAFT</a:t>
            </a:r>
          </a:p>
        </p:txBody>
      </p:sp>
      <p:sp>
        <p:nvSpPr>
          <p:cNvPr id="5" name="text">
            <a:extLst xmlns:a="http://schemas.openxmlformats.org/drawingml/2006/main">
              <a:ext uri="{FF2B5EF4-FFF2-40B4-BE49-F238E27FC236}">
                <a16:creationId xmlns:a16="http://schemas.microsoft.com/office/drawing/2014/main" id="{C614B770-F0E2-441A-A49A-10342B3A3745}"/>
              </a:ext>
            </a:extLst>
          </p:cNvPr>
          <p:cNvSpPr>
            <a:spLocks xmlns:a="http://schemas.openxmlformats.org/drawingml/2006/main" noGrp="1"/>
          </p:cNvSpPr>
          <p:nvPr/>
        </p:nvSpPr>
        <p:spPr>
          <a:xfrm xmlns:a="http://schemas.openxmlformats.org/drawingml/2006/main">
            <a:off x="714375" y="252412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0">
                <a:solidFill>
                  <a:srgbClr val="F2E8D5"/>
                </a:solidFill>
                <a:latin typeface="Arial"/>
                <a:ea typeface="Arial"/>
                <a:cs typeface="Arial"/>
              </a:defRPr>
            </a:defPPr>
          </a:lstStyle>
          <a:p xmlns:a="http://schemas.openxmlformats.org/drawingml/2006/main">
            <a:pPr algn="l">
              <a:lnSpc>
                <a:spcPct val="108000"/>
              </a:lnSpc>
              <a:buNone/>
              <a:defRPr sz="2900" b="0">
                <a:solidFill>
                  <a:srgbClr val="F2E8D5"/>
                </a:solidFill>
                <a:latin typeface="Arial"/>
                <a:ea typeface="Arial"/>
                <a:cs typeface="Arial"/>
              </a:defRPr>
            </a:pPr>
            <a:r>
              <a:rPr sz="2900" b="0">
                <a:solidFill>
                  <a:srgbClr val="F2E8D5"/>
                </a:solidFill>
                <a:latin typeface="Arial"/>
                <a:ea typeface="Arial"/>
                <a:cs typeface="Arial"/>
              </a:rPr>
              <a:t>Because she was very frightened, she began to walk slowly towards the old door.</a:t>
            </a:r>
          </a:p>
        </p:txBody>
      </p:sp>
      <p:sp>
        <p:nvSpPr>
          <p:cNvPr id="6" name="model-response">
            <a:extLst xmlns:a="http://schemas.openxmlformats.org/drawingml/2006/main">
              <a:ext uri="{FF2B5EF4-FFF2-40B4-BE49-F238E27FC236}">
                <a16:creationId xmlns:a16="http://schemas.microsoft.com/office/drawing/2014/main" id="{3635D1BB-A624-48DB-BF46-7C6BC07D5B48}"/>
              </a:ext>
            </a:extLst>
          </p:cNvPr>
          <p:cNvSpPr>
            <a:spLocks xmlns:a="http://schemas.openxmlformats.org/drawingml/2006/main" noGrp="1"/>
          </p:cNvSpPr>
          <p:nvPr/>
        </p:nvSpPr>
        <p:spPr>
          <a:xfrm xmlns:a="http://schemas.openxmlformats.org/drawingml/2006/main">
            <a:off x="714375" y="406717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2E8D5"/>
                </a:solidFill>
                <a:latin typeface="Georgia"/>
                <a:ea typeface="Georgia"/>
                <a:cs typeface="Georgia"/>
              </a:defRPr>
            </a:defPPr>
          </a:lstStyle>
          <a:p xmlns:a="http://schemas.openxmlformats.org/drawingml/2006/main">
            <a:pPr algn="l">
              <a:lnSpc>
                <a:spcPct val="108000"/>
              </a:lnSpc>
              <a:buNone/>
              <a:defRPr sz="3900" b="1">
                <a:solidFill>
                  <a:srgbClr val="F2E8D5"/>
                </a:solidFill>
                <a:latin typeface="Georgia"/>
                <a:ea typeface="Georgia"/>
                <a:cs typeface="Georgia"/>
              </a:defRPr>
            </a:pPr>
            <a:r>
              <a:rPr sz="3900" b="1">
                <a:solidFill>
                  <a:srgbClr val="F2E8D5"/>
                </a:solidFill>
                <a:latin typeface="Georgia"/>
                <a:ea typeface="Georgia"/>
                <a:cs typeface="Georgia"/>
              </a:rPr>
              <a:t>She crept to the door.</a:t>
            </a:r>
          </a:p>
        </p:txBody>
      </p:sp>
      <p:sp>
        <p:nvSpPr>
          <p:cNvPr id="7" name="">
            <a:extLst xmlns:a="http://schemas.openxmlformats.org/drawingml/2006/main">
              <a:ext uri="{FF2B5EF4-FFF2-40B4-BE49-F238E27FC236}">
                <a16:creationId xmlns:a16="http://schemas.microsoft.com/office/drawing/2014/main" id="{C807474F-334D-4D34-9D9C-7D7EBD7B1CA2}"/>
              </a:ext>
            </a:extLst>
          </p:cNvPr>
          <p:cNvSpPr>
            <a:spLocks xmlns:a="http://schemas.openxmlformats.org/drawingml/2006/main" noGrp="1"/>
          </p:cNvSpPr>
          <p:nvPr/>
        </p:nvSpPr>
        <p:spPr>
          <a:xfrm xmlns:a="http://schemas.openxmlformats.org/drawingml/2006/main">
            <a:off x="714375" y="5172075"/>
            <a:ext cx="10715625" cy="19050"/>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2B6F54C-AAE8-453E-8A23-4313F328F1A8}"/>
              </a:ext>
            </a:extLst>
          </p:cNvPr>
          <p:cNvSpPr>
            <a:spLocks xmlns:a="http://schemas.openxmlformats.org/drawingml/2006/main" noGrp="1"/>
          </p:cNvSpPr>
          <p:nvPr/>
        </p:nvSpPr>
        <p:spPr>
          <a:xfrm xmlns:a="http://schemas.openxmlformats.org/drawingml/2006/main">
            <a:off x="714375" y="54864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08000"/>
              </a:lnSpc>
              <a:buNone/>
              <a:defRPr sz="2500" b="1">
                <a:solidFill>
                  <a:srgbClr val="F2E8D5"/>
                </a:solidFill>
                <a:latin typeface="Arial"/>
                <a:ea typeface="Arial"/>
                <a:cs typeface="Arial"/>
              </a:defRPr>
            </a:pPr>
            <a:r>
              <a:rPr sz="2500" b="1">
                <a:solidFill>
                  <a:srgbClr val="F2E8D5"/>
                </a:solidFill>
                <a:latin typeface="Arial"/>
                <a:ea typeface="Arial"/>
                <a:cs typeface="Arial"/>
              </a:rPr>
              <a:t>She</a:t>
            </a:r>
          </a:p>
        </p:txBody>
      </p:sp>
      <p:sp>
        <p:nvSpPr>
          <p:cNvPr id="9" name="text">
            <a:extLst xmlns:a="http://schemas.openxmlformats.org/drawingml/2006/main">
              <a:ext uri="{FF2B5EF4-FFF2-40B4-BE49-F238E27FC236}">
                <a16:creationId xmlns:a16="http://schemas.microsoft.com/office/drawing/2014/main" id="{4BF11DE1-E006-437A-BFAD-697C0A392A95}"/>
              </a:ext>
            </a:extLst>
          </p:cNvPr>
          <p:cNvSpPr>
            <a:spLocks xmlns:a="http://schemas.openxmlformats.org/drawingml/2006/main" noGrp="1"/>
          </p:cNvSpPr>
          <p:nvPr/>
        </p:nvSpPr>
        <p:spPr>
          <a:xfrm xmlns:a="http://schemas.openxmlformats.org/drawingml/2006/main">
            <a:off x="714375" y="59721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B89B5E"/>
                </a:solidFill>
                <a:latin typeface="Arial"/>
                <a:ea typeface="Arial"/>
                <a:cs typeface="Arial"/>
              </a:defRPr>
            </a:defPPr>
          </a:lstStyle>
          <a:p xmlns:a="http://schemas.openxmlformats.org/drawingml/2006/main">
            <a:pPr algn="l">
              <a:lnSpc>
                <a:spcPct val="108000"/>
              </a:lnSpc>
              <a:buNone/>
              <a:defRPr sz="2200" b="0">
                <a:solidFill>
                  <a:srgbClr val="B89B5E"/>
                </a:solidFill>
                <a:latin typeface="Arial"/>
                <a:ea typeface="Arial"/>
                <a:cs typeface="Arial"/>
              </a:defRPr>
            </a:pPr>
            <a:r>
              <a:rPr sz="2200" b="0">
                <a:solidFill>
                  <a:srgbClr val="B89B5E"/>
                </a:solidFill>
                <a:latin typeface="Arial"/>
                <a:ea typeface="Arial"/>
                <a:cs typeface="Arial"/>
              </a:rPr>
              <a:t>Who?</a:t>
            </a:r>
          </a:p>
        </p:txBody>
      </p:sp>
      <p:sp>
        <p:nvSpPr>
          <p:cNvPr id="10" name="text">
            <a:extLst xmlns:a="http://schemas.openxmlformats.org/drawingml/2006/main">
              <a:ext uri="{FF2B5EF4-FFF2-40B4-BE49-F238E27FC236}">
                <a16:creationId xmlns:a16="http://schemas.microsoft.com/office/drawing/2014/main" id="{1491D6BB-2CA5-43E4-AAAE-CE20BFF8A6F5}"/>
              </a:ext>
            </a:extLst>
          </p:cNvPr>
          <p:cNvSpPr>
            <a:spLocks xmlns:a="http://schemas.openxmlformats.org/drawingml/2006/main" noGrp="1"/>
          </p:cNvSpPr>
          <p:nvPr/>
        </p:nvSpPr>
        <p:spPr>
          <a:xfrm xmlns:a="http://schemas.openxmlformats.org/drawingml/2006/main">
            <a:off x="4476750" y="54864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08000"/>
              </a:lnSpc>
              <a:buNone/>
              <a:defRPr sz="2500" b="1">
                <a:solidFill>
                  <a:srgbClr val="F2E8D5"/>
                </a:solidFill>
                <a:latin typeface="Arial"/>
                <a:ea typeface="Arial"/>
                <a:cs typeface="Arial"/>
              </a:defRPr>
            </a:pPr>
            <a:r>
              <a:rPr sz="2500" b="1">
                <a:solidFill>
                  <a:srgbClr val="F2E8D5"/>
                </a:solidFill>
                <a:latin typeface="Arial"/>
                <a:ea typeface="Arial"/>
                <a:cs typeface="Arial"/>
              </a:rPr>
              <a:t>crept</a:t>
            </a:r>
          </a:p>
        </p:txBody>
      </p:sp>
      <p:sp>
        <p:nvSpPr>
          <p:cNvPr id="11" name="text">
            <a:extLst xmlns:a="http://schemas.openxmlformats.org/drawingml/2006/main">
              <a:ext uri="{FF2B5EF4-FFF2-40B4-BE49-F238E27FC236}">
                <a16:creationId xmlns:a16="http://schemas.microsoft.com/office/drawing/2014/main" id="{1AB9BC1B-92DA-42C1-AACD-2BD00922E93C}"/>
              </a:ext>
            </a:extLst>
          </p:cNvPr>
          <p:cNvSpPr>
            <a:spLocks xmlns:a="http://schemas.openxmlformats.org/drawingml/2006/main" noGrp="1"/>
          </p:cNvSpPr>
          <p:nvPr/>
        </p:nvSpPr>
        <p:spPr>
          <a:xfrm xmlns:a="http://schemas.openxmlformats.org/drawingml/2006/main">
            <a:off x="4476750" y="59721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B89B5E"/>
                </a:solidFill>
                <a:latin typeface="Arial"/>
                <a:ea typeface="Arial"/>
                <a:cs typeface="Arial"/>
              </a:defRPr>
            </a:defPPr>
          </a:lstStyle>
          <a:p xmlns:a="http://schemas.openxmlformats.org/drawingml/2006/main">
            <a:pPr algn="l">
              <a:lnSpc>
                <a:spcPct val="108000"/>
              </a:lnSpc>
              <a:buNone/>
              <a:defRPr sz="2200" b="0">
                <a:solidFill>
                  <a:srgbClr val="B89B5E"/>
                </a:solidFill>
                <a:latin typeface="Arial"/>
                <a:ea typeface="Arial"/>
                <a:cs typeface="Arial"/>
              </a:defRPr>
            </a:pPr>
            <a:r>
              <a:rPr sz="2200" b="0">
                <a:solidFill>
                  <a:srgbClr val="B89B5E"/>
                </a:solidFill>
                <a:latin typeface="Arial"/>
                <a:ea typeface="Arial"/>
                <a:cs typeface="Arial"/>
              </a:rPr>
              <a:t>What action?</a:t>
            </a:r>
          </a:p>
        </p:txBody>
      </p:sp>
      <p:sp>
        <p:nvSpPr>
          <p:cNvPr id="12" name="text">
            <a:extLst xmlns:a="http://schemas.openxmlformats.org/drawingml/2006/main">
              <a:ext uri="{FF2B5EF4-FFF2-40B4-BE49-F238E27FC236}">
                <a16:creationId xmlns:a16="http://schemas.microsoft.com/office/drawing/2014/main" id="{4DC04746-F6E5-41AB-AC51-429AC2C0371F}"/>
              </a:ext>
            </a:extLst>
          </p:cNvPr>
          <p:cNvSpPr>
            <a:spLocks xmlns:a="http://schemas.openxmlformats.org/drawingml/2006/main" noGrp="1"/>
          </p:cNvSpPr>
          <p:nvPr/>
        </p:nvSpPr>
        <p:spPr>
          <a:xfrm xmlns:a="http://schemas.openxmlformats.org/drawingml/2006/main">
            <a:off x="8191500" y="54864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F2E8D5"/>
                </a:solidFill>
                <a:latin typeface="Arial"/>
                <a:ea typeface="Arial"/>
                <a:cs typeface="Arial"/>
              </a:defRPr>
            </a:defPPr>
          </a:lstStyle>
          <a:p xmlns:a="http://schemas.openxmlformats.org/drawingml/2006/main">
            <a:pPr algn="l">
              <a:lnSpc>
                <a:spcPct val="108000"/>
              </a:lnSpc>
              <a:buNone/>
              <a:defRPr sz="2500" b="1">
                <a:solidFill>
                  <a:srgbClr val="F2E8D5"/>
                </a:solidFill>
                <a:latin typeface="Arial"/>
                <a:ea typeface="Arial"/>
                <a:cs typeface="Arial"/>
              </a:defRPr>
            </a:pPr>
            <a:r>
              <a:rPr sz="2500" b="1">
                <a:solidFill>
                  <a:srgbClr val="F2E8D5"/>
                </a:solidFill>
                <a:latin typeface="Arial"/>
                <a:ea typeface="Arial"/>
                <a:cs typeface="Arial"/>
              </a:rPr>
              <a:t>the door</a:t>
            </a:r>
          </a:p>
        </p:txBody>
      </p:sp>
      <p:sp>
        <p:nvSpPr>
          <p:cNvPr id="13" name="text">
            <a:extLst xmlns:a="http://schemas.openxmlformats.org/drawingml/2006/main">
              <a:ext uri="{FF2B5EF4-FFF2-40B4-BE49-F238E27FC236}">
                <a16:creationId xmlns:a16="http://schemas.microsoft.com/office/drawing/2014/main" id="{BF0FC388-8CE6-4C44-AA63-AE24803F9389}"/>
              </a:ext>
            </a:extLst>
          </p:cNvPr>
          <p:cNvSpPr>
            <a:spLocks xmlns:a="http://schemas.openxmlformats.org/drawingml/2006/main" noGrp="1"/>
          </p:cNvSpPr>
          <p:nvPr/>
        </p:nvSpPr>
        <p:spPr>
          <a:xfrm xmlns:a="http://schemas.openxmlformats.org/drawingml/2006/main">
            <a:off x="8191500" y="59721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B89B5E"/>
                </a:solidFill>
                <a:latin typeface="Arial"/>
                <a:ea typeface="Arial"/>
                <a:cs typeface="Arial"/>
              </a:defRPr>
            </a:defPPr>
          </a:lstStyle>
          <a:p xmlns:a="http://schemas.openxmlformats.org/drawingml/2006/main">
            <a:pPr algn="l">
              <a:lnSpc>
                <a:spcPct val="108000"/>
              </a:lnSpc>
              <a:buNone/>
              <a:defRPr sz="2200" b="0">
                <a:solidFill>
                  <a:srgbClr val="B89B5E"/>
                </a:solidFill>
                <a:latin typeface="Arial"/>
                <a:ea typeface="Arial"/>
                <a:cs typeface="Arial"/>
              </a:defRPr>
            </a:pPr>
            <a:r>
              <a:rPr sz="2200" b="0">
                <a:solidFill>
                  <a:srgbClr val="B89B5E"/>
                </a:solidFill>
                <a:latin typeface="Arial"/>
                <a:ea typeface="Arial"/>
                <a:cs typeface="Arial"/>
              </a:rPr>
              <a:t>What concrete thing?</a:t>
            </a:r>
          </a:p>
        </p:txBody>
      </p:sp>
    </p:spTree>
    <p:extLst>
      <p:ext uri="{BB962C8B-B14F-4D97-AF65-F5344CB8AC3E}">
        <p14:creationId xmlns:p14="http://schemas.microsoft.com/office/powerpoint/2010/main" val="1375810550"/>
      </p:ext>
    </p:extLst>
  </p:cSld>
</p:sld>
</file>

<file path=ppt/slides/slide4.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8" name="heading">
            <a:extLst xmlns:a="http://schemas.openxmlformats.org/drawingml/2006/main">
              <a:ext uri="{FF2B5EF4-FFF2-40B4-BE49-F238E27FC236}">
                <a16:creationId xmlns:a16="http://schemas.microsoft.com/office/drawing/2014/main" id="{42AF54ED-851E-4E33-A4B8-A6612A62F1B1}"/>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08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Let a detail carry the feeling</a:t>
            </a:r>
          </a:p>
        </p:txBody>
      </p:sp>
      <p:sp>
        <p:nvSpPr>
          <p:cNvPr id="2" name="">
            <a:extLst xmlns:a="http://schemas.openxmlformats.org/drawingml/2006/main">
              <a:ext uri="{FF2B5EF4-FFF2-40B4-BE49-F238E27FC236}">
                <a16:creationId xmlns:a16="http://schemas.microsoft.com/office/drawing/2014/main" id="{F70CFF02-D32E-45D1-9D18-AA76FE350ED8}"/>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E33AF71D-A17F-4C53-AD45-B43760AB531B}"/>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04</a:t>
            </a:r>
          </a:p>
        </p:txBody>
      </p:sp>
      <p:sp>
        <p:nvSpPr>
          <p:cNvPr id="4" name="text">
            <a:extLst xmlns:a="http://schemas.openxmlformats.org/drawingml/2006/main">
              <a:ext uri="{FF2B5EF4-FFF2-40B4-BE49-F238E27FC236}">
                <a16:creationId xmlns:a16="http://schemas.microsoft.com/office/drawing/2014/main" id="{7ACAA66E-7ED1-4839-9B66-34FCF9EE1EE3}"/>
              </a:ext>
            </a:extLst>
          </p:cNvPr>
          <p:cNvSpPr>
            <a:spLocks xmlns:a="http://schemas.openxmlformats.org/drawingml/2006/main" noGrp="1"/>
          </p:cNvSpPr>
          <p:nvPr/>
        </p:nvSpPr>
        <p:spPr>
          <a:xfrm xmlns:a="http://schemas.openxmlformats.org/drawingml/2006/main">
            <a:off x="714375" y="2171700"/>
            <a:ext cx="790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0">
                <a:solidFill>
                  <a:srgbClr val="211B16"/>
                </a:solidFill>
                <a:latin typeface="Arial"/>
                <a:ea typeface="Arial"/>
                <a:cs typeface="Arial"/>
              </a:defRPr>
            </a:defPPr>
          </a:lstStyle>
          <a:p xmlns:a="http://schemas.openxmlformats.org/drawingml/2006/main">
            <a:pPr algn="l">
              <a:lnSpc>
                <a:spcPct val="108000"/>
              </a:lnSpc>
              <a:buNone/>
              <a:defRPr sz="3200" b="0">
                <a:solidFill>
                  <a:srgbClr val="211B16"/>
                </a:solidFill>
                <a:latin typeface="Arial"/>
                <a:ea typeface="Arial"/>
                <a:cs typeface="Arial"/>
              </a:defRPr>
            </a:pPr>
            <a:r>
              <a:rPr sz="3200" b="0">
                <a:solidFill>
                  <a:srgbClr val="211B16"/>
                </a:solidFill>
                <a:latin typeface="Arial"/>
                <a:ea typeface="Arial"/>
                <a:cs typeface="Arial"/>
              </a:rPr>
              <a:t>“He was terrified.”</a:t>
            </a:r>
          </a:p>
        </p:txBody>
      </p:sp>
      <p:sp>
        <p:nvSpPr>
          <p:cNvPr id="5" name="model-response">
            <a:extLst xmlns:a="http://schemas.openxmlformats.org/drawingml/2006/main">
              <a:ext uri="{FF2B5EF4-FFF2-40B4-BE49-F238E27FC236}">
                <a16:creationId xmlns:a16="http://schemas.microsoft.com/office/drawing/2014/main" id="{B8D3EDA9-DC47-457C-B139-04AF9DF39226}"/>
              </a:ext>
            </a:extLst>
          </p:cNvPr>
          <p:cNvSpPr>
            <a:spLocks xmlns:a="http://schemas.openxmlformats.org/drawingml/2006/main" noGrp="1"/>
          </p:cNvSpPr>
          <p:nvPr/>
        </p:nvSpPr>
        <p:spPr>
          <a:xfrm xmlns:a="http://schemas.openxmlformats.org/drawingml/2006/main">
            <a:off x="714375" y="3352800"/>
            <a:ext cx="7905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00" b="1">
                <a:solidFill>
                  <a:srgbClr val="5C2230"/>
                </a:solidFill>
                <a:latin typeface="Georgia"/>
                <a:ea typeface="Georgia"/>
                <a:cs typeface="Georgia"/>
              </a:defRPr>
            </a:defPPr>
          </a:lstStyle>
          <a:p xmlns:a="http://schemas.openxmlformats.org/drawingml/2006/main">
            <a:pPr algn="l">
              <a:lnSpc>
                <a:spcPct val="108000"/>
              </a:lnSpc>
              <a:buNone/>
              <a:defRPr sz="4100" b="1">
                <a:solidFill>
                  <a:srgbClr val="5C2230"/>
                </a:solidFill>
                <a:latin typeface="Georgia"/>
                <a:ea typeface="Georgia"/>
                <a:cs typeface="Georgia"/>
              </a:defRPr>
            </a:pPr>
            <a:r>
              <a:rPr sz="4100" b="1">
                <a:solidFill>
                  <a:srgbClr val="5C2230"/>
                </a:solidFill>
                <a:latin typeface="Georgia"/>
                <a:ea typeface="Georgia"/>
                <a:cs typeface="Georgia"/>
              </a:rPr>
              <a:t>“He missed the</a:t>
            </a:r>
          </a:p>
          <a:p xmlns:a="http://schemas.openxmlformats.org/drawingml/2006/main">
            <a:pPr algn="l">
              <a:lnSpc>
                <a:spcPct val="108000"/>
              </a:lnSpc>
              <a:buNone/>
              <a:defRPr sz="4100" b="1">
                <a:solidFill>
                  <a:srgbClr val="5C2230"/>
                </a:solidFill>
                <a:latin typeface="Georgia"/>
                <a:ea typeface="Georgia"/>
                <a:cs typeface="Georgia"/>
              </a:defRPr>
            </a:pPr>
            <a:r>
              <a:rPr sz="4100" b="1">
                <a:solidFill>
                  <a:srgbClr val="5C2230"/>
                </a:solidFill>
                <a:latin typeface="Georgia"/>
                <a:ea typeface="Georgia"/>
                <a:cs typeface="Georgia"/>
              </a:rPr>
              <a:t>keyhole twice.”</a:t>
            </a:r>
          </a:p>
        </p:txBody>
      </p:sp>
      <p:pic>
        <p:nvPicPr>
          <p:cNvPr id="6" name="">
            <a:extLst xmlns:a="http://schemas.openxmlformats.org/drawingml/2006/main">
              <a:ext uri="{FF2B5EF4-FFF2-40B4-BE49-F238E27FC236}">
                <a16:creationId xmlns:a16="http://schemas.microsoft.com/office/drawing/2014/main" id="{C71C7E8D-2A1B-4B84-ABEE-D3382D9CA8FB}"/>
              </a:ext>
            </a:extLst>
          </p:cNvPr>
          <p:cNvPicPr>
            <a:picLocks xmlns:a="http://schemas.openxmlformats.org/drawingml/2006/main" noChangeAspect="1"/>
          </p:cNvPicPr>
          <p:nvPr/>
        </p:nvPicPr>
        <p:blipFill>
          <a:blip xmlns:r="http://schemas.openxmlformats.org/officeDocument/2006/relationships" xmlns:a="http://schemas.openxmlformats.org/drawingml/2006/main" r:embed="Rd8cfe7c5202949d9"/>
          <a:stretch xmlns:a="http://schemas.openxmlformats.org/drawingml/2006/main"/>
        </p:blipFill>
        <p:spPr>
          <a:xfrm xmlns:a="http://schemas.openxmlformats.org/drawingml/2006/main">
            <a:off x="8801100" y="3121025"/>
            <a:ext cx="2667000" cy="177800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C7311E3D-DAA9-4DB7-99AC-F1AC890AE9EC}"/>
              </a:ext>
            </a:extLst>
          </p:cNvPr>
          <p:cNvSpPr>
            <a:spLocks xmlns:a="http://schemas.openxmlformats.org/drawingml/2006/main" noGrp="1"/>
          </p:cNvSpPr>
          <p:nvPr/>
        </p:nvSpPr>
        <p:spPr>
          <a:xfrm xmlns:a="http://schemas.openxmlformats.org/drawingml/2006/main">
            <a:off x="714375" y="56578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211B16"/>
                </a:solidFill>
                <a:latin typeface="Arial"/>
                <a:ea typeface="Arial"/>
                <a:cs typeface="Arial"/>
              </a:defRPr>
            </a:defPPr>
          </a:lstStyle>
          <a:p xmlns:a="http://schemas.openxmlformats.org/drawingml/2006/main">
            <a:pPr algn="l">
              <a:lnSpc>
                <a:spcPct val="108000"/>
              </a:lnSpc>
              <a:buNone/>
              <a:defRPr sz="2800" b="0">
                <a:solidFill>
                  <a:srgbClr val="211B16"/>
                </a:solidFill>
                <a:latin typeface="Arial"/>
                <a:ea typeface="Arial"/>
                <a:cs typeface="Arial"/>
              </a:defRPr>
            </a:pPr>
            <a:r>
              <a:rPr sz="2800" b="0">
                <a:solidFill>
                  <a:srgbClr val="211B16"/>
                </a:solidFill>
                <a:latin typeface="Arial"/>
                <a:ea typeface="Arial"/>
                <a:cs typeface="Arial"/>
              </a:rPr>
              <a:t>Choose one thing the reader can see or hear.</a:t>
            </a:r>
          </a:p>
        </p:txBody>
      </p:sp>
    </p:spTree>
    <p:extLst>
      <p:ext uri="{BB962C8B-B14F-4D97-AF65-F5344CB8AC3E}">
        <p14:creationId xmlns:p14="http://schemas.microsoft.com/office/powerpoint/2010/main" val="1497361531"/>
      </p:ext>
    </p:extLst>
  </p:cSld>
</p:sld>
</file>

<file path=ppt/slides/slide5.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35FCB128-2C9D-4D24-80D3-AF9AAB450919}"/>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08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Give the reader a clue, not an explanation</a:t>
            </a:r>
          </a:p>
        </p:txBody>
      </p:sp>
      <p:sp>
        <p:nvSpPr>
          <p:cNvPr id="2" name="">
            <a:extLst xmlns:a="http://schemas.openxmlformats.org/drawingml/2006/main">
              <a:ext uri="{FF2B5EF4-FFF2-40B4-BE49-F238E27FC236}">
                <a16:creationId xmlns:a16="http://schemas.microsoft.com/office/drawing/2014/main" id="{E41750E0-C3E3-45EF-A154-6ED71B7FC9F1}"/>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7F2E6475-BC86-40A2-A8BD-575596858932}"/>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08000"/>
              </a:lnSpc>
              <a:buNone/>
              <a:defRPr sz="1600" b="0">
                <a:solidFill>
                  <a:srgbClr val="B89B5E"/>
                </a:solidFill>
                <a:latin typeface="Arial"/>
                <a:ea typeface="Arial"/>
                <a:cs typeface="Arial"/>
              </a:defRPr>
            </a:pPr>
            <a:r>
              <a:rPr sz="1600" b="0">
                <a:solidFill>
                  <a:srgbClr val="B89B5E"/>
                </a:solidFill>
                <a:latin typeface="Arial"/>
                <a:ea typeface="Arial"/>
                <a:cs typeface="Arial"/>
              </a:rPr>
              <a:t>05</a:t>
            </a:r>
          </a:p>
        </p:txBody>
      </p:sp>
      <p:sp>
        <p:nvSpPr>
          <p:cNvPr id="4" name="text">
            <a:extLst xmlns:a="http://schemas.openxmlformats.org/drawingml/2006/main">
              <a:ext uri="{FF2B5EF4-FFF2-40B4-BE49-F238E27FC236}">
                <a16:creationId xmlns:a16="http://schemas.microsoft.com/office/drawing/2014/main" id="{B36F6D55-A727-4EED-B653-0B5E66577D8B}"/>
              </a:ext>
            </a:extLst>
          </p:cNvPr>
          <p:cNvSpPr>
            <a:spLocks xmlns:a="http://schemas.openxmlformats.org/drawingml/2006/main" noGrp="1"/>
          </p:cNvSpPr>
          <p:nvPr/>
        </p:nvSpPr>
        <p:spPr>
          <a:xfrm xmlns:a="http://schemas.openxmlformats.org/drawingml/2006/main">
            <a:off x="714375" y="2095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08000"/>
              </a:lnSpc>
              <a:buNone/>
              <a:defRPr sz="2200" b="1">
                <a:solidFill>
                  <a:srgbClr val="B89B5E"/>
                </a:solidFill>
                <a:latin typeface="Arial"/>
                <a:ea typeface="Arial"/>
                <a:cs typeface="Arial"/>
              </a:defRPr>
            </a:pPr>
            <a:r>
              <a:rPr sz="2200" b="1">
                <a:solidFill>
                  <a:srgbClr val="B89B5E"/>
                </a:solidFill>
                <a:latin typeface="Arial"/>
                <a:ea typeface="Arial"/>
                <a:cs typeface="Arial"/>
              </a:rPr>
              <a:t>ON THE PAGE</a:t>
            </a:r>
          </a:p>
        </p:txBody>
      </p:sp>
      <p:sp>
        <p:nvSpPr>
          <p:cNvPr id="5" name="text">
            <a:extLst xmlns:a="http://schemas.openxmlformats.org/drawingml/2006/main">
              <a:ext uri="{FF2B5EF4-FFF2-40B4-BE49-F238E27FC236}">
                <a16:creationId xmlns:a16="http://schemas.microsoft.com/office/drawing/2014/main" id="{5F9764BA-796F-4E52-ADD5-DFD00923DF91}"/>
              </a:ext>
            </a:extLst>
          </p:cNvPr>
          <p:cNvSpPr>
            <a:spLocks xmlns:a="http://schemas.openxmlformats.org/drawingml/2006/main" noGrp="1"/>
          </p:cNvSpPr>
          <p:nvPr/>
        </p:nvSpPr>
        <p:spPr>
          <a:xfrm xmlns:a="http://schemas.openxmlformats.org/drawingml/2006/main">
            <a:off x="4048125" y="2047875"/>
            <a:ext cx="7381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00" b="0">
                <a:solidFill>
                  <a:srgbClr val="F2E8D5"/>
                </a:solidFill>
                <a:latin typeface="Arial"/>
                <a:ea typeface="Arial"/>
                <a:cs typeface="Arial"/>
              </a:defRPr>
            </a:defPPr>
          </a:lstStyle>
          <a:p xmlns:a="http://schemas.openxmlformats.org/drawingml/2006/main">
            <a:pPr algn="l">
              <a:lnSpc>
                <a:spcPct val="108000"/>
              </a:lnSpc>
              <a:buNone/>
              <a:defRPr sz="3100" b="0">
                <a:solidFill>
                  <a:srgbClr val="F2E8D5"/>
                </a:solidFill>
                <a:latin typeface="Arial"/>
                <a:ea typeface="Arial"/>
                <a:cs typeface="Arial"/>
              </a:defRPr>
            </a:pPr>
            <a:r>
              <a:rPr sz="3100" b="0">
                <a:solidFill>
                  <a:srgbClr val="F2E8D5"/>
                </a:solidFill>
                <a:latin typeface="Arial"/>
                <a:ea typeface="Arial"/>
                <a:cs typeface="Arial"/>
              </a:rPr>
              <a:t>The spare key was on the table.</a:t>
            </a:r>
          </a:p>
          <a:p xmlns:a="http://schemas.openxmlformats.org/drawingml/2006/main">
            <a:pPr algn="l">
              <a:lnSpc>
                <a:spcPct val="108000"/>
              </a:lnSpc>
              <a:buNone/>
              <a:defRPr sz="3100" b="0">
                <a:solidFill>
                  <a:srgbClr val="F2E8D5"/>
                </a:solidFill>
                <a:latin typeface="Arial"/>
                <a:ea typeface="Arial"/>
                <a:cs typeface="Arial"/>
              </a:defRPr>
            </a:pPr>
            <a:r>
              <a:rPr sz="3100" b="0">
                <a:solidFill>
                  <a:srgbClr val="F2E8D5"/>
                </a:solidFill>
                <a:latin typeface="Arial"/>
                <a:ea typeface="Arial"/>
                <a:cs typeface="Arial"/>
              </a:rPr>
              <a:t>It was wet.</a:t>
            </a:r>
          </a:p>
        </p:txBody>
      </p:sp>
      <p:sp>
        <p:nvSpPr>
          <p:cNvPr id="6" name="">
            <a:extLst xmlns:a="http://schemas.openxmlformats.org/drawingml/2006/main">
              <a:ext uri="{FF2B5EF4-FFF2-40B4-BE49-F238E27FC236}">
                <a16:creationId xmlns:a16="http://schemas.microsoft.com/office/drawing/2014/main" id="{838C0FD3-29B3-44FD-BF27-C60B32122BA7}"/>
              </a:ext>
            </a:extLst>
          </p:cNvPr>
          <p:cNvSpPr>
            <a:spLocks xmlns:a="http://schemas.openxmlformats.org/drawingml/2006/main" noGrp="1"/>
          </p:cNvSpPr>
          <p:nvPr/>
        </p:nvSpPr>
        <p:spPr>
          <a:xfrm xmlns:a="http://schemas.openxmlformats.org/drawingml/2006/main">
            <a:off x="714375" y="3629025"/>
            <a:ext cx="10715625" cy="28575"/>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57E37D1C-E6AD-4075-9BFB-FF0965C1CA9D}"/>
              </a:ext>
            </a:extLst>
          </p:cNvPr>
          <p:cNvSpPr>
            <a:spLocks xmlns:a="http://schemas.openxmlformats.org/drawingml/2006/main" noGrp="1"/>
          </p:cNvSpPr>
          <p:nvPr/>
        </p:nvSpPr>
        <p:spPr>
          <a:xfrm xmlns:a="http://schemas.openxmlformats.org/drawingml/2006/main">
            <a:off x="714375" y="4105275"/>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08000"/>
              </a:lnSpc>
              <a:buNone/>
              <a:defRPr sz="2200" b="1">
                <a:solidFill>
                  <a:srgbClr val="B89B5E"/>
                </a:solidFill>
                <a:latin typeface="Arial"/>
                <a:ea typeface="Arial"/>
                <a:cs typeface="Arial"/>
              </a:defRPr>
            </a:pPr>
            <a:r>
              <a:rPr sz="2200" b="1">
                <a:solidFill>
                  <a:srgbClr val="B89B5E"/>
                </a:solidFill>
                <a:latin typeface="Arial"/>
                <a:ea typeface="Arial"/>
                <a:cs typeface="Arial"/>
              </a:rPr>
              <a:t>BENEATH THE SURFACE</a:t>
            </a:r>
          </a:p>
        </p:txBody>
      </p:sp>
      <p:sp>
        <p:nvSpPr>
          <p:cNvPr id="8" name="interpretation">
            <a:extLst xmlns:a="http://schemas.openxmlformats.org/drawingml/2006/main">
              <a:ext uri="{FF2B5EF4-FFF2-40B4-BE49-F238E27FC236}">
                <a16:creationId xmlns:a16="http://schemas.microsoft.com/office/drawing/2014/main" id="{9E954D4B-35A3-45E7-89C6-DDCACC010104}"/>
              </a:ext>
            </a:extLst>
          </p:cNvPr>
          <p:cNvSpPr>
            <a:spLocks xmlns:a="http://schemas.openxmlformats.org/drawingml/2006/main" noGrp="1"/>
          </p:cNvSpPr>
          <p:nvPr/>
        </p:nvSpPr>
        <p:spPr>
          <a:xfrm xmlns:a="http://schemas.openxmlformats.org/drawingml/2006/main">
            <a:off x="4048125" y="4029075"/>
            <a:ext cx="7381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2E8D5"/>
                </a:solidFill>
                <a:latin typeface="Arial"/>
                <a:ea typeface="Arial"/>
                <a:cs typeface="Arial"/>
              </a:defRPr>
            </a:defPPr>
          </a:lstStyle>
          <a:p xmlns:a="http://schemas.openxmlformats.org/drawingml/2006/main">
            <a:pPr algn="l">
              <a:lnSpc>
                <a:spcPct val="108000"/>
              </a:lnSpc>
              <a:buNone/>
              <a:defRPr sz="3000" b="0">
                <a:solidFill>
                  <a:srgbClr val="F2E8D5"/>
                </a:solidFill>
                <a:latin typeface="Arial"/>
                <a:ea typeface="Arial"/>
                <a:cs typeface="Arial"/>
              </a:defRPr>
            </a:pPr>
            <a:r>
              <a:rPr sz="3000" b="0">
                <a:solidFill>
                  <a:srgbClr val="F2E8D5"/>
                </a:solidFill>
                <a:latin typeface="Arial"/>
                <a:ea typeface="Arial"/>
                <a:cs typeface="Arial"/>
              </a:rPr>
              <a:t>The reader may suspect</a:t>
            </a:r>
          </a:p>
          <a:p xmlns:a="http://schemas.openxmlformats.org/drawingml/2006/main">
            <a:pPr algn="l">
              <a:lnSpc>
                <a:spcPct val="108000"/>
              </a:lnSpc>
              <a:buNone/>
              <a:defRPr sz="3000" b="0">
                <a:solidFill>
                  <a:srgbClr val="F2E8D5"/>
                </a:solidFill>
                <a:latin typeface="Arial"/>
                <a:ea typeface="Arial"/>
                <a:cs typeface="Arial"/>
              </a:defRPr>
            </a:pPr>
            <a:r>
              <a:rPr sz="3000" b="0">
                <a:solidFill>
                  <a:srgbClr val="F2E8D5"/>
                </a:solidFill>
                <a:latin typeface="Arial"/>
                <a:ea typeface="Arial"/>
                <a:cs typeface="Arial"/>
              </a:rPr>
              <a:t>that someone has come in.</a:t>
            </a:r>
          </a:p>
        </p:txBody>
      </p:sp>
      <p:sp>
        <p:nvSpPr>
          <p:cNvPr id="9" name="text">
            <a:extLst xmlns:a="http://schemas.openxmlformats.org/drawingml/2006/main">
              <a:ext uri="{FF2B5EF4-FFF2-40B4-BE49-F238E27FC236}">
                <a16:creationId xmlns:a16="http://schemas.microsoft.com/office/drawing/2014/main" id="{A1827BF5-745F-486D-8F62-94CB953B9A19}"/>
              </a:ext>
            </a:extLst>
          </p:cNvPr>
          <p:cNvSpPr>
            <a:spLocks xmlns:a="http://schemas.openxmlformats.org/drawingml/2006/main" noGrp="1"/>
          </p:cNvSpPr>
          <p:nvPr/>
        </p:nvSpPr>
        <p:spPr>
          <a:xfrm xmlns:a="http://schemas.openxmlformats.org/drawingml/2006/main">
            <a:off x="714375" y="5791200"/>
            <a:ext cx="10715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F2E8D5"/>
                </a:solidFill>
                <a:latin typeface="Arial"/>
                <a:ea typeface="Arial"/>
                <a:cs typeface="Arial"/>
              </a:defRPr>
            </a:defPPr>
          </a:lstStyle>
          <a:p xmlns:a="http://schemas.openxmlformats.org/drawingml/2006/main">
            <a:pPr algn="l">
              <a:lnSpc>
                <a:spcPct val="108000"/>
              </a:lnSpc>
              <a:buNone/>
              <a:defRPr sz="2800" b="1">
                <a:solidFill>
                  <a:srgbClr val="F2E8D5"/>
                </a:solidFill>
                <a:latin typeface="Arial"/>
                <a:ea typeface="Arial"/>
                <a:cs typeface="Arial"/>
              </a:defRPr>
            </a:pPr>
            <a:r>
              <a:rPr sz="2800" b="1">
                <a:solidFill>
                  <a:srgbClr val="F2E8D5"/>
                </a:solidFill>
                <a:latin typeface="Arial"/>
                <a:ea typeface="Arial"/>
                <a:cs typeface="Arial"/>
              </a:rPr>
              <a:t>Know what happened. Leave a fair clue.</a:t>
            </a:r>
          </a:p>
        </p:txBody>
      </p:sp>
    </p:spTree>
    <p:extLst>
      <p:ext uri="{BB962C8B-B14F-4D97-AF65-F5344CB8AC3E}">
        <p14:creationId xmlns:p14="http://schemas.microsoft.com/office/powerpoint/2010/main" val="2018652389"/>
      </p:ext>
    </p:extLst>
  </p:cSld>
</p:sld>
</file>

<file path=ppt/slides/slide6.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8AAB174D-BC08-4787-BDAC-4850A74FF5C2}"/>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08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Let the rhythm change</a:t>
            </a:r>
          </a:p>
        </p:txBody>
      </p:sp>
      <p:sp>
        <p:nvSpPr>
          <p:cNvPr id="2" name="">
            <a:extLst xmlns:a="http://schemas.openxmlformats.org/drawingml/2006/main">
              <a:ext uri="{FF2B5EF4-FFF2-40B4-BE49-F238E27FC236}">
                <a16:creationId xmlns:a16="http://schemas.microsoft.com/office/drawing/2014/main" id="{18B8FE43-CA2E-4FA8-A594-4EA879F1E0D2}"/>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AAAAFD2D-CA33-4E30-A737-E5E081540723}"/>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06</a:t>
            </a:r>
          </a:p>
        </p:txBody>
      </p:sp>
      <p:sp>
        <p:nvSpPr>
          <p:cNvPr id="4" name="text">
            <a:extLst xmlns:a="http://schemas.openxmlformats.org/drawingml/2006/main">
              <a:ext uri="{FF2B5EF4-FFF2-40B4-BE49-F238E27FC236}">
                <a16:creationId xmlns:a16="http://schemas.microsoft.com/office/drawing/2014/main" id="{E4976EF4-61A6-4EEC-94F7-D9A864F84175}"/>
              </a:ext>
            </a:extLst>
          </p:cNvPr>
          <p:cNvSpPr>
            <a:spLocks xmlns:a="http://schemas.openxmlformats.org/drawingml/2006/main" noGrp="1"/>
          </p:cNvSpPr>
          <p:nvPr/>
        </p:nvSpPr>
        <p:spPr>
          <a:xfrm xmlns:a="http://schemas.openxmlformats.org/drawingml/2006/main">
            <a:off x="714375" y="23241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211B16"/>
                </a:solidFill>
                <a:latin typeface="Arial"/>
                <a:ea typeface="Arial"/>
                <a:cs typeface="Arial"/>
              </a:defRPr>
            </a:defPPr>
          </a:lstStyle>
          <a:p xmlns:a="http://schemas.openxmlformats.org/drawingml/2006/main">
            <a:pPr algn="l">
              <a:lnSpc>
                <a:spcPct val="108000"/>
              </a:lnSpc>
              <a:buNone/>
              <a:defRPr sz="3300" b="0">
                <a:solidFill>
                  <a:srgbClr val="211B16"/>
                </a:solidFill>
                <a:latin typeface="Arial"/>
                <a:ea typeface="Arial"/>
                <a:cs typeface="Arial"/>
              </a:defRPr>
            </a:pPr>
            <a:r>
              <a:rPr sz="3300" b="0">
                <a:solidFill>
                  <a:srgbClr val="211B16"/>
                </a:solidFill>
                <a:latin typeface="Arial"/>
                <a:ea typeface="Arial"/>
                <a:cs typeface="Arial"/>
              </a:rPr>
              <a:t>I crossed the room and put my ear to the door.</a:t>
            </a:r>
          </a:p>
        </p:txBody>
      </p:sp>
      <p:sp>
        <p:nvSpPr>
          <p:cNvPr id="5" name="text">
            <a:extLst xmlns:a="http://schemas.openxmlformats.org/drawingml/2006/main">
              <a:ext uri="{FF2B5EF4-FFF2-40B4-BE49-F238E27FC236}">
                <a16:creationId xmlns:a16="http://schemas.microsoft.com/office/drawing/2014/main" id="{9AB3B075-9596-4243-998F-9E7923D0C3C4}"/>
              </a:ext>
            </a:extLst>
          </p:cNvPr>
          <p:cNvSpPr>
            <a:spLocks xmlns:a="http://schemas.openxmlformats.org/drawingml/2006/main" noGrp="1"/>
          </p:cNvSpPr>
          <p:nvPr/>
        </p:nvSpPr>
        <p:spPr>
          <a:xfrm xmlns:a="http://schemas.openxmlformats.org/drawingml/2006/main">
            <a:off x="714375" y="40386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5C2230"/>
                </a:solidFill>
                <a:latin typeface="Georgia"/>
                <a:ea typeface="Georgia"/>
                <a:cs typeface="Georgia"/>
              </a:defRPr>
            </a:defPPr>
          </a:lstStyle>
          <a:p xmlns:a="http://schemas.openxmlformats.org/drawingml/2006/main">
            <a:pPr algn="l">
              <a:lnSpc>
                <a:spcPct val="108000"/>
              </a:lnSpc>
              <a:buNone/>
              <a:defRPr sz="4200" b="1">
                <a:solidFill>
                  <a:srgbClr val="5C2230"/>
                </a:solidFill>
                <a:latin typeface="Georgia"/>
                <a:ea typeface="Georgia"/>
                <a:cs typeface="Georgia"/>
              </a:defRPr>
            </a:pPr>
            <a:r>
              <a:rPr sz="4200" b="1">
                <a:solidFill>
                  <a:srgbClr val="5C2230"/>
                </a:solidFill>
                <a:latin typeface="Georgia"/>
                <a:ea typeface="Georgia"/>
                <a:cs typeface="Georgia"/>
              </a:rPr>
              <a:t>The breathing stopped.</a:t>
            </a:r>
          </a:p>
        </p:txBody>
      </p:sp>
      <p:sp>
        <p:nvSpPr>
          <p:cNvPr id="6" name="text">
            <a:extLst xmlns:a="http://schemas.openxmlformats.org/drawingml/2006/main">
              <a:ext uri="{FF2B5EF4-FFF2-40B4-BE49-F238E27FC236}">
                <a16:creationId xmlns:a16="http://schemas.microsoft.com/office/drawing/2014/main" id="{C3AE7BF3-89FD-4744-A059-16D313D34445}"/>
              </a:ext>
            </a:extLst>
          </p:cNvPr>
          <p:cNvSpPr>
            <a:spLocks xmlns:a="http://schemas.openxmlformats.org/drawingml/2006/main" noGrp="1"/>
          </p:cNvSpPr>
          <p:nvPr/>
        </p:nvSpPr>
        <p:spPr>
          <a:xfrm xmlns:a="http://schemas.openxmlformats.org/drawingml/2006/main">
            <a:off x="714375" y="57531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08000"/>
              </a:lnSpc>
              <a:buNone/>
              <a:defRPr sz="2600" b="0">
                <a:solidFill>
                  <a:srgbClr val="211B16"/>
                </a:solidFill>
                <a:latin typeface="Arial"/>
                <a:ea typeface="Arial"/>
                <a:cs typeface="Arial"/>
              </a:defRPr>
            </a:pPr>
            <a:r>
              <a:rPr sz="2600" b="0">
                <a:solidFill>
                  <a:srgbClr val="211B16"/>
                </a:solidFill>
                <a:latin typeface="Arial"/>
                <a:ea typeface="Arial"/>
                <a:cs typeface="Arial"/>
              </a:rPr>
              <a:t>Carry the action forward. Then stop on the detail that matters.</a:t>
            </a:r>
          </a:p>
        </p:txBody>
      </p:sp>
    </p:spTree>
    <p:extLst>
      <p:ext uri="{BB962C8B-B14F-4D97-AF65-F5344CB8AC3E}">
        <p14:creationId xmlns:p14="http://schemas.microsoft.com/office/powerpoint/2010/main" val="1305069016"/>
      </p:ext>
    </p:extLst>
  </p:cSld>
</p:sld>
</file>

<file path=ppt/slides/slide7.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C1A4478B-EBA2-4669-AE1B-5A76F6B043B2}"/>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08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A miniature story: The second cup</a:t>
            </a:r>
          </a:p>
        </p:txBody>
      </p:sp>
      <p:sp>
        <p:nvSpPr>
          <p:cNvPr id="2" name="">
            <a:extLst xmlns:a="http://schemas.openxmlformats.org/drawingml/2006/main">
              <a:ext uri="{FF2B5EF4-FFF2-40B4-BE49-F238E27FC236}">
                <a16:creationId xmlns:a16="http://schemas.microsoft.com/office/drawing/2014/main" id="{DB4C2127-3B2E-47B3-B5B8-AE1A0138153A}"/>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0A815DD6-4526-4191-8386-F389B69DB6B9}"/>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07</a:t>
            </a:r>
          </a:p>
        </p:txBody>
      </p:sp>
      <p:sp>
        <p:nvSpPr>
          <p:cNvPr id="4" name="text">
            <a:extLst xmlns:a="http://schemas.openxmlformats.org/drawingml/2006/main">
              <a:ext uri="{FF2B5EF4-FFF2-40B4-BE49-F238E27FC236}">
                <a16:creationId xmlns:a16="http://schemas.microsoft.com/office/drawing/2014/main" id="{1C2D23FE-A60E-42D3-9519-F10EC6DD6AB1}"/>
              </a:ext>
            </a:extLst>
          </p:cNvPr>
          <p:cNvSpPr>
            <a:spLocks xmlns:a="http://schemas.openxmlformats.org/drawingml/2006/main" noGrp="1"/>
          </p:cNvSpPr>
          <p:nvPr/>
        </p:nvSpPr>
        <p:spPr>
          <a:xfrm xmlns:a="http://schemas.openxmlformats.org/drawingml/2006/main">
            <a:off x="714375" y="1885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C2230"/>
                </a:solidFill>
                <a:latin typeface="Arial"/>
                <a:ea typeface="Arial"/>
                <a:cs typeface="Arial"/>
              </a:defRPr>
            </a:defPPr>
          </a:lstStyle>
          <a:p xmlns:a="http://schemas.openxmlformats.org/drawingml/2006/main">
            <a:pPr algn="l">
              <a:lnSpc>
                <a:spcPct val="108000"/>
              </a:lnSpc>
              <a:buNone/>
              <a:defRPr sz="1800" b="1">
                <a:solidFill>
                  <a:srgbClr val="5C2230"/>
                </a:solidFill>
                <a:latin typeface="Arial"/>
                <a:ea typeface="Arial"/>
                <a:cs typeface="Arial"/>
              </a:defRPr>
            </a:pPr>
            <a:r>
              <a:rPr sz="1800" b="1">
                <a:solidFill>
                  <a:srgbClr val="5C2230"/>
                </a:solidFill>
                <a:latin typeface="Arial"/>
                <a:ea typeface="Arial"/>
                <a:cs typeface="Arial"/>
              </a:rPr>
              <a:t>ORIGINAL CLASSROOM MODEL</a:t>
            </a:r>
          </a:p>
        </p:txBody>
      </p:sp>
      <p:sp>
        <p:nvSpPr>
          <p:cNvPr id="5" name="story">
            <a:extLst xmlns:a="http://schemas.openxmlformats.org/drawingml/2006/main">
              <a:ext uri="{FF2B5EF4-FFF2-40B4-BE49-F238E27FC236}">
                <a16:creationId xmlns:a16="http://schemas.microsoft.com/office/drawing/2014/main" id="{0E87D499-C5FD-46DA-B727-02CFAD9BCA3C}"/>
              </a:ext>
            </a:extLst>
          </p:cNvPr>
          <p:cNvSpPr>
            <a:spLocks xmlns:a="http://schemas.openxmlformats.org/drawingml/2006/main" noGrp="1"/>
          </p:cNvSpPr>
          <p:nvPr/>
        </p:nvSpPr>
        <p:spPr>
          <a:xfrm xmlns:a="http://schemas.openxmlformats.org/drawingml/2006/main">
            <a:off x="714375" y="2419350"/>
            <a:ext cx="10668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11B16"/>
                </a:solidFill>
                <a:latin typeface="Arial"/>
                <a:ea typeface="Arial"/>
                <a:cs typeface="Arial"/>
              </a:defRPr>
            </a:defPPr>
          </a:lstStyle>
          <a:p xmlns:a="http://schemas.openxmlformats.org/drawingml/2006/main">
            <a:pPr algn="l">
              <a:lnSpc>
                <a:spcPct val="108000"/>
              </a:lnSpc>
              <a:buNone/>
              <a:defRPr sz="2700" b="0">
                <a:solidFill>
                  <a:srgbClr val="211B16"/>
                </a:solidFill>
                <a:latin typeface="Arial"/>
                <a:ea typeface="Arial"/>
                <a:cs typeface="Arial"/>
              </a:defRPr>
            </a:pPr>
            <a:r>
              <a:rPr sz="2700" b="0">
                <a:solidFill>
                  <a:srgbClr val="211B16"/>
                </a:solidFill>
                <a:latin typeface="Arial"/>
                <a:ea typeface="Arial"/>
                <a:cs typeface="Arial"/>
              </a:rPr>
              <a:t>I woke when the kitchen chair scraped the floor. My father used to sit there when he could not sleep. He had been dead a year.</a:t>
            </a:r>
          </a:p>
          <a:p xmlns:a="http://schemas.openxmlformats.org/drawingml/2006/main">
            <a:pPr algn="l">
              <a:lnSpc>
                <a:spcPct val="108000"/>
              </a:lnSpc>
              <a:buNone/>
              <a:defRPr sz="2700" b="0">
                <a:solidFill>
                  <a:srgbClr val="211B16"/>
                </a:solidFill>
                <a:latin typeface="Arial"/>
                <a:ea typeface="Arial"/>
                <a:cs typeface="Arial"/>
              </a:defRPr>
            </a:pPr>
            <a:r>
              <a:rPr sz="2700" b="0">
                <a:solidFill>
                  <a:srgbClr val="211B16"/>
                </a:solidFill>
                <a:latin typeface="Arial"/>
                <a:ea typeface="Arial"/>
                <a:cs typeface="Arial"/>
              </a:rPr>
              <a:t>I went down without turning on the lights. Two cups stood on the table. Steam rose from one.</a:t>
            </a:r>
          </a:p>
          <a:p xmlns:a="http://schemas.openxmlformats.org/drawingml/2006/main">
            <a:pPr algn="l">
              <a:lnSpc>
                <a:spcPct val="108000"/>
              </a:lnSpc>
              <a:buNone/>
              <a:defRPr sz="2700" b="0">
                <a:solidFill>
                  <a:srgbClr val="211B16"/>
                </a:solidFill>
                <a:latin typeface="Arial"/>
                <a:ea typeface="Arial"/>
                <a:cs typeface="Arial"/>
              </a:defRPr>
            </a:pPr>
            <a:r>
              <a:rPr sz="2700" b="0">
                <a:solidFill>
                  <a:srgbClr val="211B16"/>
                </a:solidFill>
                <a:latin typeface="Arial"/>
                <a:ea typeface="Arial"/>
                <a:cs typeface="Arial"/>
              </a:rPr>
              <a:t>I took the other cup to the sink. My hand shook, and the spoon struck the cup. Behind me, the chair scraped again.</a:t>
            </a:r>
          </a:p>
          <a:p xmlns:a="http://schemas.openxmlformats.org/drawingml/2006/main">
            <a:pPr algn="l">
              <a:lnSpc>
                <a:spcPct val="108000"/>
              </a:lnSpc>
              <a:buNone/>
              <a:defRPr sz="2700" b="0">
                <a:solidFill>
                  <a:srgbClr val="211B16"/>
                </a:solidFill>
                <a:latin typeface="Arial"/>
                <a:ea typeface="Arial"/>
                <a:cs typeface="Arial"/>
              </a:defRPr>
            </a:pPr>
            <a:r>
              <a:rPr sz="2700" b="0">
                <a:solidFill>
                  <a:srgbClr val="211B16"/>
                </a:solidFill>
                <a:latin typeface="Arial"/>
                <a:ea typeface="Arial"/>
                <a:cs typeface="Arial"/>
              </a:rPr>
              <a:t>I left the cup where he could reach it.</a:t>
            </a:r>
          </a:p>
        </p:txBody>
      </p:sp>
      <p:sp>
        <p:nvSpPr>
          <p:cNvPr id="6" name="question">
            <a:extLst xmlns:a="http://schemas.openxmlformats.org/drawingml/2006/main">
              <a:ext uri="{FF2B5EF4-FFF2-40B4-BE49-F238E27FC236}">
                <a16:creationId xmlns:a16="http://schemas.microsoft.com/office/drawing/2014/main" id="{F399F3C2-308F-4671-88F1-24D2C61F2257}"/>
              </a:ext>
            </a:extLst>
          </p:cNvPr>
          <p:cNvSpPr>
            <a:spLocks xmlns:a="http://schemas.openxmlformats.org/drawingml/2006/main" noGrp="1"/>
          </p:cNvSpPr>
          <p:nvPr/>
        </p:nvSpPr>
        <p:spPr>
          <a:xfrm xmlns:a="http://schemas.openxmlformats.org/drawingml/2006/main">
            <a:off x="714375" y="603885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5C2230"/>
                </a:solidFill>
                <a:latin typeface="Arial"/>
                <a:ea typeface="Arial"/>
                <a:cs typeface="Arial"/>
              </a:defRPr>
            </a:defPPr>
          </a:lstStyle>
          <a:p xmlns:a="http://schemas.openxmlformats.org/drawingml/2006/main">
            <a:pPr algn="l">
              <a:lnSpc>
                <a:spcPct val="108000"/>
              </a:lnSpc>
              <a:buNone/>
              <a:defRPr sz="2400" b="1">
                <a:solidFill>
                  <a:srgbClr val="5C2230"/>
                </a:solidFill>
                <a:latin typeface="Arial"/>
                <a:ea typeface="Arial"/>
                <a:cs typeface="Arial"/>
              </a:defRPr>
            </a:pPr>
            <a:r>
              <a:rPr sz="2400" b="1">
                <a:solidFill>
                  <a:srgbClr val="5C2230"/>
                </a:solidFill>
                <a:latin typeface="Arial"/>
                <a:ea typeface="Arial"/>
                <a:cs typeface="Arial"/>
              </a:rPr>
              <a:t>Which detail makes this unsettling? What feeling stays unspoken?</a:t>
            </a:r>
          </a:p>
        </p:txBody>
      </p:sp>
    </p:spTree>
    <p:extLst>
      <p:ext uri="{BB962C8B-B14F-4D97-AF65-F5344CB8AC3E}">
        <p14:creationId xmlns:p14="http://schemas.microsoft.com/office/powerpoint/2010/main" val="1025117200"/>
      </p:ext>
    </p:extLst>
  </p:cSld>
</p:sld>
</file>

<file path=ppt/slides/slide8.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4C530C85-59CB-4D2A-BF5C-0E9BFB9B1E5E}"/>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08000"/>
              </a:lnSpc>
              <a:buNone/>
              <a:defRPr sz="1600" b="0">
                <a:solidFill>
                  <a:srgbClr val="B89B5E"/>
                </a:solidFill>
                <a:latin typeface="Arial"/>
                <a:ea typeface="Arial"/>
                <a:cs typeface="Arial"/>
              </a:defRPr>
            </a:pPr>
            <a:r>
              <a:rPr sz="1600" b="0">
                <a:solidFill>
                  <a:srgbClr val="B89B5E"/>
                </a:solidFill>
                <a:latin typeface="Arial"/>
                <a:ea typeface="Arial"/>
                <a:cs typeface="Arial"/>
              </a:rPr>
              <a:t>08</a:t>
            </a:r>
          </a:p>
        </p:txBody>
      </p:sp>
      <p:pic>
        <p:nvPicPr>
          <p:cNvPr id="2" name="">
            <a:extLst xmlns:a="http://schemas.openxmlformats.org/drawingml/2006/main">
              <a:ext uri="{FF2B5EF4-FFF2-40B4-BE49-F238E27FC236}">
                <a16:creationId xmlns:a16="http://schemas.microsoft.com/office/drawing/2014/main" id="{87583104-D469-470B-85B0-070A5E6A4C20}"/>
              </a:ext>
            </a:extLst>
          </p:cNvPr>
          <p:cNvPicPr>
            <a:picLocks xmlns:a="http://schemas.openxmlformats.org/drawingml/2006/main" noChangeAspect="1"/>
          </p:cNvPicPr>
          <p:nvPr/>
        </p:nvPicPr>
        <p:blipFill>
          <a:blip xmlns:r="http://schemas.openxmlformats.org/officeDocument/2006/relationships" xmlns:a="http://schemas.openxmlformats.org/drawingml/2006/main" r:embed="R0c4136af47274a5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3" name="text">
            <a:extLst xmlns:a="http://schemas.openxmlformats.org/drawingml/2006/main">
              <a:ext uri="{FF2B5EF4-FFF2-40B4-BE49-F238E27FC236}">
                <a16:creationId xmlns:a16="http://schemas.microsoft.com/office/drawing/2014/main" id="{99676E49-B6DB-4A50-A54E-D145A43A3150}"/>
              </a:ext>
            </a:extLst>
          </p:cNvPr>
          <p:cNvSpPr>
            <a:spLocks xmlns:a="http://schemas.openxmlformats.org/drawingml/2006/main" noGrp="1"/>
          </p:cNvSpPr>
          <p:nvPr/>
        </p:nvSpPr>
        <p:spPr>
          <a:xfrm xmlns:a="http://schemas.openxmlformats.org/drawingml/2006/main">
            <a:off x="1905000" y="876300"/>
            <a:ext cx="852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2E8D5"/>
                </a:solidFill>
                <a:latin typeface="Georgia"/>
                <a:ea typeface="Georgia"/>
                <a:cs typeface="Georgia"/>
              </a:defRPr>
            </a:defPPr>
          </a:lstStyle>
          <a:p xmlns:a="http://schemas.openxmlformats.org/drawingml/2006/main">
            <a:pPr algn="l">
              <a:lnSpc>
                <a:spcPct val="108000"/>
              </a:lnSpc>
              <a:buNone/>
              <a:defRPr sz="3600" b="1">
                <a:solidFill>
                  <a:srgbClr val="F2E8D5"/>
                </a:solidFill>
                <a:latin typeface="Georgia"/>
                <a:ea typeface="Georgia"/>
                <a:cs typeface="Georgia"/>
              </a:defRPr>
            </a:pPr>
            <a:r>
              <a:rPr sz="3600" b="1">
                <a:solidFill>
                  <a:srgbClr val="F2E8D5"/>
                </a:solidFill>
                <a:latin typeface="Georgia"/>
                <a:ea typeface="Georgia"/>
                <a:cs typeface="Georgia"/>
              </a:rPr>
              <a:t>Your turn: make the fear visible</a:t>
            </a:r>
          </a:p>
        </p:txBody>
      </p:sp>
      <p:sp>
        <p:nvSpPr>
          <p:cNvPr id="4" name="practice-draft">
            <a:extLst xmlns:a="http://schemas.openxmlformats.org/drawingml/2006/main">
              <a:ext uri="{FF2B5EF4-FFF2-40B4-BE49-F238E27FC236}">
                <a16:creationId xmlns:a16="http://schemas.microsoft.com/office/drawing/2014/main" id="{A390533E-E827-4327-8679-1309CE8B97A3}"/>
              </a:ext>
            </a:extLst>
          </p:cNvPr>
          <p:cNvSpPr>
            <a:spLocks xmlns:a="http://schemas.openxmlformats.org/drawingml/2006/main" noGrp="1"/>
          </p:cNvSpPr>
          <p:nvPr/>
        </p:nvSpPr>
        <p:spPr>
          <a:xfrm xmlns:a="http://schemas.openxmlformats.org/drawingml/2006/main">
            <a:off x="2038350" y="2324100"/>
            <a:ext cx="81248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0">
                <a:solidFill>
                  <a:srgbClr val="F2E8D5"/>
                </a:solidFill>
                <a:latin typeface="Arial"/>
                <a:ea typeface="Arial"/>
                <a:cs typeface="Arial"/>
              </a:defRPr>
            </a:defPPr>
          </a:lstStyle>
          <a:p xmlns:a="http://schemas.openxmlformats.org/drawingml/2006/main">
            <a:pPr algn="l">
              <a:lnSpc>
                <a:spcPct val="108000"/>
              </a:lnSpc>
              <a:buNone/>
              <a:defRPr sz="2900" b="0">
                <a:solidFill>
                  <a:srgbClr val="F2E8D5"/>
                </a:solidFill>
                <a:latin typeface="Arial"/>
                <a:ea typeface="Arial"/>
                <a:cs typeface="Arial"/>
              </a:defRPr>
            </a:pPr>
            <a:r>
              <a:rPr sz="2900" b="0">
                <a:solidFill>
                  <a:srgbClr val="F2E8D5"/>
                </a:solidFill>
                <a:latin typeface="Arial"/>
                <a:ea typeface="Arial"/>
                <a:cs typeface="Arial"/>
              </a:rPr>
              <a:t>“I was extremely afraid when I suddenly realized that there was something very strange and frightening behind the bedroom door.”</a:t>
            </a:r>
          </a:p>
        </p:txBody>
      </p:sp>
      <p:sp>
        <p:nvSpPr>
          <p:cNvPr id="5" name="task">
            <a:extLst xmlns:a="http://schemas.openxmlformats.org/drawingml/2006/main">
              <a:ext uri="{FF2B5EF4-FFF2-40B4-BE49-F238E27FC236}">
                <a16:creationId xmlns:a16="http://schemas.microsoft.com/office/drawing/2014/main" id="{B021531B-FF22-4962-8549-B0BA77689A07}"/>
              </a:ext>
            </a:extLst>
          </p:cNvPr>
          <p:cNvSpPr>
            <a:spLocks xmlns:a="http://schemas.openxmlformats.org/drawingml/2006/main" noGrp="1"/>
          </p:cNvSpPr>
          <p:nvPr/>
        </p:nvSpPr>
        <p:spPr>
          <a:xfrm xmlns:a="http://schemas.openxmlformats.org/drawingml/2006/main">
            <a:off x="2038350" y="5095875"/>
            <a:ext cx="81248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2E8D5"/>
                </a:solidFill>
                <a:latin typeface="Arial"/>
                <a:ea typeface="Arial"/>
                <a:cs typeface="Arial"/>
              </a:defRPr>
            </a:defPPr>
          </a:lstStyle>
          <a:p xmlns:a="http://schemas.openxmlformats.org/drawingml/2006/main">
            <a:pPr algn="l">
              <a:lnSpc>
                <a:spcPct val="108000"/>
              </a:lnSpc>
              <a:buNone/>
              <a:defRPr sz="2700" b="1">
                <a:solidFill>
                  <a:srgbClr val="F2E8D5"/>
                </a:solidFill>
                <a:latin typeface="Arial"/>
                <a:ea typeface="Arial"/>
                <a:cs typeface="Arial"/>
              </a:defRPr>
            </a:pPr>
            <a:r>
              <a:rPr sz="2700" b="1">
                <a:solidFill>
                  <a:srgbClr val="F2E8D5"/>
                </a:solidFill>
                <a:latin typeface="Arial"/>
                <a:ea typeface="Arial"/>
                <a:cs typeface="Arial"/>
              </a:rPr>
              <a:t>Rewrite this as two clear sentences.</a:t>
            </a:r>
          </a:p>
          <a:p xmlns:a="http://schemas.openxmlformats.org/drawingml/2006/main">
            <a:pPr algn="l">
              <a:lnSpc>
                <a:spcPct val="108000"/>
              </a:lnSpc>
              <a:buNone/>
              <a:defRPr sz="2700" b="1">
                <a:solidFill>
                  <a:srgbClr val="F2E8D5"/>
                </a:solidFill>
                <a:latin typeface="Arial"/>
                <a:ea typeface="Arial"/>
                <a:cs typeface="Arial"/>
              </a:defRPr>
            </a:pPr>
            <a:r>
              <a:rPr sz="2700" b="1">
                <a:solidFill>
                  <a:srgbClr val="F2E8D5"/>
                </a:solidFill>
                <a:latin typeface="Arial"/>
                <a:ea typeface="Arial"/>
                <a:cs typeface="Arial"/>
              </a:rPr>
              <a:t>Use an action and a sound or object.</a:t>
            </a:r>
          </a:p>
        </p:txBody>
      </p:sp>
    </p:spTree>
    <p:extLst>
      <p:ext uri="{BB962C8B-B14F-4D97-AF65-F5344CB8AC3E}">
        <p14:creationId xmlns:p14="http://schemas.microsoft.com/office/powerpoint/2010/main" val="911675788"/>
      </p:ext>
    </p:extLst>
  </p:cSld>
</p:sld>
</file>

<file path=ppt/slides/slide9.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20" name="heading">
            <a:extLst xmlns:a="http://schemas.openxmlformats.org/drawingml/2006/main">
              <a:ext uri="{FF2B5EF4-FFF2-40B4-BE49-F238E27FC236}">
                <a16:creationId xmlns:a16="http://schemas.microsoft.com/office/drawing/2014/main" id="{0EC9A905-A999-4D02-8CED-896BA8E2BA47}"/>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08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Plan four small changes</a:t>
            </a:r>
          </a:p>
        </p:txBody>
      </p:sp>
      <p:sp>
        <p:nvSpPr>
          <p:cNvPr id="2" name="">
            <a:extLst xmlns:a="http://schemas.openxmlformats.org/drawingml/2006/main">
              <a:ext uri="{FF2B5EF4-FFF2-40B4-BE49-F238E27FC236}">
                <a16:creationId xmlns:a16="http://schemas.microsoft.com/office/drawing/2014/main" id="{AEE1388F-7889-46DC-A76E-AF5E508DBBF6}"/>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75DC5675-0B98-431D-85E2-0F7ABC51EA74}"/>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09</a:t>
            </a:r>
          </a:p>
        </p:txBody>
      </p:sp>
      <p:sp>
        <p:nvSpPr>
          <p:cNvPr id="4" name="text">
            <a:extLst xmlns:a="http://schemas.openxmlformats.org/drawingml/2006/main">
              <a:ext uri="{FF2B5EF4-FFF2-40B4-BE49-F238E27FC236}">
                <a16:creationId xmlns:a16="http://schemas.microsoft.com/office/drawing/2014/main" id="{2825BC12-9CC0-4D94-BF8F-5E5D23C38A01}"/>
              </a:ext>
            </a:extLst>
          </p:cNvPr>
          <p:cNvSpPr>
            <a:spLocks xmlns:a="http://schemas.openxmlformats.org/drawingml/2006/main" noGrp="1"/>
          </p:cNvSpPr>
          <p:nvPr/>
        </p:nvSpPr>
        <p:spPr>
          <a:xfrm xmlns:a="http://schemas.openxmlformats.org/drawingml/2006/main">
            <a:off x="714375" y="21431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00" b="1">
                <a:solidFill>
                  <a:srgbClr val="5C2230"/>
                </a:solidFill>
                <a:latin typeface="Georgia"/>
                <a:ea typeface="Georgia"/>
                <a:cs typeface="Georgia"/>
              </a:defRPr>
            </a:defPPr>
          </a:lstStyle>
          <a:p xmlns:a="http://schemas.openxmlformats.org/drawingml/2006/main">
            <a:pPr algn="l">
              <a:lnSpc>
                <a:spcPct val="108000"/>
              </a:lnSpc>
              <a:buNone/>
              <a:defRPr sz="4300" b="1">
                <a:solidFill>
                  <a:srgbClr val="5C2230"/>
                </a:solidFill>
                <a:latin typeface="Georgia"/>
                <a:ea typeface="Georgia"/>
                <a:cs typeface="Georgia"/>
              </a:defRPr>
            </a:pPr>
            <a:r>
              <a:rPr sz="4300" b="1">
                <a:solidFill>
                  <a:srgbClr val="5C2230"/>
                </a:solidFill>
                <a:latin typeface="Georgia"/>
                <a:ea typeface="Georgia"/>
                <a:cs typeface="Georgia"/>
              </a:rPr>
              <a:t>01</a:t>
            </a:r>
          </a:p>
        </p:txBody>
      </p:sp>
      <p:sp>
        <p:nvSpPr>
          <p:cNvPr id="5" name="text">
            <a:extLst xmlns:a="http://schemas.openxmlformats.org/drawingml/2006/main">
              <a:ext uri="{FF2B5EF4-FFF2-40B4-BE49-F238E27FC236}">
                <a16:creationId xmlns:a16="http://schemas.microsoft.com/office/drawing/2014/main" id="{28D3A1E9-7BCC-4A83-AA18-A4F219D1CD41}"/>
              </a:ext>
            </a:extLst>
          </p:cNvPr>
          <p:cNvSpPr>
            <a:spLocks xmlns:a="http://schemas.openxmlformats.org/drawingml/2006/main" noGrp="1"/>
          </p:cNvSpPr>
          <p:nvPr/>
        </p:nvSpPr>
        <p:spPr>
          <a:xfrm xmlns:a="http://schemas.openxmlformats.org/drawingml/2006/main">
            <a:off x="714375" y="3200400"/>
            <a:ext cx="238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11B16"/>
                </a:solidFill>
                <a:latin typeface="Arial"/>
                <a:ea typeface="Arial"/>
                <a:cs typeface="Arial"/>
              </a:defRPr>
            </a:defPPr>
          </a:lstStyle>
          <a:p xmlns:a="http://schemas.openxmlformats.org/drawingml/2006/main">
            <a:pPr algn="l">
              <a:lnSpc>
                <a:spcPct val="108000"/>
              </a:lnSpc>
              <a:buNone/>
              <a:defRPr sz="2400" b="1">
                <a:solidFill>
                  <a:srgbClr val="211B16"/>
                </a:solidFill>
                <a:latin typeface="Arial"/>
                <a:ea typeface="Arial"/>
                <a:cs typeface="Arial"/>
              </a:defRPr>
            </a:pPr>
            <a:r>
              <a:rPr sz="2400" b="1">
                <a:solidFill>
                  <a:srgbClr val="211B16"/>
                </a:solidFill>
                <a:latin typeface="Arial"/>
                <a:ea typeface="Arial"/>
                <a:cs typeface="Arial"/>
              </a:rPr>
              <a:t>An ordinary moment</a:t>
            </a:r>
          </a:p>
        </p:txBody>
      </p:sp>
      <p:sp>
        <p:nvSpPr>
          <p:cNvPr id="6" name="text">
            <a:extLst xmlns:a="http://schemas.openxmlformats.org/drawingml/2006/main">
              <a:ext uri="{FF2B5EF4-FFF2-40B4-BE49-F238E27FC236}">
                <a16:creationId xmlns:a16="http://schemas.microsoft.com/office/drawing/2014/main" id="{BC4B790F-8CDB-44A3-B44E-6F4C756BEFC4}"/>
              </a:ext>
            </a:extLst>
          </p:cNvPr>
          <p:cNvSpPr>
            <a:spLocks xmlns:a="http://schemas.openxmlformats.org/drawingml/2006/main" noGrp="1"/>
          </p:cNvSpPr>
          <p:nvPr/>
        </p:nvSpPr>
        <p:spPr>
          <a:xfrm xmlns:a="http://schemas.openxmlformats.org/drawingml/2006/main">
            <a:off x="714375" y="4333875"/>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A simple, everyday</a:t>
            </a:r>
          </a:p>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action.</a:t>
            </a:r>
          </a:p>
        </p:txBody>
      </p:sp>
      <p:sp>
        <p:nvSpPr>
          <p:cNvPr id="7" name="text">
            <a:extLst xmlns:a="http://schemas.openxmlformats.org/drawingml/2006/main">
              <a:ext uri="{FF2B5EF4-FFF2-40B4-BE49-F238E27FC236}">
                <a16:creationId xmlns:a16="http://schemas.microsoft.com/office/drawing/2014/main" id="{6EC49C34-8E4E-4BB6-8F4E-F4AC76663DDD}"/>
              </a:ext>
            </a:extLst>
          </p:cNvPr>
          <p:cNvSpPr>
            <a:spLocks xmlns:a="http://schemas.openxmlformats.org/drawingml/2006/main" noGrp="1"/>
          </p:cNvSpPr>
          <p:nvPr/>
        </p:nvSpPr>
        <p:spPr>
          <a:xfrm xmlns:a="http://schemas.openxmlformats.org/drawingml/2006/main">
            <a:off x="2990850" y="24288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5C2230"/>
                </a:solidFill>
                <a:latin typeface="Arial"/>
                <a:ea typeface="Arial"/>
                <a:cs typeface="Arial"/>
              </a:defRPr>
            </a:defPPr>
          </a:lstStyle>
          <a:p xmlns:a="http://schemas.openxmlformats.org/drawingml/2006/main">
            <a:pPr algn="l">
              <a:lnSpc>
                <a:spcPct val="108000"/>
              </a:lnSpc>
              <a:buNone/>
              <a:defRPr sz="3000" b="0">
                <a:solidFill>
                  <a:srgbClr val="5C2230"/>
                </a:solidFill>
                <a:latin typeface="Arial"/>
                <a:ea typeface="Arial"/>
                <a:cs typeface="Arial"/>
              </a:defRPr>
            </a:pPr>
            <a:r>
              <a:rPr sz="3000" b="0">
                <a:solidFill>
                  <a:srgbClr val="5C2230"/>
                </a:solidFill>
                <a:latin typeface="Arial"/>
                <a:ea typeface="Arial"/>
                <a:cs typeface="Arial"/>
              </a:rPr>
              <a:t>→</a:t>
            </a:r>
          </a:p>
        </p:txBody>
      </p:sp>
      <p:sp>
        <p:nvSpPr>
          <p:cNvPr id="8" name="text">
            <a:extLst xmlns:a="http://schemas.openxmlformats.org/drawingml/2006/main">
              <a:ext uri="{FF2B5EF4-FFF2-40B4-BE49-F238E27FC236}">
                <a16:creationId xmlns:a16="http://schemas.microsoft.com/office/drawing/2014/main" id="{32D33AA5-D9DE-4838-95A9-112B137C5838}"/>
              </a:ext>
            </a:extLst>
          </p:cNvPr>
          <p:cNvSpPr>
            <a:spLocks xmlns:a="http://schemas.openxmlformats.org/drawingml/2006/main" noGrp="1"/>
          </p:cNvSpPr>
          <p:nvPr/>
        </p:nvSpPr>
        <p:spPr>
          <a:xfrm xmlns:a="http://schemas.openxmlformats.org/drawingml/2006/main">
            <a:off x="3571875" y="21431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00" b="1">
                <a:solidFill>
                  <a:srgbClr val="5C2230"/>
                </a:solidFill>
                <a:latin typeface="Georgia"/>
                <a:ea typeface="Georgia"/>
                <a:cs typeface="Georgia"/>
              </a:defRPr>
            </a:defPPr>
          </a:lstStyle>
          <a:p xmlns:a="http://schemas.openxmlformats.org/drawingml/2006/main">
            <a:pPr algn="l">
              <a:lnSpc>
                <a:spcPct val="108000"/>
              </a:lnSpc>
              <a:buNone/>
              <a:defRPr sz="4300" b="1">
                <a:solidFill>
                  <a:srgbClr val="5C2230"/>
                </a:solidFill>
                <a:latin typeface="Georgia"/>
                <a:ea typeface="Georgia"/>
                <a:cs typeface="Georgia"/>
              </a:defRPr>
            </a:pPr>
            <a:r>
              <a:rPr sz="4300" b="1">
                <a:solidFill>
                  <a:srgbClr val="5C2230"/>
                </a:solidFill>
                <a:latin typeface="Georgia"/>
                <a:ea typeface="Georgia"/>
                <a:cs typeface="Georgia"/>
              </a:rPr>
              <a:t>02</a:t>
            </a:r>
          </a:p>
        </p:txBody>
      </p:sp>
      <p:sp>
        <p:nvSpPr>
          <p:cNvPr id="9" name="text">
            <a:extLst xmlns:a="http://schemas.openxmlformats.org/drawingml/2006/main">
              <a:ext uri="{FF2B5EF4-FFF2-40B4-BE49-F238E27FC236}">
                <a16:creationId xmlns:a16="http://schemas.microsoft.com/office/drawing/2014/main" id="{C2B24067-22E6-4403-9189-4008BB844847}"/>
              </a:ext>
            </a:extLst>
          </p:cNvPr>
          <p:cNvSpPr>
            <a:spLocks xmlns:a="http://schemas.openxmlformats.org/drawingml/2006/main" noGrp="1"/>
          </p:cNvSpPr>
          <p:nvPr/>
        </p:nvSpPr>
        <p:spPr>
          <a:xfrm xmlns:a="http://schemas.openxmlformats.org/drawingml/2006/main">
            <a:off x="3571875" y="3200400"/>
            <a:ext cx="238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11B16"/>
                </a:solidFill>
                <a:latin typeface="Arial"/>
                <a:ea typeface="Arial"/>
                <a:cs typeface="Arial"/>
              </a:defRPr>
            </a:defPPr>
          </a:lstStyle>
          <a:p xmlns:a="http://schemas.openxmlformats.org/drawingml/2006/main">
            <a:pPr algn="l">
              <a:lnSpc>
                <a:spcPct val="108000"/>
              </a:lnSpc>
              <a:buNone/>
              <a:defRPr sz="2400" b="1">
                <a:solidFill>
                  <a:srgbClr val="211B16"/>
                </a:solidFill>
                <a:latin typeface="Arial"/>
                <a:ea typeface="Arial"/>
                <a:cs typeface="Arial"/>
              </a:defRPr>
            </a:pPr>
            <a:r>
              <a:rPr sz="2400" b="1">
                <a:solidFill>
                  <a:srgbClr val="211B16"/>
                </a:solidFill>
                <a:latin typeface="Arial"/>
                <a:ea typeface="Arial"/>
                <a:cs typeface="Arial"/>
              </a:rPr>
              <a:t>A detail is wrong</a:t>
            </a:r>
          </a:p>
        </p:txBody>
      </p:sp>
      <p:sp>
        <p:nvSpPr>
          <p:cNvPr id="10" name="text">
            <a:extLst xmlns:a="http://schemas.openxmlformats.org/drawingml/2006/main">
              <a:ext uri="{FF2B5EF4-FFF2-40B4-BE49-F238E27FC236}">
                <a16:creationId xmlns:a16="http://schemas.microsoft.com/office/drawing/2014/main" id="{50E31A75-4340-4BFC-84BD-489957BA13EC}"/>
              </a:ext>
            </a:extLst>
          </p:cNvPr>
          <p:cNvSpPr>
            <a:spLocks xmlns:a="http://schemas.openxmlformats.org/drawingml/2006/main" noGrp="1"/>
          </p:cNvSpPr>
          <p:nvPr/>
        </p:nvSpPr>
        <p:spPr>
          <a:xfrm xmlns:a="http://schemas.openxmlformats.org/drawingml/2006/main">
            <a:off x="3571875" y="4333875"/>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A familiar thing</a:t>
            </a:r>
          </a:p>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changes.</a:t>
            </a:r>
          </a:p>
        </p:txBody>
      </p:sp>
      <p:sp>
        <p:nvSpPr>
          <p:cNvPr id="11" name="text">
            <a:extLst xmlns:a="http://schemas.openxmlformats.org/drawingml/2006/main">
              <a:ext uri="{FF2B5EF4-FFF2-40B4-BE49-F238E27FC236}">
                <a16:creationId xmlns:a16="http://schemas.microsoft.com/office/drawing/2014/main" id="{58F59A21-0E04-4872-BE11-A1E02CAE02A2}"/>
              </a:ext>
            </a:extLst>
          </p:cNvPr>
          <p:cNvSpPr>
            <a:spLocks xmlns:a="http://schemas.openxmlformats.org/drawingml/2006/main" noGrp="1"/>
          </p:cNvSpPr>
          <p:nvPr/>
        </p:nvSpPr>
        <p:spPr>
          <a:xfrm xmlns:a="http://schemas.openxmlformats.org/drawingml/2006/main">
            <a:off x="5848350" y="24288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5C2230"/>
                </a:solidFill>
                <a:latin typeface="Arial"/>
                <a:ea typeface="Arial"/>
                <a:cs typeface="Arial"/>
              </a:defRPr>
            </a:defPPr>
          </a:lstStyle>
          <a:p xmlns:a="http://schemas.openxmlformats.org/drawingml/2006/main">
            <a:pPr algn="l">
              <a:lnSpc>
                <a:spcPct val="108000"/>
              </a:lnSpc>
              <a:buNone/>
              <a:defRPr sz="3000" b="0">
                <a:solidFill>
                  <a:srgbClr val="5C2230"/>
                </a:solidFill>
                <a:latin typeface="Arial"/>
                <a:ea typeface="Arial"/>
                <a:cs typeface="Arial"/>
              </a:defRPr>
            </a:pPr>
            <a:r>
              <a:rPr sz="3000" b="0">
                <a:solidFill>
                  <a:srgbClr val="5C2230"/>
                </a:solidFill>
                <a:latin typeface="Arial"/>
                <a:ea typeface="Arial"/>
                <a:cs typeface="Arial"/>
              </a:rPr>
              <a:t>→</a:t>
            </a:r>
          </a:p>
        </p:txBody>
      </p:sp>
      <p:sp>
        <p:nvSpPr>
          <p:cNvPr id="12" name="text">
            <a:extLst xmlns:a="http://schemas.openxmlformats.org/drawingml/2006/main">
              <a:ext uri="{FF2B5EF4-FFF2-40B4-BE49-F238E27FC236}">
                <a16:creationId xmlns:a16="http://schemas.microsoft.com/office/drawing/2014/main" id="{C854C0E5-4DC5-42BF-BEA8-D129B0B8F2AC}"/>
              </a:ext>
            </a:extLst>
          </p:cNvPr>
          <p:cNvSpPr>
            <a:spLocks xmlns:a="http://schemas.openxmlformats.org/drawingml/2006/main" noGrp="1"/>
          </p:cNvSpPr>
          <p:nvPr/>
        </p:nvSpPr>
        <p:spPr>
          <a:xfrm xmlns:a="http://schemas.openxmlformats.org/drawingml/2006/main">
            <a:off x="6429375" y="21431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00" b="1">
                <a:solidFill>
                  <a:srgbClr val="5C2230"/>
                </a:solidFill>
                <a:latin typeface="Georgia"/>
                <a:ea typeface="Georgia"/>
                <a:cs typeface="Georgia"/>
              </a:defRPr>
            </a:defPPr>
          </a:lstStyle>
          <a:p xmlns:a="http://schemas.openxmlformats.org/drawingml/2006/main">
            <a:pPr algn="l">
              <a:lnSpc>
                <a:spcPct val="108000"/>
              </a:lnSpc>
              <a:buNone/>
              <a:defRPr sz="4300" b="1">
                <a:solidFill>
                  <a:srgbClr val="5C2230"/>
                </a:solidFill>
                <a:latin typeface="Georgia"/>
                <a:ea typeface="Georgia"/>
                <a:cs typeface="Georgia"/>
              </a:defRPr>
            </a:pPr>
            <a:r>
              <a:rPr sz="4300" b="1">
                <a:solidFill>
                  <a:srgbClr val="5C2230"/>
                </a:solidFill>
                <a:latin typeface="Georgia"/>
                <a:ea typeface="Georgia"/>
                <a:cs typeface="Georgia"/>
              </a:rPr>
              <a:t>03</a:t>
            </a:r>
          </a:p>
        </p:txBody>
      </p:sp>
      <p:sp>
        <p:nvSpPr>
          <p:cNvPr id="13" name="text">
            <a:extLst xmlns:a="http://schemas.openxmlformats.org/drawingml/2006/main">
              <a:ext uri="{FF2B5EF4-FFF2-40B4-BE49-F238E27FC236}">
                <a16:creationId xmlns:a16="http://schemas.microsoft.com/office/drawing/2014/main" id="{91A28B06-D7DC-4483-AA86-6FD7FC54BDA4}"/>
              </a:ext>
            </a:extLst>
          </p:cNvPr>
          <p:cNvSpPr>
            <a:spLocks xmlns:a="http://schemas.openxmlformats.org/drawingml/2006/main" noGrp="1"/>
          </p:cNvSpPr>
          <p:nvPr/>
        </p:nvSpPr>
        <p:spPr>
          <a:xfrm xmlns:a="http://schemas.openxmlformats.org/drawingml/2006/main">
            <a:off x="6429375" y="3200400"/>
            <a:ext cx="238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11B16"/>
                </a:solidFill>
                <a:latin typeface="Arial"/>
                <a:ea typeface="Arial"/>
                <a:cs typeface="Arial"/>
              </a:defRPr>
            </a:defPPr>
          </a:lstStyle>
          <a:p xmlns:a="http://schemas.openxmlformats.org/drawingml/2006/main">
            <a:pPr algn="l">
              <a:lnSpc>
                <a:spcPct val="108000"/>
              </a:lnSpc>
              <a:buNone/>
              <a:defRPr sz="2400" b="1">
                <a:solidFill>
                  <a:srgbClr val="211B16"/>
                </a:solidFill>
                <a:latin typeface="Arial"/>
                <a:ea typeface="Arial"/>
                <a:cs typeface="Arial"/>
              </a:defRPr>
            </a:pPr>
            <a:r>
              <a:rPr sz="2400" b="1">
                <a:solidFill>
                  <a:srgbClr val="211B16"/>
                </a:solidFill>
                <a:latin typeface="Arial"/>
                <a:ea typeface="Arial"/>
                <a:cs typeface="Arial"/>
              </a:rPr>
              <a:t>A small choice</a:t>
            </a:r>
          </a:p>
        </p:txBody>
      </p:sp>
      <p:sp>
        <p:nvSpPr>
          <p:cNvPr id="14" name="text">
            <a:extLst xmlns:a="http://schemas.openxmlformats.org/drawingml/2006/main">
              <a:ext uri="{FF2B5EF4-FFF2-40B4-BE49-F238E27FC236}">
                <a16:creationId xmlns:a16="http://schemas.microsoft.com/office/drawing/2014/main" id="{07E36C74-36BA-492F-BBF9-2DFFC229A50B}"/>
              </a:ext>
            </a:extLst>
          </p:cNvPr>
          <p:cNvSpPr>
            <a:spLocks xmlns:a="http://schemas.openxmlformats.org/drawingml/2006/main" noGrp="1"/>
          </p:cNvSpPr>
          <p:nvPr/>
        </p:nvSpPr>
        <p:spPr>
          <a:xfrm xmlns:a="http://schemas.openxmlformats.org/drawingml/2006/main">
            <a:off x="6429375" y="4333875"/>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The character</a:t>
            </a:r>
          </a:p>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decides what to do.</a:t>
            </a:r>
          </a:p>
        </p:txBody>
      </p:sp>
      <p:sp>
        <p:nvSpPr>
          <p:cNvPr id="15" name="text">
            <a:extLst xmlns:a="http://schemas.openxmlformats.org/drawingml/2006/main">
              <a:ext uri="{FF2B5EF4-FFF2-40B4-BE49-F238E27FC236}">
                <a16:creationId xmlns:a16="http://schemas.microsoft.com/office/drawing/2014/main" id="{F576824C-F9B7-4AAF-9A2A-C6EC127DC689}"/>
              </a:ext>
            </a:extLst>
          </p:cNvPr>
          <p:cNvSpPr>
            <a:spLocks xmlns:a="http://schemas.openxmlformats.org/drawingml/2006/main" noGrp="1"/>
          </p:cNvSpPr>
          <p:nvPr/>
        </p:nvSpPr>
        <p:spPr>
          <a:xfrm xmlns:a="http://schemas.openxmlformats.org/drawingml/2006/main">
            <a:off x="8705850" y="242887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5C2230"/>
                </a:solidFill>
                <a:latin typeface="Arial"/>
                <a:ea typeface="Arial"/>
                <a:cs typeface="Arial"/>
              </a:defRPr>
            </a:defPPr>
          </a:lstStyle>
          <a:p xmlns:a="http://schemas.openxmlformats.org/drawingml/2006/main">
            <a:pPr algn="l">
              <a:lnSpc>
                <a:spcPct val="108000"/>
              </a:lnSpc>
              <a:buNone/>
              <a:defRPr sz="3000" b="0">
                <a:solidFill>
                  <a:srgbClr val="5C2230"/>
                </a:solidFill>
                <a:latin typeface="Arial"/>
                <a:ea typeface="Arial"/>
                <a:cs typeface="Arial"/>
              </a:defRPr>
            </a:pPr>
            <a:r>
              <a:rPr sz="3000" b="0">
                <a:solidFill>
                  <a:srgbClr val="5C2230"/>
                </a:solidFill>
                <a:latin typeface="Arial"/>
                <a:ea typeface="Arial"/>
                <a:cs typeface="Arial"/>
              </a:rPr>
              <a:t>→</a:t>
            </a:r>
          </a:p>
        </p:txBody>
      </p:sp>
      <p:sp>
        <p:nvSpPr>
          <p:cNvPr id="16" name="text">
            <a:extLst xmlns:a="http://schemas.openxmlformats.org/drawingml/2006/main">
              <a:ext uri="{FF2B5EF4-FFF2-40B4-BE49-F238E27FC236}">
                <a16:creationId xmlns:a16="http://schemas.microsoft.com/office/drawing/2014/main" id="{33C192D4-1EE0-4319-8FA8-C25C1A3A3959}"/>
              </a:ext>
            </a:extLst>
          </p:cNvPr>
          <p:cNvSpPr>
            <a:spLocks xmlns:a="http://schemas.openxmlformats.org/drawingml/2006/main" noGrp="1"/>
          </p:cNvSpPr>
          <p:nvPr/>
        </p:nvSpPr>
        <p:spPr>
          <a:xfrm xmlns:a="http://schemas.openxmlformats.org/drawingml/2006/main">
            <a:off x="9286875" y="21431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00" b="1">
                <a:solidFill>
                  <a:srgbClr val="5C2230"/>
                </a:solidFill>
                <a:latin typeface="Georgia"/>
                <a:ea typeface="Georgia"/>
                <a:cs typeface="Georgia"/>
              </a:defRPr>
            </a:defPPr>
          </a:lstStyle>
          <a:p xmlns:a="http://schemas.openxmlformats.org/drawingml/2006/main">
            <a:pPr algn="l">
              <a:lnSpc>
                <a:spcPct val="108000"/>
              </a:lnSpc>
              <a:buNone/>
              <a:defRPr sz="4300" b="1">
                <a:solidFill>
                  <a:srgbClr val="5C2230"/>
                </a:solidFill>
                <a:latin typeface="Georgia"/>
                <a:ea typeface="Georgia"/>
                <a:cs typeface="Georgia"/>
              </a:defRPr>
            </a:pPr>
            <a:r>
              <a:rPr sz="4300" b="1">
                <a:solidFill>
                  <a:srgbClr val="5C2230"/>
                </a:solidFill>
                <a:latin typeface="Georgia"/>
                <a:ea typeface="Georgia"/>
                <a:cs typeface="Georgia"/>
              </a:rPr>
              <a:t>04</a:t>
            </a:r>
          </a:p>
        </p:txBody>
      </p:sp>
      <p:sp>
        <p:nvSpPr>
          <p:cNvPr id="17" name="text">
            <a:extLst xmlns:a="http://schemas.openxmlformats.org/drawingml/2006/main">
              <a:ext uri="{FF2B5EF4-FFF2-40B4-BE49-F238E27FC236}">
                <a16:creationId xmlns:a16="http://schemas.microsoft.com/office/drawing/2014/main" id="{4011D107-117B-4D44-A72D-3344A0671537}"/>
              </a:ext>
            </a:extLst>
          </p:cNvPr>
          <p:cNvSpPr>
            <a:spLocks xmlns:a="http://schemas.openxmlformats.org/drawingml/2006/main" noGrp="1"/>
          </p:cNvSpPr>
          <p:nvPr/>
        </p:nvSpPr>
        <p:spPr>
          <a:xfrm xmlns:a="http://schemas.openxmlformats.org/drawingml/2006/main">
            <a:off x="9286875" y="3200400"/>
            <a:ext cx="238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11B16"/>
                </a:solidFill>
                <a:latin typeface="Arial"/>
                <a:ea typeface="Arial"/>
                <a:cs typeface="Arial"/>
              </a:defRPr>
            </a:defPPr>
          </a:lstStyle>
          <a:p xmlns:a="http://schemas.openxmlformats.org/drawingml/2006/main">
            <a:pPr algn="l">
              <a:lnSpc>
                <a:spcPct val="108000"/>
              </a:lnSpc>
              <a:buNone/>
              <a:defRPr sz="2400" b="1">
                <a:solidFill>
                  <a:srgbClr val="211B16"/>
                </a:solidFill>
                <a:latin typeface="Arial"/>
                <a:ea typeface="Arial"/>
                <a:cs typeface="Arial"/>
              </a:defRPr>
            </a:pPr>
            <a:r>
              <a:rPr sz="2400" b="1">
                <a:solidFill>
                  <a:srgbClr val="211B16"/>
                </a:solidFill>
                <a:latin typeface="Arial"/>
                <a:ea typeface="Arial"/>
                <a:cs typeface="Arial"/>
              </a:rPr>
              <a:t>A final clue</a:t>
            </a:r>
          </a:p>
        </p:txBody>
      </p:sp>
      <p:sp>
        <p:nvSpPr>
          <p:cNvPr id="18" name="text">
            <a:extLst xmlns:a="http://schemas.openxmlformats.org/drawingml/2006/main">
              <a:ext uri="{FF2B5EF4-FFF2-40B4-BE49-F238E27FC236}">
                <a16:creationId xmlns:a16="http://schemas.microsoft.com/office/drawing/2014/main" id="{F34D9AC8-DF07-4EB3-93FE-225AC9390B1B}"/>
              </a:ext>
            </a:extLst>
          </p:cNvPr>
          <p:cNvSpPr>
            <a:spLocks xmlns:a="http://schemas.openxmlformats.org/drawingml/2006/main" noGrp="1"/>
          </p:cNvSpPr>
          <p:nvPr/>
        </p:nvSpPr>
        <p:spPr>
          <a:xfrm xmlns:a="http://schemas.openxmlformats.org/drawingml/2006/main">
            <a:off x="9286875" y="4333875"/>
            <a:ext cx="238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211B16"/>
                </a:solidFill>
                <a:latin typeface="Arial"/>
                <a:ea typeface="Arial"/>
                <a:cs typeface="Arial"/>
              </a:defRPr>
            </a:defPPr>
          </a:lstStyle>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One detail leaves</a:t>
            </a:r>
          </a:p>
          <a:p xmlns:a="http://schemas.openxmlformats.org/drawingml/2006/main">
            <a:pPr algn="l">
              <a:lnSpc>
                <a:spcPct val="108000"/>
              </a:lnSpc>
              <a:buNone/>
              <a:defRPr sz="2500" b="0">
                <a:solidFill>
                  <a:srgbClr val="211B16"/>
                </a:solidFill>
                <a:latin typeface="Arial"/>
                <a:ea typeface="Arial"/>
                <a:cs typeface="Arial"/>
              </a:defRPr>
            </a:pPr>
            <a:r>
              <a:rPr sz="2500" b="0">
                <a:solidFill>
                  <a:srgbClr val="211B16"/>
                </a:solidFill>
                <a:latin typeface="Arial"/>
                <a:ea typeface="Arial"/>
                <a:cs typeface="Arial"/>
              </a:rPr>
              <a:t>us uneasy.</a:t>
            </a:r>
          </a:p>
        </p:txBody>
      </p:sp>
      <p:sp>
        <p:nvSpPr>
          <p:cNvPr id="19" name="text">
            <a:extLst xmlns:a="http://schemas.openxmlformats.org/drawingml/2006/main">
              <a:ext uri="{FF2B5EF4-FFF2-40B4-BE49-F238E27FC236}">
                <a16:creationId xmlns:a16="http://schemas.microsoft.com/office/drawing/2014/main" id="{993DAC18-A4B8-4280-9E6C-9E4FD803D198}"/>
              </a:ext>
            </a:extLst>
          </p:cNvPr>
          <p:cNvSpPr>
            <a:spLocks xmlns:a="http://schemas.openxmlformats.org/drawingml/2006/main" noGrp="1"/>
          </p:cNvSpPr>
          <p:nvPr/>
        </p:nvSpPr>
        <p:spPr>
          <a:xfrm xmlns:a="http://schemas.openxmlformats.org/drawingml/2006/main">
            <a:off x="714375" y="5991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1">
                <a:solidFill>
                  <a:srgbClr val="5C2230"/>
                </a:solidFill>
                <a:latin typeface="Arial"/>
                <a:ea typeface="Arial"/>
                <a:cs typeface="Arial"/>
              </a:defRPr>
            </a:defPPr>
          </a:lstStyle>
          <a:p xmlns:a="http://schemas.openxmlformats.org/drawingml/2006/main">
            <a:pPr algn="l">
              <a:lnSpc>
                <a:spcPct val="108000"/>
              </a:lnSpc>
              <a:buNone/>
              <a:defRPr sz="2600" b="1">
                <a:solidFill>
                  <a:srgbClr val="5C2230"/>
                </a:solidFill>
                <a:latin typeface="Arial"/>
                <a:ea typeface="Arial"/>
                <a:cs typeface="Arial"/>
              </a:defRPr>
            </a:pPr>
            <a:r>
              <a:rPr sz="2600" b="1">
                <a:solidFill>
                  <a:srgbClr val="5C2230"/>
                </a:solidFill>
                <a:latin typeface="Arial"/>
                <a:ea typeface="Arial"/>
                <a:cs typeface="Arial"/>
              </a:rPr>
              <a:t>What does your character want badly enough to stay?</a:t>
            </a:r>
          </a:p>
        </p:txBody>
      </p:sp>
    </p:spTree>
    <p:extLst>
      <p:ext uri="{BB962C8B-B14F-4D97-AF65-F5344CB8AC3E}">
        <p14:creationId xmlns:p14="http://schemas.microsoft.com/office/powerpoint/2010/main" val="60462097"/>
      </p:ext>
    </p:extLst>
  </p:cSld>
</p:sld>
</file>

<file path=ppt/slides/slide10.xml><?xml version="1.0" encoding="utf-8"?>
<p:sld xmlns:p="http://schemas.openxmlformats.org/presentationml/2006/main">
  <p:cSld>
    <p:bg>
      <p:bgPr>
        <a:solidFill xmlns:a="http://schemas.openxmlformats.org/drawingml/2006/main">
          <a:srgbClr val="211B16"/>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1A43A052-D583-47B3-B388-D3608BD34387}"/>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F2E8D5"/>
                </a:solidFill>
                <a:latin typeface="Georgia"/>
                <a:ea typeface="Georgia"/>
                <a:cs typeface="Georgia"/>
              </a:defRPr>
            </a:defPPr>
          </a:lstStyle>
          <a:p xmlns:a="http://schemas.openxmlformats.org/drawingml/2006/main">
            <a:pPr algn="l">
              <a:lnSpc>
                <a:spcPct val="108000"/>
              </a:lnSpc>
              <a:buNone/>
              <a:defRPr sz="3800" b="1">
                <a:solidFill>
                  <a:srgbClr val="F2E8D5"/>
                </a:solidFill>
                <a:latin typeface="Georgia"/>
                <a:ea typeface="Georgia"/>
                <a:cs typeface="Georgia"/>
              </a:defRPr>
            </a:pPr>
            <a:r>
              <a:rPr sz="3800" b="1">
                <a:solidFill>
                  <a:srgbClr val="F2E8D5"/>
                </a:solidFill>
                <a:latin typeface="Georgia"/>
                <a:ea typeface="Georgia"/>
                <a:cs typeface="Georgia"/>
              </a:rPr>
              <a:t>Write your story</a:t>
            </a:r>
          </a:p>
        </p:txBody>
      </p:sp>
      <p:sp>
        <p:nvSpPr>
          <p:cNvPr id="2" name="">
            <a:extLst xmlns:a="http://schemas.openxmlformats.org/drawingml/2006/main">
              <a:ext uri="{FF2B5EF4-FFF2-40B4-BE49-F238E27FC236}">
                <a16:creationId xmlns:a16="http://schemas.microsoft.com/office/drawing/2014/main" id="{9922F076-3C4D-47E1-8712-65026CB39A23}"/>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B89B5E"/>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507D3D3B-B052-4568-AFD9-1BE63982519A}"/>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B89B5E"/>
                </a:solidFill>
                <a:latin typeface="Arial"/>
                <a:ea typeface="Arial"/>
                <a:cs typeface="Arial"/>
              </a:defRPr>
            </a:defPPr>
          </a:lstStyle>
          <a:p xmlns:a="http://schemas.openxmlformats.org/drawingml/2006/main">
            <a:pPr algn="l">
              <a:lnSpc>
                <a:spcPct val="108000"/>
              </a:lnSpc>
              <a:buNone/>
              <a:defRPr sz="1600" b="0">
                <a:solidFill>
                  <a:srgbClr val="B89B5E"/>
                </a:solidFill>
                <a:latin typeface="Arial"/>
                <a:ea typeface="Arial"/>
                <a:cs typeface="Arial"/>
              </a:defRPr>
            </a:pPr>
            <a:r>
              <a:rPr sz="1600" b="0">
                <a:solidFill>
                  <a:srgbClr val="B89B5E"/>
                </a:solidFill>
                <a:latin typeface="Arial"/>
                <a:ea typeface="Arial"/>
                <a:cs typeface="Arial"/>
              </a:rPr>
              <a:t>10</a:t>
            </a:r>
          </a:p>
        </p:txBody>
      </p:sp>
      <p:sp>
        <p:nvSpPr>
          <p:cNvPr id="4" name="text">
            <a:extLst xmlns:a="http://schemas.openxmlformats.org/drawingml/2006/main">
              <a:ext uri="{FF2B5EF4-FFF2-40B4-BE49-F238E27FC236}">
                <a16:creationId xmlns:a16="http://schemas.microsoft.com/office/drawing/2014/main" id="{4159345D-1940-413F-BC38-25F5A68A14E2}"/>
              </a:ext>
            </a:extLst>
          </p:cNvPr>
          <p:cNvSpPr>
            <a:spLocks xmlns:a="http://schemas.openxmlformats.org/drawingml/2006/main" noGrp="1"/>
          </p:cNvSpPr>
          <p:nvPr/>
        </p:nvSpPr>
        <p:spPr>
          <a:xfrm xmlns:a="http://schemas.openxmlformats.org/drawingml/2006/main">
            <a:off x="714375" y="2047875"/>
            <a:ext cx="4476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B89B5E"/>
                </a:solidFill>
                <a:latin typeface="Georgia"/>
                <a:ea typeface="Georgia"/>
                <a:cs typeface="Georgia"/>
              </a:defRPr>
            </a:defPPr>
          </a:lstStyle>
          <a:p xmlns:a="http://schemas.openxmlformats.org/drawingml/2006/main">
            <a:pPr algn="l">
              <a:lnSpc>
                <a:spcPct val="108000"/>
              </a:lnSpc>
              <a:buNone/>
              <a:defRPr sz="6000" b="1">
                <a:solidFill>
                  <a:srgbClr val="B89B5E"/>
                </a:solidFill>
                <a:latin typeface="Georgia"/>
                <a:ea typeface="Georgia"/>
                <a:cs typeface="Georgia"/>
              </a:defRPr>
            </a:pPr>
            <a:r>
              <a:rPr sz="6000" b="1">
                <a:solidFill>
                  <a:srgbClr val="B89B5E"/>
                </a:solidFill>
                <a:latin typeface="Georgia"/>
                <a:ea typeface="Georgia"/>
                <a:cs typeface="Georgia"/>
              </a:rPr>
              <a:t>100–150</a:t>
            </a:r>
          </a:p>
        </p:txBody>
      </p:sp>
      <p:sp>
        <p:nvSpPr>
          <p:cNvPr id="5" name="text">
            <a:extLst xmlns:a="http://schemas.openxmlformats.org/drawingml/2006/main">
              <a:ext uri="{FF2B5EF4-FFF2-40B4-BE49-F238E27FC236}">
                <a16:creationId xmlns:a16="http://schemas.microsoft.com/office/drawing/2014/main" id="{FDA694FC-580F-4AB6-A48E-F8A113653F5F}"/>
              </a:ext>
            </a:extLst>
          </p:cNvPr>
          <p:cNvSpPr>
            <a:spLocks xmlns:a="http://schemas.openxmlformats.org/drawingml/2006/main" noGrp="1"/>
          </p:cNvSpPr>
          <p:nvPr/>
        </p:nvSpPr>
        <p:spPr>
          <a:xfrm xmlns:a="http://schemas.openxmlformats.org/drawingml/2006/main">
            <a:off x="714375" y="31908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B89B5E"/>
                </a:solidFill>
                <a:latin typeface="Arial"/>
                <a:ea typeface="Arial"/>
                <a:cs typeface="Arial"/>
              </a:defRPr>
            </a:defPPr>
          </a:lstStyle>
          <a:p xmlns:a="http://schemas.openxmlformats.org/drawingml/2006/main">
            <a:pPr algn="l">
              <a:lnSpc>
                <a:spcPct val="108000"/>
              </a:lnSpc>
              <a:buNone/>
              <a:defRPr sz="2200" b="1">
                <a:solidFill>
                  <a:srgbClr val="B89B5E"/>
                </a:solidFill>
                <a:latin typeface="Arial"/>
                <a:ea typeface="Arial"/>
                <a:cs typeface="Arial"/>
              </a:defRPr>
            </a:pPr>
            <a:r>
              <a:rPr sz="2200" b="1">
                <a:solidFill>
                  <a:srgbClr val="B89B5E"/>
                </a:solidFill>
                <a:latin typeface="Arial"/>
                <a:ea typeface="Arial"/>
                <a:cs typeface="Arial"/>
              </a:rPr>
              <a:t>WORDS · 10 MINUTES</a:t>
            </a:r>
          </a:p>
        </p:txBody>
      </p:sp>
      <p:sp>
        <p:nvSpPr>
          <p:cNvPr id="6" name="text">
            <a:extLst xmlns:a="http://schemas.openxmlformats.org/drawingml/2006/main">
              <a:ext uri="{FF2B5EF4-FFF2-40B4-BE49-F238E27FC236}">
                <a16:creationId xmlns:a16="http://schemas.microsoft.com/office/drawing/2014/main" id="{595B0A6D-C0BB-44B8-B10C-E5425F71F962}"/>
              </a:ext>
            </a:extLst>
          </p:cNvPr>
          <p:cNvSpPr>
            <a:spLocks xmlns:a="http://schemas.openxmlformats.org/drawingml/2006/main" noGrp="1"/>
          </p:cNvSpPr>
          <p:nvPr/>
        </p:nvSpPr>
        <p:spPr>
          <a:xfrm xmlns:a="http://schemas.openxmlformats.org/drawingml/2006/main">
            <a:off x="714375" y="4171950"/>
            <a:ext cx="4572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0">
                <a:solidFill>
                  <a:srgbClr val="F2E8D5"/>
                </a:solidFill>
                <a:latin typeface="Arial"/>
                <a:ea typeface="Arial"/>
                <a:cs typeface="Arial"/>
              </a:defRPr>
            </a:defPPr>
          </a:lstStyle>
          <a:p xmlns:a="http://schemas.openxmlformats.org/drawingml/2006/main">
            <a:pPr algn="l">
              <a:lnSpc>
                <a:spcPct val="108000"/>
              </a:lnSpc>
              <a:buNone/>
              <a:defRPr sz="2900" b="0">
                <a:solidFill>
                  <a:srgbClr val="F2E8D5"/>
                </a:solidFill>
                <a:latin typeface="Arial"/>
                <a:ea typeface="Arial"/>
                <a:cs typeface="Arial"/>
              </a:defRPr>
            </a:pPr>
            <a:r>
              <a:rPr sz="2900" b="0">
                <a:solidFill>
                  <a:srgbClr val="F2E8D5"/>
                </a:solidFill>
                <a:latin typeface="Arial"/>
                <a:ea typeface="Arial"/>
                <a:cs typeface="Arial"/>
              </a:rPr>
              <a:t>Optional opening:</a:t>
            </a:r>
          </a:p>
          <a:p xmlns:a="http://schemas.openxmlformats.org/drawingml/2006/main">
            <a:pPr algn="l">
              <a:lnSpc>
                <a:spcPct val="108000"/>
              </a:lnSpc>
              <a:buNone/>
              <a:defRPr sz="2900" b="0">
                <a:solidFill>
                  <a:srgbClr val="F2E8D5"/>
                </a:solidFill>
                <a:latin typeface="Arial"/>
                <a:ea typeface="Arial"/>
                <a:cs typeface="Arial"/>
              </a:defRPr>
            </a:pPr>
            <a:r>
              <a:rPr sz="2900" b="0">
                <a:solidFill>
                  <a:srgbClr val="F2E8D5"/>
                </a:solidFill>
                <a:latin typeface="Arial"/>
                <a:ea typeface="Arial"/>
                <a:cs typeface="Arial"/>
              </a:rPr>
              <a:t>“At midnight, someone</a:t>
            </a:r>
          </a:p>
          <a:p xmlns:a="http://schemas.openxmlformats.org/drawingml/2006/main">
            <a:pPr algn="l">
              <a:lnSpc>
                <a:spcPct val="108000"/>
              </a:lnSpc>
              <a:buNone/>
              <a:defRPr sz="2900" b="0">
                <a:solidFill>
                  <a:srgbClr val="F2E8D5"/>
                </a:solidFill>
                <a:latin typeface="Arial"/>
                <a:ea typeface="Arial"/>
                <a:cs typeface="Arial"/>
              </a:defRPr>
            </a:pPr>
            <a:r>
              <a:rPr sz="2900" b="0">
                <a:solidFill>
                  <a:srgbClr val="F2E8D5"/>
                </a:solidFill>
                <a:latin typeface="Arial"/>
                <a:ea typeface="Arial"/>
                <a:cs typeface="Arial"/>
              </a:rPr>
              <a:t>used my key.”</a:t>
            </a:r>
          </a:p>
        </p:txBody>
      </p:sp>
      <p:sp>
        <p:nvSpPr>
          <p:cNvPr id="7" name="text">
            <a:extLst xmlns:a="http://schemas.openxmlformats.org/drawingml/2006/main">
              <a:ext uri="{FF2B5EF4-FFF2-40B4-BE49-F238E27FC236}">
                <a16:creationId xmlns:a16="http://schemas.microsoft.com/office/drawing/2014/main" id="{C4567724-4C22-4C43-80DB-ED92A712225C}"/>
              </a:ext>
            </a:extLst>
          </p:cNvPr>
          <p:cNvSpPr>
            <a:spLocks xmlns:a="http://schemas.openxmlformats.org/drawingml/2006/main" noGrp="1"/>
          </p:cNvSpPr>
          <p:nvPr/>
        </p:nvSpPr>
        <p:spPr>
          <a:xfrm xmlns:a="http://schemas.openxmlformats.org/drawingml/2006/main">
            <a:off x="5905500" y="2152650"/>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2E8D5"/>
                </a:solidFill>
                <a:latin typeface="Arial"/>
                <a:ea typeface="Arial"/>
                <a:cs typeface="Arial"/>
              </a:defRPr>
            </a:defPPr>
          </a:lstStyle>
          <a:p xmlns:a="http://schemas.openxmlformats.org/drawingml/2006/main">
            <a:pPr algn="l">
              <a:lnSpc>
                <a:spcPct val="108000"/>
              </a:lnSpc>
              <a:buNone/>
              <a:defRPr sz="2700" b="0">
                <a:solidFill>
                  <a:srgbClr val="F2E8D5"/>
                </a:solidFill>
                <a:latin typeface="Arial"/>
                <a:ea typeface="Arial"/>
                <a:cs typeface="Arial"/>
              </a:defRPr>
            </a:pPr>
            <a:r>
              <a:rPr sz="2700" b="0">
                <a:solidFill>
                  <a:srgbClr val="F2E8D5"/>
                </a:solidFill>
                <a:latin typeface="Arial"/>
                <a:ea typeface="Arial"/>
                <a:cs typeface="Arial"/>
              </a:rPr>
              <a:t>One place; one or two characters.</a:t>
            </a:r>
          </a:p>
        </p:txBody>
      </p:sp>
      <p:sp>
        <p:nvSpPr>
          <p:cNvPr id="8" name="text">
            <a:extLst xmlns:a="http://schemas.openxmlformats.org/drawingml/2006/main">
              <a:ext uri="{FF2B5EF4-FFF2-40B4-BE49-F238E27FC236}">
                <a16:creationId xmlns:a16="http://schemas.microsoft.com/office/drawing/2014/main" id="{BE3E2955-5061-4F6D-8AA1-A402061BAA96}"/>
              </a:ext>
            </a:extLst>
          </p:cNvPr>
          <p:cNvSpPr>
            <a:spLocks xmlns:a="http://schemas.openxmlformats.org/drawingml/2006/main" noGrp="1"/>
          </p:cNvSpPr>
          <p:nvPr/>
        </p:nvSpPr>
        <p:spPr>
          <a:xfrm xmlns:a="http://schemas.openxmlformats.org/drawingml/2006/main">
            <a:off x="5905500" y="309562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2E8D5"/>
                </a:solidFill>
                <a:latin typeface="Arial"/>
                <a:ea typeface="Arial"/>
                <a:cs typeface="Arial"/>
              </a:defRPr>
            </a:defPPr>
          </a:lstStyle>
          <a:p xmlns:a="http://schemas.openxmlformats.org/drawingml/2006/main">
            <a:pPr algn="l">
              <a:lnSpc>
                <a:spcPct val="108000"/>
              </a:lnSpc>
              <a:buNone/>
              <a:defRPr sz="2700" b="0">
                <a:solidFill>
                  <a:srgbClr val="F2E8D5"/>
                </a:solidFill>
                <a:latin typeface="Arial"/>
                <a:ea typeface="Arial"/>
                <a:cs typeface="Arial"/>
              </a:defRPr>
            </a:pPr>
            <a:r>
              <a:rPr sz="2700" b="0">
                <a:solidFill>
                  <a:srgbClr val="F2E8D5"/>
                </a:solidFill>
                <a:latin typeface="Arial"/>
                <a:ea typeface="Arial"/>
                <a:cs typeface="Arial"/>
              </a:rPr>
              <a:t>Clear actions and two concrete details.</a:t>
            </a:r>
          </a:p>
        </p:txBody>
      </p:sp>
      <p:sp>
        <p:nvSpPr>
          <p:cNvPr id="9" name="text">
            <a:extLst xmlns:a="http://schemas.openxmlformats.org/drawingml/2006/main">
              <a:ext uri="{FF2B5EF4-FFF2-40B4-BE49-F238E27FC236}">
                <a16:creationId xmlns:a16="http://schemas.microsoft.com/office/drawing/2014/main" id="{F704F902-47CF-42C8-8FA8-C3D0A9233BD6}"/>
              </a:ext>
            </a:extLst>
          </p:cNvPr>
          <p:cNvSpPr>
            <a:spLocks xmlns:a="http://schemas.openxmlformats.org/drawingml/2006/main" noGrp="1"/>
          </p:cNvSpPr>
          <p:nvPr/>
        </p:nvSpPr>
        <p:spPr>
          <a:xfrm xmlns:a="http://schemas.openxmlformats.org/drawingml/2006/main">
            <a:off x="5905500" y="4038600"/>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2E8D5"/>
                </a:solidFill>
                <a:latin typeface="Arial"/>
                <a:ea typeface="Arial"/>
                <a:cs typeface="Arial"/>
              </a:defRPr>
            </a:defPPr>
          </a:lstStyle>
          <a:p xmlns:a="http://schemas.openxmlformats.org/drawingml/2006/main">
            <a:pPr algn="l">
              <a:lnSpc>
                <a:spcPct val="108000"/>
              </a:lnSpc>
              <a:buNone/>
              <a:defRPr sz="2700" b="0">
                <a:solidFill>
                  <a:srgbClr val="F2E8D5"/>
                </a:solidFill>
                <a:latin typeface="Arial"/>
                <a:ea typeface="Arial"/>
                <a:cs typeface="Arial"/>
              </a:defRPr>
            </a:pPr>
            <a:r>
              <a:rPr sz="2700" b="0">
                <a:solidFill>
                  <a:srgbClr val="F2E8D5"/>
                </a:solidFill>
                <a:latin typeface="Arial"/>
                <a:ea typeface="Arial"/>
                <a:cs typeface="Arial"/>
              </a:rPr>
              <a:t>A short sentence placed for effect.</a:t>
            </a:r>
          </a:p>
        </p:txBody>
      </p:sp>
      <p:sp>
        <p:nvSpPr>
          <p:cNvPr id="10" name="text">
            <a:extLst xmlns:a="http://schemas.openxmlformats.org/drawingml/2006/main">
              <a:ext uri="{FF2B5EF4-FFF2-40B4-BE49-F238E27FC236}">
                <a16:creationId xmlns:a16="http://schemas.microsoft.com/office/drawing/2014/main" id="{AD33FB9B-1A8D-4CEB-B25D-4AF3FE6468BA}"/>
              </a:ext>
            </a:extLst>
          </p:cNvPr>
          <p:cNvSpPr>
            <a:spLocks xmlns:a="http://schemas.openxmlformats.org/drawingml/2006/main" noGrp="1"/>
          </p:cNvSpPr>
          <p:nvPr/>
        </p:nvSpPr>
        <p:spPr>
          <a:xfrm xmlns:a="http://schemas.openxmlformats.org/drawingml/2006/main">
            <a:off x="5905500" y="498157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2E8D5"/>
                </a:solidFill>
                <a:latin typeface="Arial"/>
                <a:ea typeface="Arial"/>
                <a:cs typeface="Arial"/>
              </a:defRPr>
            </a:defPPr>
          </a:lstStyle>
          <a:p xmlns:a="http://schemas.openxmlformats.org/drawingml/2006/main">
            <a:pPr algn="l">
              <a:lnSpc>
                <a:spcPct val="108000"/>
              </a:lnSpc>
              <a:buNone/>
              <a:defRPr sz="2700" b="0">
                <a:solidFill>
                  <a:srgbClr val="F2E8D5"/>
                </a:solidFill>
                <a:latin typeface="Arial"/>
                <a:ea typeface="Arial"/>
                <a:cs typeface="Arial"/>
              </a:defRPr>
            </a:pPr>
            <a:r>
              <a:rPr sz="2700" b="0">
                <a:solidFill>
                  <a:srgbClr val="F2E8D5"/>
                </a:solidFill>
                <a:latin typeface="Arial"/>
                <a:ea typeface="Arial"/>
                <a:cs typeface="Arial"/>
              </a:rPr>
              <a:t>A final clue you leave unexplained.</a:t>
            </a:r>
          </a:p>
        </p:txBody>
      </p:sp>
    </p:spTree>
    <p:extLst>
      <p:ext uri="{BB962C8B-B14F-4D97-AF65-F5344CB8AC3E}">
        <p14:creationId xmlns:p14="http://schemas.microsoft.com/office/powerpoint/2010/main" val="449371997"/>
      </p:ext>
    </p:extLst>
  </p:cSld>
</p:sld>
</file>

<file path=ppt/slides/slide11.xml><?xml version="1.0" encoding="utf-8"?>
<p:sld xmlns:p="http://schemas.openxmlformats.org/presentationml/2006/main">
  <p:cSld>
    <p:bg>
      <p:bgPr>
        <a:solidFill xmlns:a="http://schemas.openxmlformats.org/drawingml/2006/main">
          <a:srgbClr val="E9D8B6"/>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FDC3BA75-075D-4C16-B9E4-E739D81631C4}"/>
              </a:ext>
            </a:extLst>
          </p:cNvPr>
          <p:cNvSpPr>
            <a:spLocks xmlns:a="http://schemas.openxmlformats.org/drawingml/2006/main" noGrp="1"/>
          </p:cNvSpPr>
          <p:nvPr/>
        </p:nvSpPr>
        <p:spPr>
          <a:xfrm xmlns:a="http://schemas.openxmlformats.org/drawingml/2006/main">
            <a:off x="666750" y="457200"/>
            <a:ext cx="1085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00" b="1">
                <a:solidFill>
                  <a:srgbClr val="211B16"/>
                </a:solidFill>
                <a:latin typeface="Georgia"/>
                <a:ea typeface="Georgia"/>
                <a:cs typeface="Georgia"/>
              </a:defRPr>
            </a:defPPr>
          </a:lstStyle>
          <a:p xmlns:a="http://schemas.openxmlformats.org/drawingml/2006/main">
            <a:pPr algn="l">
              <a:lnSpc>
                <a:spcPct val="108000"/>
              </a:lnSpc>
              <a:buNone/>
              <a:defRPr sz="3800" b="1">
                <a:solidFill>
                  <a:srgbClr val="211B16"/>
                </a:solidFill>
                <a:latin typeface="Georgia"/>
                <a:ea typeface="Georgia"/>
                <a:cs typeface="Georgia"/>
              </a:defRPr>
            </a:pPr>
            <a:r>
              <a:rPr sz="3800" b="1">
                <a:solidFill>
                  <a:srgbClr val="211B16"/>
                </a:solidFill>
                <a:latin typeface="Georgia"/>
                <a:ea typeface="Georgia"/>
                <a:cs typeface="Georgia"/>
              </a:rPr>
              <a:t>Read it aloud. Cut what adds nothing.</a:t>
            </a:r>
          </a:p>
        </p:txBody>
      </p:sp>
      <p:sp>
        <p:nvSpPr>
          <p:cNvPr id="2" name="">
            <a:extLst xmlns:a="http://schemas.openxmlformats.org/drawingml/2006/main">
              <a:ext uri="{FF2B5EF4-FFF2-40B4-BE49-F238E27FC236}">
                <a16:creationId xmlns:a16="http://schemas.microsoft.com/office/drawing/2014/main" id="{158C7C05-4FA6-4C09-BEE4-10D06A0B9B4D}"/>
              </a:ext>
            </a:extLst>
          </p:cNvPr>
          <p:cNvSpPr>
            <a:spLocks xmlns:a="http://schemas.openxmlformats.org/drawingml/2006/main" noGrp="1"/>
          </p:cNvSpPr>
          <p:nvPr/>
        </p:nvSpPr>
        <p:spPr>
          <a:xfrm xmlns:a="http://schemas.openxmlformats.org/drawingml/2006/main">
            <a:off x="666750" y="1609725"/>
            <a:ext cx="762000" cy="28575"/>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A0918363-BFFC-4FF8-9A76-7A994EE209D5}"/>
              </a:ext>
            </a:extLst>
          </p:cNvPr>
          <p:cNvSpPr>
            <a:spLocks xmlns:a="http://schemas.openxmlformats.org/drawingml/2006/main" noGrp="1"/>
          </p:cNvSpPr>
          <p:nvPr/>
        </p:nvSpPr>
        <p:spPr>
          <a:xfrm xmlns:a="http://schemas.openxmlformats.org/drawingml/2006/main">
            <a:off x="11144250" y="63722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5C2230"/>
                </a:solidFill>
                <a:latin typeface="Arial"/>
                <a:ea typeface="Arial"/>
                <a:cs typeface="Arial"/>
              </a:defRPr>
            </a:defPPr>
          </a:lstStyle>
          <a:p xmlns:a="http://schemas.openxmlformats.org/drawingml/2006/main">
            <a:pPr algn="l">
              <a:lnSpc>
                <a:spcPct val="108000"/>
              </a:lnSpc>
              <a:buNone/>
              <a:defRPr sz="1600" b="0">
                <a:solidFill>
                  <a:srgbClr val="5C2230"/>
                </a:solidFill>
                <a:latin typeface="Arial"/>
                <a:ea typeface="Arial"/>
                <a:cs typeface="Arial"/>
              </a:defRPr>
            </a:pPr>
            <a:r>
              <a:rPr sz="1600" b="0">
                <a:solidFill>
                  <a:srgbClr val="5C2230"/>
                </a:solidFill>
                <a:latin typeface="Arial"/>
                <a:ea typeface="Arial"/>
                <a:cs typeface="Arial"/>
              </a:rPr>
              <a:t>11</a:t>
            </a:r>
          </a:p>
        </p:txBody>
      </p:sp>
      <p:sp>
        <p:nvSpPr>
          <p:cNvPr id="4" name="text">
            <a:extLst xmlns:a="http://schemas.openxmlformats.org/drawingml/2006/main">
              <a:ext uri="{FF2B5EF4-FFF2-40B4-BE49-F238E27FC236}">
                <a16:creationId xmlns:a16="http://schemas.microsoft.com/office/drawing/2014/main" id="{A05FA8AD-7E5E-417F-8899-94778EB76A9B}"/>
              </a:ext>
            </a:extLst>
          </p:cNvPr>
          <p:cNvSpPr>
            <a:spLocks xmlns:a="http://schemas.openxmlformats.org/drawingml/2006/main" noGrp="1"/>
          </p:cNvSpPr>
          <p:nvPr/>
        </p:nvSpPr>
        <p:spPr>
          <a:xfrm xmlns:a="http://schemas.openxmlformats.org/drawingml/2006/main">
            <a:off x="714375" y="20288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08000"/>
              </a:lnSpc>
              <a:buNone/>
              <a:defRPr sz="2200" b="1">
                <a:solidFill>
                  <a:srgbClr val="5C2230"/>
                </a:solidFill>
                <a:latin typeface="Arial"/>
                <a:ea typeface="Arial"/>
                <a:cs typeface="Arial"/>
              </a:defRPr>
            </a:pPr>
            <a:r>
              <a:rPr sz="2200" b="1">
                <a:solidFill>
                  <a:srgbClr val="5C2230"/>
                </a:solidFill>
                <a:latin typeface="Arial"/>
                <a:ea typeface="Arial"/>
                <a:cs typeface="Arial"/>
              </a:rPr>
              <a:t>ACTION</a:t>
            </a:r>
          </a:p>
        </p:txBody>
      </p:sp>
      <p:sp>
        <p:nvSpPr>
          <p:cNvPr id="5" name="text">
            <a:extLst xmlns:a="http://schemas.openxmlformats.org/drawingml/2006/main">
              <a:ext uri="{FF2B5EF4-FFF2-40B4-BE49-F238E27FC236}">
                <a16:creationId xmlns:a16="http://schemas.microsoft.com/office/drawing/2014/main" id="{5A93C1E3-16AF-4826-990B-416A27C23AAA}"/>
              </a:ext>
            </a:extLst>
          </p:cNvPr>
          <p:cNvSpPr>
            <a:spLocks xmlns:a="http://schemas.openxmlformats.org/drawingml/2006/main" noGrp="1"/>
          </p:cNvSpPr>
          <p:nvPr/>
        </p:nvSpPr>
        <p:spPr>
          <a:xfrm xmlns:a="http://schemas.openxmlformats.org/drawingml/2006/main">
            <a:off x="2857500" y="2009775"/>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08000"/>
              </a:lnSpc>
              <a:buNone/>
              <a:defRPr sz="2600" b="0">
                <a:solidFill>
                  <a:srgbClr val="211B16"/>
                </a:solidFill>
                <a:latin typeface="Arial"/>
                <a:ea typeface="Arial"/>
                <a:cs typeface="Arial"/>
              </a:defRPr>
            </a:pPr>
            <a:r>
              <a:rPr sz="2600" b="0">
                <a:solidFill>
                  <a:srgbClr val="211B16"/>
                </a:solidFill>
                <a:latin typeface="Arial"/>
                <a:ea typeface="Arial"/>
                <a:cs typeface="Arial"/>
              </a:rPr>
              <a:t>Underline your verbs. Can the reader follow what happens?</a:t>
            </a:r>
          </a:p>
        </p:txBody>
      </p:sp>
      <p:sp>
        <p:nvSpPr>
          <p:cNvPr id="6" name="text">
            <a:extLst xmlns:a="http://schemas.openxmlformats.org/drawingml/2006/main">
              <a:ext uri="{FF2B5EF4-FFF2-40B4-BE49-F238E27FC236}">
                <a16:creationId xmlns:a16="http://schemas.microsoft.com/office/drawing/2014/main" id="{978D0FC4-B4D5-47A2-8BFC-3BFC8097F86F}"/>
              </a:ext>
            </a:extLst>
          </p:cNvPr>
          <p:cNvSpPr>
            <a:spLocks xmlns:a="http://schemas.openxmlformats.org/drawingml/2006/main" noGrp="1"/>
          </p:cNvSpPr>
          <p:nvPr/>
        </p:nvSpPr>
        <p:spPr>
          <a:xfrm xmlns:a="http://schemas.openxmlformats.org/drawingml/2006/main">
            <a:off x="714375" y="29051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08000"/>
              </a:lnSpc>
              <a:buNone/>
              <a:defRPr sz="2200" b="1">
                <a:solidFill>
                  <a:srgbClr val="5C2230"/>
                </a:solidFill>
                <a:latin typeface="Arial"/>
                <a:ea typeface="Arial"/>
                <a:cs typeface="Arial"/>
              </a:defRPr>
            </a:pPr>
            <a:r>
              <a:rPr sz="2200" b="1">
                <a:solidFill>
                  <a:srgbClr val="5C2230"/>
                </a:solidFill>
                <a:latin typeface="Arial"/>
                <a:ea typeface="Arial"/>
                <a:cs typeface="Arial"/>
              </a:rPr>
              <a:t>DETAIL</a:t>
            </a:r>
          </a:p>
        </p:txBody>
      </p:sp>
      <p:sp>
        <p:nvSpPr>
          <p:cNvPr id="7" name="text">
            <a:extLst xmlns:a="http://schemas.openxmlformats.org/drawingml/2006/main">
              <a:ext uri="{FF2B5EF4-FFF2-40B4-BE49-F238E27FC236}">
                <a16:creationId xmlns:a16="http://schemas.microsoft.com/office/drawing/2014/main" id="{99652E6B-049E-4737-8D20-3361B52E0438}"/>
              </a:ext>
            </a:extLst>
          </p:cNvPr>
          <p:cNvSpPr>
            <a:spLocks xmlns:a="http://schemas.openxmlformats.org/drawingml/2006/main" noGrp="1"/>
          </p:cNvSpPr>
          <p:nvPr/>
        </p:nvSpPr>
        <p:spPr>
          <a:xfrm xmlns:a="http://schemas.openxmlformats.org/drawingml/2006/main">
            <a:off x="2857500" y="2886075"/>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08000"/>
              </a:lnSpc>
              <a:buNone/>
              <a:defRPr sz="2600" b="0">
                <a:solidFill>
                  <a:srgbClr val="211B16"/>
                </a:solidFill>
                <a:latin typeface="Arial"/>
                <a:ea typeface="Arial"/>
                <a:cs typeface="Arial"/>
              </a:defRPr>
            </a:pPr>
            <a:r>
              <a:rPr sz="2600" b="0">
                <a:solidFill>
                  <a:srgbClr val="211B16"/>
                </a:solidFill>
                <a:latin typeface="Arial"/>
                <a:ea typeface="Arial"/>
                <a:cs typeface="Arial"/>
              </a:rPr>
              <a:t>Circle the one detail that carries the most feeling.</a:t>
            </a:r>
          </a:p>
        </p:txBody>
      </p:sp>
      <p:sp>
        <p:nvSpPr>
          <p:cNvPr id="8" name="text">
            <a:extLst xmlns:a="http://schemas.openxmlformats.org/drawingml/2006/main">
              <a:ext uri="{FF2B5EF4-FFF2-40B4-BE49-F238E27FC236}">
                <a16:creationId xmlns:a16="http://schemas.microsoft.com/office/drawing/2014/main" id="{3115619E-7E10-4A00-A46B-D81213B14C1B}"/>
              </a:ext>
            </a:extLst>
          </p:cNvPr>
          <p:cNvSpPr>
            <a:spLocks xmlns:a="http://schemas.openxmlformats.org/drawingml/2006/main" noGrp="1"/>
          </p:cNvSpPr>
          <p:nvPr/>
        </p:nvSpPr>
        <p:spPr>
          <a:xfrm xmlns:a="http://schemas.openxmlformats.org/drawingml/2006/main">
            <a:off x="714375" y="37814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08000"/>
              </a:lnSpc>
              <a:buNone/>
              <a:defRPr sz="2200" b="1">
                <a:solidFill>
                  <a:srgbClr val="5C2230"/>
                </a:solidFill>
                <a:latin typeface="Arial"/>
                <a:ea typeface="Arial"/>
                <a:cs typeface="Arial"/>
              </a:defRPr>
            </a:pPr>
            <a:r>
              <a:rPr sz="2200" b="1">
                <a:solidFill>
                  <a:srgbClr val="5C2230"/>
                </a:solidFill>
                <a:latin typeface="Arial"/>
                <a:ea typeface="Arial"/>
                <a:cs typeface="Arial"/>
              </a:rPr>
              <a:t>CUT</a:t>
            </a:r>
          </a:p>
        </p:txBody>
      </p:sp>
      <p:sp>
        <p:nvSpPr>
          <p:cNvPr id="9" name="text">
            <a:extLst xmlns:a="http://schemas.openxmlformats.org/drawingml/2006/main">
              <a:ext uri="{FF2B5EF4-FFF2-40B4-BE49-F238E27FC236}">
                <a16:creationId xmlns:a16="http://schemas.microsoft.com/office/drawing/2014/main" id="{F62C718C-E2EB-4A6A-8636-656446C77A09}"/>
              </a:ext>
            </a:extLst>
          </p:cNvPr>
          <p:cNvSpPr>
            <a:spLocks xmlns:a="http://schemas.openxmlformats.org/drawingml/2006/main" noGrp="1"/>
          </p:cNvSpPr>
          <p:nvPr/>
        </p:nvSpPr>
        <p:spPr>
          <a:xfrm xmlns:a="http://schemas.openxmlformats.org/drawingml/2006/main">
            <a:off x="2857500" y="3762375"/>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08000"/>
              </a:lnSpc>
              <a:buNone/>
              <a:defRPr sz="2600" b="0">
                <a:solidFill>
                  <a:srgbClr val="211B16"/>
                </a:solidFill>
                <a:latin typeface="Arial"/>
                <a:ea typeface="Arial"/>
                <a:cs typeface="Arial"/>
              </a:defRPr>
            </a:pPr>
            <a:r>
              <a:rPr sz="2600" b="0">
                <a:solidFill>
                  <a:srgbClr val="211B16"/>
                </a:solidFill>
                <a:latin typeface="Arial"/>
                <a:ea typeface="Arial"/>
                <a:cs typeface="Arial"/>
              </a:rPr>
              <a:t>Remove repeated emotion labels and empty words.</a:t>
            </a:r>
          </a:p>
        </p:txBody>
      </p:sp>
      <p:sp>
        <p:nvSpPr>
          <p:cNvPr id="10" name="text">
            <a:extLst xmlns:a="http://schemas.openxmlformats.org/drawingml/2006/main">
              <a:ext uri="{FF2B5EF4-FFF2-40B4-BE49-F238E27FC236}">
                <a16:creationId xmlns:a16="http://schemas.microsoft.com/office/drawing/2014/main" id="{E5A77CEA-27FE-49D6-971D-251C7DEBCB28}"/>
              </a:ext>
            </a:extLst>
          </p:cNvPr>
          <p:cNvSpPr>
            <a:spLocks xmlns:a="http://schemas.openxmlformats.org/drawingml/2006/main" noGrp="1"/>
          </p:cNvSpPr>
          <p:nvPr/>
        </p:nvSpPr>
        <p:spPr>
          <a:xfrm xmlns:a="http://schemas.openxmlformats.org/drawingml/2006/main">
            <a:off x="714375" y="46577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5C2230"/>
                </a:solidFill>
                <a:latin typeface="Arial"/>
                <a:ea typeface="Arial"/>
                <a:cs typeface="Arial"/>
              </a:defRPr>
            </a:defPPr>
          </a:lstStyle>
          <a:p xmlns:a="http://schemas.openxmlformats.org/drawingml/2006/main">
            <a:pPr algn="l">
              <a:lnSpc>
                <a:spcPct val="108000"/>
              </a:lnSpc>
              <a:buNone/>
              <a:defRPr sz="2200" b="1">
                <a:solidFill>
                  <a:srgbClr val="5C2230"/>
                </a:solidFill>
                <a:latin typeface="Arial"/>
                <a:ea typeface="Arial"/>
                <a:cs typeface="Arial"/>
              </a:defRPr>
            </a:pPr>
            <a:r>
              <a:rPr sz="2200" b="1">
                <a:solidFill>
                  <a:srgbClr val="5C2230"/>
                </a:solidFill>
                <a:latin typeface="Arial"/>
                <a:ea typeface="Arial"/>
                <a:cs typeface="Arial"/>
              </a:rPr>
              <a:t>ENDING</a:t>
            </a:r>
          </a:p>
        </p:txBody>
      </p:sp>
      <p:sp>
        <p:nvSpPr>
          <p:cNvPr id="11" name="text">
            <a:extLst xmlns:a="http://schemas.openxmlformats.org/drawingml/2006/main">
              <a:ext uri="{FF2B5EF4-FFF2-40B4-BE49-F238E27FC236}">
                <a16:creationId xmlns:a16="http://schemas.microsoft.com/office/drawing/2014/main" id="{AF2ED1E1-7869-46A4-ABA4-8835A2899D76}"/>
              </a:ext>
            </a:extLst>
          </p:cNvPr>
          <p:cNvSpPr>
            <a:spLocks xmlns:a="http://schemas.openxmlformats.org/drawingml/2006/main" noGrp="1"/>
          </p:cNvSpPr>
          <p:nvPr/>
        </p:nvSpPr>
        <p:spPr>
          <a:xfrm xmlns:a="http://schemas.openxmlformats.org/drawingml/2006/main">
            <a:off x="2857500" y="4638675"/>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211B16"/>
                </a:solidFill>
                <a:latin typeface="Arial"/>
                <a:ea typeface="Arial"/>
                <a:cs typeface="Arial"/>
              </a:defRPr>
            </a:defPPr>
          </a:lstStyle>
          <a:p xmlns:a="http://schemas.openxmlformats.org/drawingml/2006/main">
            <a:pPr algn="l">
              <a:lnSpc>
                <a:spcPct val="108000"/>
              </a:lnSpc>
              <a:buNone/>
              <a:defRPr sz="2600" b="0">
                <a:solidFill>
                  <a:srgbClr val="211B16"/>
                </a:solidFill>
                <a:latin typeface="Arial"/>
                <a:ea typeface="Arial"/>
                <a:cs typeface="Arial"/>
              </a:defRPr>
            </a:pPr>
            <a:r>
              <a:rPr sz="2600" b="0">
                <a:solidFill>
                  <a:srgbClr val="211B16"/>
                </a:solidFill>
                <a:latin typeface="Arial"/>
                <a:ea typeface="Arial"/>
                <a:cs typeface="Arial"/>
              </a:rPr>
              <a:t>Try deleting the final explanation. Is the story stronger?</a:t>
            </a:r>
          </a:p>
        </p:txBody>
      </p:sp>
      <p:sp>
        <p:nvSpPr>
          <p:cNvPr id="12" name="">
            <a:extLst xmlns:a="http://schemas.openxmlformats.org/drawingml/2006/main">
              <a:ext uri="{FF2B5EF4-FFF2-40B4-BE49-F238E27FC236}">
                <a16:creationId xmlns:a16="http://schemas.microsoft.com/office/drawing/2014/main" id="{284B532A-42EB-4FC1-BC6A-F90CBD8CFEA7}"/>
              </a:ext>
            </a:extLst>
          </p:cNvPr>
          <p:cNvSpPr>
            <a:spLocks xmlns:a="http://schemas.openxmlformats.org/drawingml/2006/main" noGrp="1"/>
          </p:cNvSpPr>
          <p:nvPr/>
        </p:nvSpPr>
        <p:spPr>
          <a:xfrm xmlns:a="http://schemas.openxmlformats.org/drawingml/2006/main">
            <a:off x="714375" y="5591175"/>
            <a:ext cx="10715625" cy="19050"/>
          </a:xfrm>
          <a:prstGeom xmlns:a="http://schemas.openxmlformats.org/drawingml/2006/main" prst="rect">
            <a:avLst/>
          </a:prstGeom>
          <a:solidFill xmlns:a="http://schemas.openxmlformats.org/drawingml/2006/main">
            <a:srgbClr val="5C22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D4F9A6D-0F99-4989-91AD-B5D5B49BB5B4}"/>
              </a:ext>
            </a:extLst>
          </p:cNvPr>
          <p:cNvSpPr>
            <a:spLocks xmlns:a="http://schemas.openxmlformats.org/drawingml/2006/main" noGrp="1"/>
          </p:cNvSpPr>
          <p:nvPr/>
        </p:nvSpPr>
        <p:spPr>
          <a:xfrm xmlns:a="http://schemas.openxmlformats.org/drawingml/2006/main">
            <a:off x="714375" y="59055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5C2230"/>
                </a:solidFill>
                <a:latin typeface="Arial"/>
                <a:ea typeface="Arial"/>
                <a:cs typeface="Arial"/>
              </a:defRPr>
            </a:defPPr>
          </a:lstStyle>
          <a:p xmlns:a="http://schemas.openxmlformats.org/drawingml/2006/main">
            <a:pPr algn="l">
              <a:lnSpc>
                <a:spcPct val="108000"/>
              </a:lnSpc>
              <a:buNone/>
              <a:defRPr sz="2500" b="1">
                <a:solidFill>
                  <a:srgbClr val="5C2230"/>
                </a:solidFill>
                <a:latin typeface="Arial"/>
                <a:ea typeface="Arial"/>
                <a:cs typeface="Arial"/>
              </a:defRPr>
            </a:pPr>
            <a:r>
              <a:rPr sz="2500" b="1">
                <a:solidFill>
                  <a:srgbClr val="5C2230"/>
                </a:solidFill>
                <a:latin typeface="Arial"/>
                <a:ea typeface="Arial"/>
                <a:cs typeface="Arial"/>
              </a:rPr>
              <a:t>Partner: “The detail that unsettled me most was ___ because ___.”</a:t>
            </a:r>
          </a:p>
        </p:txBody>
      </p:sp>
    </p:spTree>
    <p:extLst>
      <p:ext uri="{BB962C8B-B14F-4D97-AF65-F5344CB8AC3E}">
        <p14:creationId xmlns:p14="http://schemas.microsoft.com/office/powerpoint/2010/main" val="457172996"/>
      </p:ext>
    </p:extLst>
  </p:cSld>
</p:sld>
</file>

<file path=ppt/theme/theme1.xml><?xml version="1.0" encoding="utf-8"?>
<a:theme xmlns:a="http://schemas.openxmlformats.org/drawingml/2006/main" name="ChatGPT">
  <a:themeElements>
    <a:clrScheme name="AE Humanities">
      <a:dk1>
        <a:srgbClr val="171512"/>
      </a:dk1>
      <a:lt1>
        <a:srgbClr val="F2E8D5"/>
      </a:lt1>
      <a:dk2>
        <a:srgbClr val="211B16"/>
      </a:dk2>
      <a:lt2>
        <a:srgbClr val="E9D8B6"/>
      </a:lt2>
      <a:accent1>
        <a:srgbClr val="B89B5E"/>
      </a:accent1>
      <a:accent2>
        <a:srgbClr val="5C2230"/>
      </a:accent2>
      <a:accent3>
        <a:srgbClr val="6B7258"/>
      </a:accent3>
      <a:accent4>
        <a:srgbClr val="E9D8B6"/>
      </a:accent4>
      <a:accent5>
        <a:srgbClr val="211B16"/>
      </a:accent5>
      <a:accent6>
        <a:srgbClr val="F2E8D5"/>
      </a:accent6>
      <a:hlink>
        <a:srgbClr val="5C2230"/>
      </a:hlink>
      <a:folHlink>
        <a:srgbClr val="6B7258"/>
      </a:folHlink>
    </a:clrScheme>
    <a:fontScheme name="">
      <a:majorFont>
        <a:latin typeface="Arial"/>
        <a:ea typeface=""/>
        <a:cs typeface=""/>
      </a:majorFont>
      <a:minorFont>
        <a:latin typeface="Arial"/>
        <a:ea typeface=""/>
        <a:cs typeface=""/>
      </a:minorFont>
    </a:fontScheme>
    <a:fmtScheme name="AE Humanitie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2026-10-23T00:00:48.0300000Z</dcterms:created>
  <dcterms:modified xsi:type="dcterms:W3CDTF">2026-10-23T00:00:48.0300000Z</dcterms:modified>
</coreProperties>
</file>